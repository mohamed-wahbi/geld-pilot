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Lst>
  <p:sldSz cx="14630400" cy="8229600"/>
  <p:notesSz cx="8229600" cy="14630400"/>
  <p:embeddedFontLst>
    <p:embeddedFont>
      <p:font typeface="Kanit" panose="020B0604020202020204" charset="-34"/>
      <p:regular r:id="rId21"/>
    </p:embeddedFont>
    <p:embeddedFont>
      <p:font typeface="Martel Sans Light" panose="020B0604020202020204" charset="0"/>
      <p:regular r:id="rId22"/>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100C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824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C4E"/>
          </a:solidFill>
          <a:ln/>
        </p:spPr>
      </p:sp>
      <p:sp>
        <p:nvSpPr>
          <p:cNvPr id="3" name="Shape 1"/>
          <p:cNvSpPr/>
          <p:nvPr/>
        </p:nvSpPr>
        <p:spPr>
          <a:xfrm>
            <a:off x="0" y="0"/>
            <a:ext cx="14630400" cy="8229600"/>
          </a:xfrm>
          <a:prstGeom prst="rect">
            <a:avLst/>
          </a:prstGeom>
          <a:solidFill>
            <a:srgbClr val="100C3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hyperlink" Target="https://svgsilh.com/image/2126876.html" TargetMode="External"/><Relationship Id="rId5" Type="http://schemas.openxmlformats.org/officeDocument/2006/relationships/image" Target="../media/image19.sv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891540"/>
            <a:ext cx="7468553" cy="1408033"/>
          </a:xfrm>
          <a:prstGeom prst="rect">
            <a:avLst/>
          </a:prstGeom>
          <a:noFill/>
          <a:ln/>
        </p:spPr>
        <p:txBody>
          <a:bodyPr wrap="square" lIns="0" tIns="0" rIns="0" bIns="0" rtlCol="0" anchor="t"/>
          <a:lstStyle/>
          <a:p>
            <a:pPr marL="0" indent="0" algn="ctr">
              <a:lnSpc>
                <a:spcPts val="5500"/>
              </a:lnSpc>
              <a:buNone/>
            </a:pPr>
            <a:r>
              <a:rPr lang="en-US" sz="4000" dirty="0">
                <a:solidFill>
                  <a:srgbClr val="FFFFFF"/>
                </a:solidFill>
                <a:latin typeface="Kanit" pitchFamily="34" charset="0"/>
                <a:ea typeface="Kanit" pitchFamily="34" charset="-122"/>
                <a:cs typeface="Kanit" pitchFamily="34" charset="-120"/>
              </a:rPr>
              <a:t>Présentation du Système de Gestion Financière Geld Pilot </a:t>
            </a:r>
            <a:endParaRPr lang="en-US" sz="4000" dirty="0"/>
          </a:p>
        </p:txBody>
      </p:sp>
      <p:sp>
        <p:nvSpPr>
          <p:cNvPr id="4" name="Text 1"/>
          <p:cNvSpPr/>
          <p:nvPr/>
        </p:nvSpPr>
        <p:spPr>
          <a:xfrm>
            <a:off x="6324124" y="2410123"/>
            <a:ext cx="7468553" cy="766048"/>
          </a:xfrm>
          <a:prstGeom prst="rect">
            <a:avLst/>
          </a:prstGeom>
          <a:noFill/>
          <a:ln/>
        </p:spPr>
        <p:txBody>
          <a:bodyPr wrap="square" lIns="0" tIns="0" rIns="0" bIns="0" rtlCol="0" anchor="t"/>
          <a:lstStyle/>
          <a:p>
            <a:pPr marL="0" indent="0" algn="ct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Solution innovante pour automatiser et améliorer la gestion financière d'Alight MEA.</a:t>
            </a:r>
            <a:endParaRPr lang="en-US" sz="1850" dirty="0"/>
          </a:p>
        </p:txBody>
      </p:sp>
      <p:sp>
        <p:nvSpPr>
          <p:cNvPr id="5" name="Text 2"/>
          <p:cNvSpPr/>
          <p:nvPr/>
        </p:nvSpPr>
        <p:spPr>
          <a:xfrm>
            <a:off x="6324124" y="3693795"/>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C6BFEE"/>
                </a:solidFill>
                <a:latin typeface="Martel Sans Light" pitchFamily="34" charset="0"/>
                <a:ea typeface="Martel Sans Light" pitchFamily="34" charset="-122"/>
                <a:cs typeface="Martel Sans Light" pitchFamily="34" charset="-120"/>
              </a:rPr>
              <a:t>Encadrants :</a:t>
            </a:r>
            <a:endParaRPr lang="en-US" sz="1850" dirty="0"/>
          </a:p>
        </p:txBody>
      </p:sp>
      <p:sp>
        <p:nvSpPr>
          <p:cNvPr id="6" name="Text 3"/>
          <p:cNvSpPr/>
          <p:nvPr/>
        </p:nvSpPr>
        <p:spPr>
          <a:xfrm>
            <a:off x="6324122" y="4166584"/>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      </a:t>
            </a:r>
            <a:r>
              <a:rPr lang="en-US" sz="1850" b="1" i="1" dirty="0">
                <a:solidFill>
                  <a:srgbClr val="D9E1FF"/>
                </a:solidFill>
                <a:latin typeface="Martel Sans Light" pitchFamily="34" charset="0"/>
                <a:ea typeface="Martel Sans Light" pitchFamily="34" charset="-122"/>
                <a:cs typeface="Martel Sans Light" pitchFamily="34" charset="-120"/>
              </a:rPr>
              <a:t>Ben Abid Fadwa </a:t>
            </a:r>
            <a:r>
              <a:rPr lang="en-US" sz="1850" dirty="0">
                <a:solidFill>
                  <a:srgbClr val="D9E1FF"/>
                </a:solidFill>
                <a:latin typeface="Martel Sans Light" pitchFamily="34" charset="0"/>
                <a:ea typeface="Martel Sans Light" pitchFamily="34" charset="-122"/>
                <a:cs typeface="Martel Sans Light" pitchFamily="34" charset="-120"/>
              </a:rPr>
              <a:t>encadrante pedagogique</a:t>
            </a:r>
            <a:endParaRPr lang="en-US" sz="1850" dirty="0"/>
          </a:p>
        </p:txBody>
      </p:sp>
      <p:sp>
        <p:nvSpPr>
          <p:cNvPr id="7" name="Text 4"/>
          <p:cNvSpPr/>
          <p:nvPr/>
        </p:nvSpPr>
        <p:spPr>
          <a:xfrm>
            <a:off x="6324121" y="4622525"/>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     </a:t>
            </a:r>
            <a:r>
              <a:rPr lang="en-US" sz="1850" b="1" i="1" dirty="0">
                <a:solidFill>
                  <a:srgbClr val="D9E1FF"/>
                </a:solidFill>
                <a:latin typeface="Martel Sans Light" pitchFamily="34" charset="0"/>
                <a:ea typeface="Martel Sans Light" pitchFamily="34" charset="-122"/>
                <a:cs typeface="Martel Sans Light" pitchFamily="34" charset="-120"/>
              </a:rPr>
              <a:t> Kourou Rim</a:t>
            </a:r>
            <a:r>
              <a:rPr lang="en-US" sz="1850" dirty="0">
                <a:solidFill>
                  <a:srgbClr val="D9E1FF"/>
                </a:solidFill>
                <a:latin typeface="Martel Sans Light" pitchFamily="34" charset="0"/>
                <a:ea typeface="Martel Sans Light" pitchFamily="34" charset="-122"/>
                <a:cs typeface="Martel Sans Light" pitchFamily="34" charset="-120"/>
              </a:rPr>
              <a:t> encadrement profitionelle</a:t>
            </a:r>
            <a:endParaRPr lang="en-US" sz="1850" dirty="0"/>
          </a:p>
        </p:txBody>
      </p:sp>
      <p:sp>
        <p:nvSpPr>
          <p:cNvPr id="8" name="Text 5"/>
          <p:cNvSpPr/>
          <p:nvPr/>
        </p:nvSpPr>
        <p:spPr>
          <a:xfrm>
            <a:off x="6324124" y="5650468"/>
            <a:ext cx="7468553" cy="383024"/>
          </a:xfrm>
          <a:prstGeom prst="rect">
            <a:avLst/>
          </a:prstGeom>
          <a:noFill/>
          <a:ln/>
        </p:spPr>
        <p:txBody>
          <a:bodyPr wrap="none" lIns="0" tIns="0" rIns="0" bIns="0" rtlCol="0" anchor="t"/>
          <a:lstStyle/>
          <a:p>
            <a:pPr marL="0" indent="0" algn="l">
              <a:lnSpc>
                <a:spcPts val="3000"/>
              </a:lnSpc>
              <a:buNone/>
            </a:pPr>
            <a:r>
              <a:rPr lang="en-US" sz="1850" b="1" dirty="0">
                <a:solidFill>
                  <a:srgbClr val="C6BFEE"/>
                </a:solidFill>
                <a:latin typeface="Martel Sans Light" pitchFamily="34" charset="0"/>
                <a:ea typeface="Martel Sans Light" pitchFamily="34" charset="-122"/>
                <a:cs typeface="Martel Sans Light" pitchFamily="34" charset="-120"/>
              </a:rPr>
              <a:t>Élaboré par :</a:t>
            </a:r>
            <a:endParaRPr lang="en-US" sz="1850" dirty="0"/>
          </a:p>
        </p:txBody>
      </p:sp>
      <p:sp>
        <p:nvSpPr>
          <p:cNvPr id="9" name="Text 6"/>
          <p:cNvSpPr/>
          <p:nvPr/>
        </p:nvSpPr>
        <p:spPr>
          <a:xfrm>
            <a:off x="6324123" y="6111181"/>
            <a:ext cx="7468553" cy="383024"/>
          </a:xfrm>
          <a:prstGeom prst="rect">
            <a:avLst/>
          </a:prstGeom>
          <a:noFill/>
          <a:ln/>
        </p:spPr>
        <p:txBody>
          <a:bodyPr wrap="non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     </a:t>
            </a:r>
            <a:r>
              <a:rPr lang="en-US" sz="1850" b="1" dirty="0">
                <a:solidFill>
                  <a:srgbClr val="F2F2F2"/>
                </a:solidFill>
                <a:latin typeface="Martel Sans Light" pitchFamily="34" charset="0"/>
                <a:ea typeface="Martel Sans Light" pitchFamily="34" charset="-122"/>
                <a:cs typeface="Martel Sans Light" pitchFamily="34" charset="-120"/>
              </a:rPr>
              <a:t> </a:t>
            </a:r>
            <a:r>
              <a:rPr lang="en-US" sz="1850" i="1" dirty="0">
                <a:solidFill>
                  <a:srgbClr val="CCCCCC"/>
                </a:solidFill>
                <a:latin typeface="Martel Sans Light" pitchFamily="34" charset="0"/>
                <a:ea typeface="Martel Sans Light" pitchFamily="34" charset="-122"/>
                <a:cs typeface="Martel Sans Light" pitchFamily="34" charset="-120"/>
              </a:rPr>
              <a:t>Salwej Mohamed Wahbi</a:t>
            </a:r>
            <a:endParaRPr lang="en-US" sz="1850" dirty="0"/>
          </a:p>
        </p:txBody>
      </p:sp>
      <p:sp>
        <p:nvSpPr>
          <p:cNvPr id="10" name="Text 7"/>
          <p:cNvSpPr/>
          <p:nvPr/>
        </p:nvSpPr>
        <p:spPr>
          <a:xfrm>
            <a:off x="6324124" y="6954917"/>
            <a:ext cx="7468553" cy="383024"/>
          </a:xfrm>
          <a:prstGeom prst="rect">
            <a:avLst/>
          </a:prstGeom>
          <a:noFill/>
          <a:ln/>
        </p:spPr>
        <p:txBody>
          <a:bodyPr wrap="none" lIns="0" tIns="0" rIns="0" bIns="0" rtlCol="0" anchor="t"/>
          <a:lstStyle/>
          <a:p>
            <a:pPr marL="0" indent="0" algn="r">
              <a:lnSpc>
                <a:spcPts val="3000"/>
              </a:lnSpc>
              <a:buNone/>
            </a:pPr>
            <a:r>
              <a:rPr lang="en-US" sz="1850" b="1" dirty="0">
                <a:solidFill>
                  <a:srgbClr val="D8AFF8"/>
                </a:solidFill>
                <a:latin typeface="Martel Sans Light" pitchFamily="34" charset="0"/>
                <a:ea typeface="Martel Sans Light" pitchFamily="34" charset="-122"/>
                <a:cs typeface="Martel Sans Light" pitchFamily="34" charset="-120"/>
              </a:rPr>
              <a:t>27/03/2025</a:t>
            </a:r>
            <a:endParaRPr lang="en-US" sz="1850" dirty="0"/>
          </a:p>
        </p:txBody>
      </p:sp>
      <p:sp>
        <p:nvSpPr>
          <p:cNvPr id="12" name="Rectangle 11">
            <a:extLst>
              <a:ext uri="{FF2B5EF4-FFF2-40B4-BE49-F238E27FC236}">
                <a16:creationId xmlns:a16="http://schemas.microsoft.com/office/drawing/2014/main" id="{A8E90684-6DA5-9F8D-314D-22FD1A756034}"/>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634865" y="580105"/>
            <a:ext cx="5360670" cy="647105"/>
          </a:xfrm>
          <a:prstGeom prst="rect">
            <a:avLst/>
          </a:prstGeom>
          <a:noFill/>
          <a:ln/>
        </p:spPr>
        <p:txBody>
          <a:bodyPr wrap="none" lIns="0" tIns="0" rIns="0" bIns="0" rtlCol="0" anchor="t"/>
          <a:lstStyle/>
          <a:p>
            <a:pPr marL="0" indent="0" algn="ctr">
              <a:lnSpc>
                <a:spcPts val="5050"/>
              </a:lnSpc>
              <a:buNone/>
            </a:pPr>
            <a:r>
              <a:rPr lang="en-US" sz="4050" dirty="0">
                <a:solidFill>
                  <a:srgbClr val="FFFFFF"/>
                </a:solidFill>
                <a:latin typeface="Kanit" pitchFamily="34" charset="0"/>
                <a:ea typeface="Kanit" pitchFamily="34" charset="-122"/>
                <a:cs typeface="Kanit" pitchFamily="34" charset="-120"/>
              </a:rPr>
              <a:t>Plan de la Présentation</a:t>
            </a:r>
            <a:endParaRPr lang="en-US" sz="4050" dirty="0"/>
          </a:p>
        </p:txBody>
      </p:sp>
      <p:sp>
        <p:nvSpPr>
          <p:cNvPr id="3" name="Text 1"/>
          <p:cNvSpPr/>
          <p:nvPr/>
        </p:nvSpPr>
        <p:spPr>
          <a:xfrm>
            <a:off x="769977" y="1694736"/>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a:pPr>
            <a:r>
              <a:rPr lang="en-US" sz="1700" dirty="0">
                <a:solidFill>
                  <a:srgbClr val="D9E1FF"/>
                </a:solidFill>
                <a:latin typeface="Martel Sans Light" pitchFamily="34" charset="0"/>
                <a:ea typeface="Martel Sans Light" pitchFamily="34" charset="-122"/>
                <a:cs typeface="Martel Sans Light" pitchFamily="34" charset="-120"/>
              </a:rPr>
              <a:t>Introduction</a:t>
            </a:r>
          </a:p>
          <a:p>
            <a:pPr marL="342900" indent="-342900" algn="l">
              <a:lnSpc>
                <a:spcPts val="2750"/>
              </a:lnSpc>
              <a:buSzPct val="100000"/>
              <a:buFont typeface="+mj-lt"/>
              <a:buAutoNum type="arabicPeriod"/>
            </a:pPr>
            <a:endParaRPr lang="en-US" sz="1700" dirty="0"/>
          </a:p>
        </p:txBody>
      </p:sp>
      <p:sp>
        <p:nvSpPr>
          <p:cNvPr id="4" name="Text 2"/>
          <p:cNvSpPr/>
          <p:nvPr/>
        </p:nvSpPr>
        <p:spPr>
          <a:xfrm>
            <a:off x="769977" y="2123599"/>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2"/>
            </a:pPr>
            <a:r>
              <a:rPr lang="en-US" sz="1700" dirty="0">
                <a:solidFill>
                  <a:srgbClr val="D9E1FF"/>
                </a:solidFill>
                <a:latin typeface="Martel Sans Light" pitchFamily="34" charset="0"/>
                <a:ea typeface="Martel Sans Light" pitchFamily="34" charset="-122"/>
                <a:cs typeface="Martel Sans Light" pitchFamily="34" charset="-120"/>
              </a:rPr>
              <a:t>Interface pour Découvrir les Objectifs de la Plateforme Geld Pilot </a:t>
            </a:r>
            <a:endParaRPr lang="en-US" sz="1700" dirty="0"/>
          </a:p>
        </p:txBody>
      </p:sp>
      <p:sp>
        <p:nvSpPr>
          <p:cNvPr id="5" name="Text 3"/>
          <p:cNvSpPr/>
          <p:nvPr/>
        </p:nvSpPr>
        <p:spPr>
          <a:xfrm>
            <a:off x="769977" y="2552462"/>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3"/>
            </a:pPr>
            <a:r>
              <a:rPr lang="en-US" sz="1700" dirty="0">
                <a:solidFill>
                  <a:srgbClr val="D9E1FF"/>
                </a:solidFill>
                <a:latin typeface="Martel Sans Light" pitchFamily="34" charset="0"/>
                <a:ea typeface="Martel Sans Light" pitchFamily="34" charset="-122"/>
                <a:cs typeface="Martel Sans Light" pitchFamily="34" charset="-120"/>
              </a:rPr>
              <a:t>Activités Financières Prises en Compte</a:t>
            </a:r>
            <a:endParaRPr lang="en-US" sz="1700" dirty="0"/>
          </a:p>
        </p:txBody>
      </p:sp>
      <p:sp>
        <p:nvSpPr>
          <p:cNvPr id="6" name="Text 4"/>
          <p:cNvSpPr/>
          <p:nvPr/>
        </p:nvSpPr>
        <p:spPr>
          <a:xfrm>
            <a:off x="769977" y="2981325"/>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4"/>
            </a:pPr>
            <a:r>
              <a:rPr lang="en-US" sz="1700" dirty="0">
                <a:solidFill>
                  <a:srgbClr val="D9E1FF"/>
                </a:solidFill>
                <a:latin typeface="Martel Sans Light" pitchFamily="34" charset="0"/>
                <a:ea typeface="Martel Sans Light" pitchFamily="34" charset="-122"/>
                <a:cs typeface="Martel Sans Light" pitchFamily="34" charset="-120"/>
              </a:rPr>
              <a:t>Gestion des Clients et des Charges Mensuelles</a:t>
            </a:r>
            <a:endParaRPr lang="en-US" sz="1700" dirty="0"/>
          </a:p>
        </p:txBody>
      </p:sp>
      <p:sp>
        <p:nvSpPr>
          <p:cNvPr id="7" name="Text 5"/>
          <p:cNvSpPr/>
          <p:nvPr/>
        </p:nvSpPr>
        <p:spPr>
          <a:xfrm>
            <a:off x="769977" y="3410188"/>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5"/>
            </a:pPr>
            <a:r>
              <a:rPr lang="en-US" sz="1700" dirty="0">
                <a:solidFill>
                  <a:srgbClr val="D9E1FF"/>
                </a:solidFill>
                <a:latin typeface="Martel Sans Light" pitchFamily="34" charset="0"/>
                <a:ea typeface="Martel Sans Light" pitchFamily="34" charset="-122"/>
                <a:cs typeface="Martel Sans Light" pitchFamily="34" charset="-120"/>
              </a:rPr>
              <a:t>Gestion des Revenus</a:t>
            </a:r>
            <a:endParaRPr lang="en-US" sz="1700" dirty="0"/>
          </a:p>
        </p:txBody>
      </p:sp>
      <p:sp>
        <p:nvSpPr>
          <p:cNvPr id="8" name="Text 6"/>
          <p:cNvSpPr/>
          <p:nvPr/>
        </p:nvSpPr>
        <p:spPr>
          <a:xfrm>
            <a:off x="769977" y="3839051"/>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6"/>
            </a:pPr>
            <a:r>
              <a:rPr lang="en-US" sz="1700" dirty="0">
                <a:solidFill>
                  <a:srgbClr val="D9E1FF"/>
                </a:solidFill>
                <a:latin typeface="Martel Sans Light" pitchFamily="34" charset="0"/>
                <a:ea typeface="Martel Sans Light" pitchFamily="34" charset="-122"/>
                <a:cs typeface="Martel Sans Light" pitchFamily="34" charset="-120"/>
              </a:rPr>
              <a:t>Gestion des Charges Mensuelles</a:t>
            </a:r>
            <a:endParaRPr lang="en-US" sz="1700" dirty="0"/>
          </a:p>
        </p:txBody>
      </p:sp>
      <p:sp>
        <p:nvSpPr>
          <p:cNvPr id="9" name="Text 7"/>
          <p:cNvSpPr/>
          <p:nvPr/>
        </p:nvSpPr>
        <p:spPr>
          <a:xfrm>
            <a:off x="769977" y="4267914"/>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7"/>
            </a:pPr>
            <a:r>
              <a:rPr lang="en-US" sz="1700" dirty="0">
                <a:solidFill>
                  <a:srgbClr val="D9E1FF"/>
                </a:solidFill>
                <a:latin typeface="Martel Sans Light" pitchFamily="34" charset="0"/>
                <a:ea typeface="Martel Sans Light" pitchFamily="34" charset="-122"/>
                <a:cs typeface="Martel Sans Light" pitchFamily="34" charset="-120"/>
              </a:rPr>
              <a:t>Historique des Charges et Factures</a:t>
            </a:r>
            <a:endParaRPr lang="en-US" sz="1700" dirty="0"/>
          </a:p>
        </p:txBody>
      </p:sp>
      <p:sp>
        <p:nvSpPr>
          <p:cNvPr id="10" name="Text 8"/>
          <p:cNvSpPr/>
          <p:nvPr/>
        </p:nvSpPr>
        <p:spPr>
          <a:xfrm>
            <a:off x="769977" y="4696778"/>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8"/>
            </a:pPr>
            <a:r>
              <a:rPr lang="en-US" sz="1700" dirty="0">
                <a:solidFill>
                  <a:srgbClr val="D9E1FF"/>
                </a:solidFill>
                <a:latin typeface="Martel Sans Light" pitchFamily="34" charset="0"/>
                <a:ea typeface="Martel Sans Light" pitchFamily="34" charset="-122"/>
                <a:cs typeface="Martel Sans Light" pitchFamily="34" charset="-120"/>
              </a:rPr>
              <a:t>Résultats Financiers Mensuels et Annuels</a:t>
            </a:r>
            <a:endParaRPr lang="en-US" sz="1700" dirty="0"/>
          </a:p>
        </p:txBody>
      </p:sp>
      <p:sp>
        <p:nvSpPr>
          <p:cNvPr id="11" name="Text 9"/>
          <p:cNvSpPr/>
          <p:nvPr/>
        </p:nvSpPr>
        <p:spPr>
          <a:xfrm>
            <a:off x="769977" y="5125641"/>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9"/>
            </a:pPr>
            <a:r>
              <a:rPr lang="en-US" sz="1700" dirty="0">
                <a:solidFill>
                  <a:srgbClr val="D9E1FF"/>
                </a:solidFill>
                <a:latin typeface="Martel Sans Light" pitchFamily="34" charset="0"/>
                <a:ea typeface="Martel Sans Light" pitchFamily="34" charset="-122"/>
                <a:cs typeface="Martel Sans Light" pitchFamily="34" charset="-120"/>
              </a:rPr>
              <a:t>Gestion des Autorisations d'Accès </a:t>
            </a:r>
            <a:endParaRPr lang="en-US" sz="1700" dirty="0"/>
          </a:p>
        </p:txBody>
      </p:sp>
      <p:sp>
        <p:nvSpPr>
          <p:cNvPr id="12" name="Text 10"/>
          <p:cNvSpPr/>
          <p:nvPr/>
        </p:nvSpPr>
        <p:spPr>
          <a:xfrm>
            <a:off x="769977" y="5554504"/>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0"/>
            </a:pPr>
            <a:r>
              <a:rPr lang="en-US" sz="1700" dirty="0">
                <a:solidFill>
                  <a:srgbClr val="D9E1FF"/>
                </a:solidFill>
                <a:latin typeface="Martel Sans Light" pitchFamily="34" charset="0"/>
                <a:ea typeface="Martel Sans Light" pitchFamily="34" charset="-122"/>
                <a:cs typeface="Martel Sans Light" pitchFamily="34" charset="-120"/>
              </a:rPr>
              <a:t>Dashboard Plateforme Geld Pilot </a:t>
            </a:r>
            <a:endParaRPr lang="en-US" sz="1700" dirty="0"/>
          </a:p>
        </p:txBody>
      </p:sp>
      <p:sp>
        <p:nvSpPr>
          <p:cNvPr id="13" name="Text 11"/>
          <p:cNvSpPr/>
          <p:nvPr/>
        </p:nvSpPr>
        <p:spPr>
          <a:xfrm>
            <a:off x="769977" y="5983367"/>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1"/>
            </a:pPr>
            <a:r>
              <a:rPr lang="en-US" sz="1700" dirty="0">
                <a:solidFill>
                  <a:srgbClr val="D9E1FF"/>
                </a:solidFill>
                <a:latin typeface="Martel Sans Light" pitchFamily="34" charset="0"/>
                <a:ea typeface="Martel Sans Light" pitchFamily="34" charset="-122"/>
                <a:cs typeface="Martel Sans Light" pitchFamily="34" charset="-120"/>
              </a:rPr>
              <a:t>Dashboard Power BI pour Visualisation des Données</a:t>
            </a:r>
            <a:endParaRPr lang="en-US" sz="1700" dirty="0"/>
          </a:p>
        </p:txBody>
      </p:sp>
      <p:sp>
        <p:nvSpPr>
          <p:cNvPr id="14" name="Text 12"/>
          <p:cNvSpPr/>
          <p:nvPr/>
        </p:nvSpPr>
        <p:spPr>
          <a:xfrm>
            <a:off x="769977" y="6412230"/>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2"/>
            </a:pPr>
            <a:r>
              <a:rPr lang="en-US" sz="1700" dirty="0">
                <a:solidFill>
                  <a:srgbClr val="D9E1FF"/>
                </a:solidFill>
                <a:latin typeface="Martel Sans Light" pitchFamily="34" charset="0"/>
                <a:ea typeface="Martel Sans Light" pitchFamily="34" charset="-122"/>
                <a:cs typeface="Martel Sans Light" pitchFamily="34" charset="-120"/>
              </a:rPr>
              <a:t>Geld Pilot Modèles de Machine Learning pour la Prédiction Financière </a:t>
            </a:r>
            <a:endParaRPr lang="en-US" sz="1700" dirty="0"/>
          </a:p>
        </p:txBody>
      </p:sp>
      <p:sp>
        <p:nvSpPr>
          <p:cNvPr id="15" name="Text 13"/>
          <p:cNvSpPr/>
          <p:nvPr/>
        </p:nvSpPr>
        <p:spPr>
          <a:xfrm>
            <a:off x="769977" y="6841093"/>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3"/>
            </a:pPr>
            <a:r>
              <a:rPr lang="en-US" sz="1700" dirty="0">
                <a:solidFill>
                  <a:srgbClr val="D9E1FF"/>
                </a:solidFill>
                <a:latin typeface="Martel Sans Light" pitchFamily="34" charset="0"/>
                <a:ea typeface="Martel Sans Light" pitchFamily="34" charset="-122"/>
                <a:cs typeface="Martel Sans Light" pitchFamily="34" charset="-120"/>
              </a:rPr>
              <a:t>Chatbot Personnalisé pour Assistance IA</a:t>
            </a:r>
            <a:endParaRPr lang="en-US" sz="1700" dirty="0"/>
          </a:p>
        </p:txBody>
      </p:sp>
      <p:sp>
        <p:nvSpPr>
          <p:cNvPr id="16" name="Text 14"/>
          <p:cNvSpPr/>
          <p:nvPr/>
        </p:nvSpPr>
        <p:spPr>
          <a:xfrm>
            <a:off x="769977" y="7269956"/>
            <a:ext cx="13090446" cy="351949"/>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4"/>
            </a:pPr>
            <a:r>
              <a:rPr lang="en-US" sz="1700" dirty="0">
                <a:solidFill>
                  <a:srgbClr val="D9E1FF"/>
                </a:solidFill>
                <a:latin typeface="Martel Sans Light" pitchFamily="34" charset="0"/>
                <a:ea typeface="Martel Sans Light" pitchFamily="34" charset="-122"/>
                <a:cs typeface="Martel Sans Light" pitchFamily="34" charset="-120"/>
              </a:rPr>
              <a:t> Creation Du </a:t>
            </a:r>
            <a:r>
              <a:rPr lang="en-US" sz="1700" dirty="0" err="1">
                <a:solidFill>
                  <a:srgbClr val="D9E1FF"/>
                </a:solidFill>
                <a:latin typeface="Martel Sans Light" pitchFamily="34" charset="0"/>
                <a:ea typeface="Martel Sans Light" pitchFamily="34" charset="-122"/>
                <a:cs typeface="Martel Sans Light" pitchFamily="34" charset="-120"/>
              </a:rPr>
              <a:t>Bibliothéque</a:t>
            </a:r>
            <a:r>
              <a:rPr lang="en-US" sz="1700" dirty="0">
                <a:solidFill>
                  <a:srgbClr val="D9E1FF"/>
                </a:solidFill>
                <a:latin typeface="Martel Sans Light" pitchFamily="34" charset="0"/>
                <a:ea typeface="Martel Sans Light" pitchFamily="34" charset="-122"/>
                <a:cs typeface="Martel Sans Light" pitchFamily="34" charset="-120"/>
              </a:rPr>
              <a:t> </a:t>
            </a:r>
            <a:r>
              <a:rPr lang="en-US" sz="1700" dirty="0" err="1">
                <a:solidFill>
                  <a:srgbClr val="D9E1FF"/>
                </a:solidFill>
                <a:latin typeface="Martel Sans Light" pitchFamily="34" charset="0"/>
                <a:ea typeface="Martel Sans Light" pitchFamily="34" charset="-122"/>
                <a:cs typeface="Martel Sans Light" pitchFamily="34" charset="-120"/>
              </a:rPr>
              <a:t>VecoFlexTnMWS</a:t>
            </a:r>
            <a:r>
              <a:rPr lang="en-US" sz="1700" dirty="0">
                <a:solidFill>
                  <a:srgbClr val="D9E1FF"/>
                </a:solidFill>
                <a:latin typeface="Martel Sans Light" pitchFamily="34" charset="0"/>
                <a:ea typeface="Martel Sans Light" pitchFamily="34" charset="-122"/>
                <a:cs typeface="Martel Sans Light" pitchFamily="34" charset="-120"/>
              </a:rPr>
              <a:t> Sur Le NPM</a:t>
            </a:r>
          </a:p>
        </p:txBody>
      </p:sp>
      <p:sp>
        <p:nvSpPr>
          <p:cNvPr id="17" name="Rectangle 16">
            <a:extLst>
              <a:ext uri="{FF2B5EF4-FFF2-40B4-BE49-F238E27FC236}">
                <a16:creationId xmlns:a16="http://schemas.microsoft.com/office/drawing/2014/main" id="{CD060C02-E744-BE47-BA81-B418EB5AF2EF}"/>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ext 14">
            <a:extLst>
              <a:ext uri="{FF2B5EF4-FFF2-40B4-BE49-F238E27FC236}">
                <a16:creationId xmlns:a16="http://schemas.microsoft.com/office/drawing/2014/main" id="{3399B6E1-0C41-6173-7959-870111CFAA6B}"/>
              </a:ext>
            </a:extLst>
          </p:cNvPr>
          <p:cNvSpPr/>
          <p:nvPr/>
        </p:nvSpPr>
        <p:spPr>
          <a:xfrm>
            <a:off x="769977" y="7621905"/>
            <a:ext cx="13090446" cy="351949"/>
          </a:xfrm>
          <a:prstGeom prst="rect">
            <a:avLst/>
          </a:prstGeom>
          <a:noFill/>
          <a:ln/>
        </p:spPr>
        <p:txBody>
          <a:bodyPr wrap="none" lIns="0" tIns="0" rIns="0" bIns="0" rtlCol="0" anchor="t"/>
          <a:lstStyle/>
          <a:p>
            <a:pPr algn="l">
              <a:lnSpc>
                <a:spcPts val="2750"/>
              </a:lnSpc>
              <a:buSzPct val="100000"/>
            </a:pPr>
            <a:r>
              <a:rPr lang="en-US" sz="1700" dirty="0">
                <a:solidFill>
                  <a:srgbClr val="D9E1FF"/>
                </a:solidFill>
                <a:latin typeface="Martel Sans Light" pitchFamily="34" charset="0"/>
                <a:ea typeface="Martel Sans Light" pitchFamily="34" charset="-122"/>
                <a:cs typeface="Martel Sans Light" pitchFamily="34" charset="-120"/>
              </a:rPr>
              <a:t>15. Conclusion</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xEl>
                                              <p:pRg st="0" end="0"/>
                                            </p:txEl>
                                          </p:spTgt>
                                        </p:tgtEl>
                                        <p:attrNameLst>
                                          <p:attrName>style.visibility</p:attrName>
                                        </p:attrNameLst>
                                      </p:cBhvr>
                                      <p:to>
                                        <p:strVal val="visible"/>
                                      </p:to>
                                    </p:set>
                                    <p:animEffect transition="in" filter="fade">
                                      <p:cBhvr>
                                        <p:cTn id="39" dur="500"/>
                                        <p:tgtEl>
                                          <p:spTgt spid="8">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animEffect transition="in" filter="fade">
                                      <p:cBhvr>
                                        <p:cTn id="44" dur="500"/>
                                        <p:tgtEl>
                                          <p:spTgt spid="9">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1">
                                            <p:txEl>
                                              <p:pRg st="0" end="0"/>
                                            </p:txEl>
                                          </p:spTgt>
                                        </p:tgtEl>
                                        <p:attrNameLst>
                                          <p:attrName>style.visibility</p:attrName>
                                        </p:attrNameLst>
                                      </p:cBhvr>
                                      <p:to>
                                        <p:strVal val="visible"/>
                                      </p:to>
                                    </p:set>
                                    <p:animEffect transition="in" filter="fade">
                                      <p:cBhvr>
                                        <p:cTn id="54" dur="500"/>
                                        <p:tgtEl>
                                          <p:spTgt spid="11">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2">
                                            <p:txEl>
                                              <p:pRg st="0" end="0"/>
                                            </p:txEl>
                                          </p:spTgt>
                                        </p:tgtEl>
                                        <p:attrNameLst>
                                          <p:attrName>style.visibility</p:attrName>
                                        </p:attrNameLst>
                                      </p:cBhvr>
                                      <p:to>
                                        <p:strVal val="visible"/>
                                      </p:to>
                                    </p:set>
                                    <p:animEffect transition="in" filter="fade">
                                      <p:cBhvr>
                                        <p:cTn id="59" dur="500"/>
                                        <p:tgtEl>
                                          <p:spTgt spid="12">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3">
                                            <p:txEl>
                                              <p:pRg st="0" end="0"/>
                                            </p:txEl>
                                          </p:spTgt>
                                        </p:tgtEl>
                                        <p:attrNameLst>
                                          <p:attrName>style.visibility</p:attrName>
                                        </p:attrNameLst>
                                      </p:cBhvr>
                                      <p:to>
                                        <p:strVal val="visible"/>
                                      </p:to>
                                    </p:set>
                                    <p:animEffect transition="in" filter="fade">
                                      <p:cBhvr>
                                        <p:cTn id="64" dur="500"/>
                                        <p:tgtEl>
                                          <p:spTgt spid="13">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5">
                                            <p:txEl>
                                              <p:pRg st="0" end="0"/>
                                            </p:txEl>
                                          </p:spTgt>
                                        </p:tgtEl>
                                        <p:attrNameLst>
                                          <p:attrName>style.visibility</p:attrName>
                                        </p:attrNameLst>
                                      </p:cBhvr>
                                      <p:to>
                                        <p:strVal val="visible"/>
                                      </p:to>
                                    </p:set>
                                    <p:animEffect transition="in" filter="fade">
                                      <p:cBhvr>
                                        <p:cTn id="74" dur="500"/>
                                        <p:tgtEl>
                                          <p:spTgt spid="15">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10" grpId="0" animBg="1"/>
      <p:bldP spid="14" grpId="0" animBg="1"/>
      <p:bldP spid="16"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462192" y="1356447"/>
            <a:ext cx="5632490"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Introduction</a:t>
            </a:r>
            <a:endParaRPr lang="en-US" sz="4400" dirty="0"/>
          </a:p>
        </p:txBody>
      </p:sp>
      <p:sp>
        <p:nvSpPr>
          <p:cNvPr id="4" name="Text 1"/>
          <p:cNvSpPr/>
          <p:nvPr/>
        </p:nvSpPr>
        <p:spPr>
          <a:xfrm>
            <a:off x="837724" y="2586706"/>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Ce projet présente une solution de gestion financière innovante pour automatiser et améliorer les processus financiers chez Alight MEA, offrant une plateforme intuitive pour une gestion simplifiée et une prise de décision optimisée.</a:t>
            </a:r>
            <a:endParaRPr lang="en-US" sz="185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wipe(down)">
                                      <p:cBhvr>
                                        <p:cTn id="14"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928318"/>
            <a:ext cx="12954952" cy="1408033"/>
          </a:xfrm>
          <a:prstGeom prst="rect">
            <a:avLst/>
          </a:prstGeom>
          <a:noFill/>
          <a:ln/>
        </p:spPr>
        <p:txBody>
          <a:bodyPr wrap="squar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Interface pour Découvrir les Objectifs de la Plateforme Geld Pilot</a:t>
            </a:r>
            <a:endParaRPr lang="en-US" sz="4400" dirty="0"/>
          </a:p>
        </p:txBody>
      </p:sp>
      <p:pic>
        <p:nvPicPr>
          <p:cNvPr id="3" name="Image 0" descr="preencoded.png"/>
          <p:cNvPicPr>
            <a:picLocks noChangeAspect="1"/>
          </p:cNvPicPr>
          <p:nvPr/>
        </p:nvPicPr>
        <p:blipFill>
          <a:blip r:embed="rId3"/>
          <a:stretch>
            <a:fillRect/>
          </a:stretch>
        </p:blipFill>
        <p:spPr>
          <a:xfrm>
            <a:off x="837724" y="3851681"/>
            <a:ext cx="598408" cy="598408"/>
          </a:xfrm>
          <a:prstGeom prst="rect">
            <a:avLst/>
          </a:prstGeom>
        </p:spPr>
      </p:pic>
      <p:sp>
        <p:nvSpPr>
          <p:cNvPr id="4" name="Text 1"/>
          <p:cNvSpPr/>
          <p:nvPr/>
        </p:nvSpPr>
        <p:spPr>
          <a:xfrm>
            <a:off x="1675448" y="380989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Vue d'ensemble</a:t>
            </a:r>
            <a:endParaRPr lang="en-US" sz="2200" dirty="0"/>
          </a:p>
        </p:txBody>
      </p:sp>
      <p:sp>
        <p:nvSpPr>
          <p:cNvPr id="5" name="Text 2"/>
          <p:cNvSpPr/>
          <p:nvPr/>
        </p:nvSpPr>
        <p:spPr>
          <a:xfrm>
            <a:off x="1675448" y="4305428"/>
            <a:ext cx="3241238" cy="766048"/>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Fonctionnalités et avantages clés.</a:t>
            </a:r>
            <a:endParaRPr lang="en-US" sz="1850" dirty="0"/>
          </a:p>
        </p:txBody>
      </p:sp>
      <p:pic>
        <p:nvPicPr>
          <p:cNvPr id="6" name="Image 1" descr="preencoded.png"/>
          <p:cNvPicPr>
            <a:picLocks noChangeAspect="1"/>
          </p:cNvPicPr>
          <p:nvPr/>
        </p:nvPicPr>
        <p:blipFill>
          <a:blip r:embed="rId4"/>
          <a:stretch>
            <a:fillRect/>
          </a:stretch>
        </p:blipFill>
        <p:spPr>
          <a:xfrm>
            <a:off x="5275659" y="3851681"/>
            <a:ext cx="598408" cy="598408"/>
          </a:xfrm>
          <a:prstGeom prst="rect">
            <a:avLst/>
          </a:prstGeom>
        </p:spPr>
      </p:pic>
      <p:sp>
        <p:nvSpPr>
          <p:cNvPr id="7" name="Text 3"/>
          <p:cNvSpPr/>
          <p:nvPr/>
        </p:nvSpPr>
        <p:spPr>
          <a:xfrm>
            <a:off x="6113383" y="3809890"/>
            <a:ext cx="3142893"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Comprendre les objectifs</a:t>
            </a:r>
            <a:endParaRPr lang="en-US" sz="2200" dirty="0"/>
          </a:p>
        </p:txBody>
      </p:sp>
      <p:sp>
        <p:nvSpPr>
          <p:cNvPr id="8" name="Text 4"/>
          <p:cNvSpPr/>
          <p:nvPr/>
        </p:nvSpPr>
        <p:spPr>
          <a:xfrm>
            <a:off x="6113383" y="4305428"/>
            <a:ext cx="3241238" cy="383024"/>
          </a:xfrm>
          <a:prstGeom prst="rect">
            <a:avLst/>
          </a:prstGeom>
          <a:noFill/>
          <a:ln/>
        </p:spPr>
        <p:txBody>
          <a:bodyPr wrap="non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Objectifs financiers clairs.</a:t>
            </a:r>
            <a:endParaRPr lang="en-US" sz="1850" dirty="0"/>
          </a:p>
        </p:txBody>
      </p:sp>
      <p:pic>
        <p:nvPicPr>
          <p:cNvPr id="9" name="Image 2" descr="preencoded.png"/>
          <p:cNvPicPr>
            <a:picLocks noChangeAspect="1"/>
          </p:cNvPicPr>
          <p:nvPr/>
        </p:nvPicPr>
        <p:blipFill>
          <a:blip r:embed="rId5"/>
          <a:stretch>
            <a:fillRect/>
          </a:stretch>
        </p:blipFill>
        <p:spPr>
          <a:xfrm>
            <a:off x="9713595" y="3851681"/>
            <a:ext cx="598408" cy="598408"/>
          </a:xfrm>
          <a:prstGeom prst="rect">
            <a:avLst/>
          </a:prstGeom>
        </p:spPr>
      </p:pic>
      <p:sp>
        <p:nvSpPr>
          <p:cNvPr id="10" name="Text 5"/>
          <p:cNvSpPr/>
          <p:nvPr/>
        </p:nvSpPr>
        <p:spPr>
          <a:xfrm>
            <a:off x="10551319" y="380989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Faciliter l'accès</a:t>
            </a:r>
            <a:endParaRPr lang="en-US" sz="2200" dirty="0"/>
          </a:p>
        </p:txBody>
      </p:sp>
      <p:sp>
        <p:nvSpPr>
          <p:cNvPr id="11" name="Text 6"/>
          <p:cNvSpPr/>
          <p:nvPr/>
        </p:nvSpPr>
        <p:spPr>
          <a:xfrm>
            <a:off x="10551319" y="4305428"/>
            <a:ext cx="3241358" cy="766048"/>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Autorisation de la responsable financière.</a:t>
            </a:r>
            <a:endParaRPr lang="en-US" sz="1850" dirty="0"/>
          </a:p>
        </p:txBody>
      </p:sp>
      <p:sp>
        <p:nvSpPr>
          <p:cNvPr id="12" name="Rectangle 11">
            <a:extLst>
              <a:ext uri="{FF2B5EF4-FFF2-40B4-BE49-F238E27FC236}">
                <a16:creationId xmlns:a16="http://schemas.microsoft.com/office/drawing/2014/main" id="{BE270917-49D9-086A-5643-5D6599DABE17}"/>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down)">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 calcmode="lin" valueType="num">
                                      <p:cBhvr additive="base">
                                        <p:cTn id="40" dur="500" fill="hold"/>
                                        <p:tgtEl>
                                          <p:spTgt spid="8"/>
                                        </p:tgtEl>
                                        <p:attrNameLst>
                                          <p:attrName>ppt_x</p:attrName>
                                        </p:attrNameLst>
                                      </p:cBhvr>
                                      <p:tavLst>
                                        <p:tav tm="0">
                                          <p:val>
                                            <p:strVal val="#ppt_x"/>
                                          </p:val>
                                        </p:tav>
                                        <p:tav tm="100000">
                                          <p:val>
                                            <p:strVal val="#ppt_x"/>
                                          </p:val>
                                        </p:tav>
                                      </p:tavLst>
                                    </p:anim>
                                    <p:anim calcmode="lin" valueType="num">
                                      <p:cBhvr additive="base">
                                        <p:cTn id="4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0">
                                            <p:txEl>
                                              <p:pRg st="0" end="0"/>
                                            </p:txEl>
                                          </p:spTgt>
                                        </p:tgtEl>
                                        <p:attrNameLst>
                                          <p:attrName>style.visibility</p:attrName>
                                        </p:attrNameLst>
                                      </p:cBhvr>
                                      <p:to>
                                        <p:strVal val="visible"/>
                                      </p:to>
                                    </p:set>
                                    <p:animEffect transition="in" filter="wipe(down)">
                                      <p:cBhvr>
                                        <p:cTn id="51" dur="500"/>
                                        <p:tgtEl>
                                          <p:spTgt spid="10">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1">
                                            <p:txEl>
                                              <p:pRg st="0" end="0"/>
                                            </p:txEl>
                                          </p:spTgt>
                                        </p:tgtEl>
                                        <p:attrNameLst>
                                          <p:attrName>style.visibility</p:attrName>
                                        </p:attrNameLst>
                                      </p:cBhvr>
                                      <p:to>
                                        <p:strVal val="visible"/>
                                      </p:to>
                                    </p:set>
                                    <p:anim calcmode="lin" valueType="num">
                                      <p:cBhvr additive="base">
                                        <p:cTn id="56"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454473" y="1040676"/>
            <a:ext cx="9721453"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Activités Financières Prises en Compte</a:t>
            </a:r>
            <a:endParaRPr lang="en-US" sz="4400" dirty="0"/>
          </a:p>
        </p:txBody>
      </p:sp>
      <p:sp>
        <p:nvSpPr>
          <p:cNvPr id="3" name="Shape 1"/>
          <p:cNvSpPr/>
          <p:nvPr/>
        </p:nvSpPr>
        <p:spPr>
          <a:xfrm>
            <a:off x="837724" y="3083658"/>
            <a:ext cx="538520" cy="538520"/>
          </a:xfrm>
          <a:prstGeom prst="roundRect">
            <a:avLst>
              <a:gd name="adj" fmla="val 6668"/>
            </a:avLst>
          </a:prstGeom>
          <a:solidFill>
            <a:srgbClr val="2F2B54"/>
          </a:solidFill>
          <a:ln/>
        </p:spPr>
        <p:txBody>
          <a:bodyPr/>
          <a:lstStyle/>
          <a:p>
            <a:endParaRPr lang="fr-FR"/>
          </a:p>
        </p:txBody>
      </p:sp>
      <p:pic>
        <p:nvPicPr>
          <p:cNvPr id="4" name="Image 0" descr="preencoded.png"/>
          <p:cNvPicPr>
            <a:picLocks noChangeAspect="1"/>
          </p:cNvPicPr>
          <p:nvPr/>
        </p:nvPicPr>
        <p:blipFill>
          <a:blip r:embed="rId3"/>
          <a:stretch>
            <a:fillRect/>
          </a:stretch>
        </p:blipFill>
        <p:spPr>
          <a:xfrm>
            <a:off x="937974" y="3141641"/>
            <a:ext cx="337899" cy="422434"/>
          </a:xfrm>
          <a:prstGeom prst="rect">
            <a:avLst/>
          </a:prstGeom>
        </p:spPr>
      </p:pic>
      <p:sp>
        <p:nvSpPr>
          <p:cNvPr id="5" name="Text 2"/>
          <p:cNvSpPr/>
          <p:nvPr/>
        </p:nvSpPr>
        <p:spPr>
          <a:xfrm>
            <a:off x="1615559" y="3083658"/>
            <a:ext cx="3889058"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Authentification personnalisée</a:t>
            </a:r>
            <a:endParaRPr lang="en-US" sz="2200" dirty="0"/>
          </a:p>
        </p:txBody>
      </p:sp>
      <p:sp>
        <p:nvSpPr>
          <p:cNvPr id="6" name="Text 3"/>
          <p:cNvSpPr/>
          <p:nvPr/>
        </p:nvSpPr>
        <p:spPr>
          <a:xfrm>
            <a:off x="1615559" y="3579196"/>
            <a:ext cx="12177117" cy="766048"/>
          </a:xfrm>
          <a:prstGeom prst="rect">
            <a:avLst/>
          </a:prstGeom>
          <a:noFill/>
          <a:ln/>
        </p:spPr>
        <p:txBody>
          <a:bodyPr wrap="squar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Gestion de l'authentification des utilisateurs. Autorisation d'accès par la responsable financière avec notifications personnalisées via Outlook.</a:t>
            </a:r>
            <a:endParaRPr lang="en-US" sz="1850" dirty="0"/>
          </a:p>
        </p:txBody>
      </p:sp>
      <p:sp>
        <p:nvSpPr>
          <p:cNvPr id="7" name="Rectangle 6">
            <a:extLst>
              <a:ext uri="{FF2B5EF4-FFF2-40B4-BE49-F238E27FC236}">
                <a16:creationId xmlns:a16="http://schemas.microsoft.com/office/drawing/2014/main" id="{A6F6694F-8EAF-D687-FA72-97D5E0518681}"/>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arn(inVertical)">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545550" y="1027572"/>
            <a:ext cx="11539299"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Gestion des Clients et des Charges Mensuelles</a:t>
            </a:r>
            <a:endParaRPr lang="en-US" sz="4400" dirty="0"/>
          </a:p>
        </p:txBody>
      </p:sp>
      <p:sp>
        <p:nvSpPr>
          <p:cNvPr id="3" name="Text 1"/>
          <p:cNvSpPr/>
          <p:nvPr/>
        </p:nvSpPr>
        <p:spPr>
          <a:xfrm>
            <a:off x="837724" y="3128440"/>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Simplifiez la gestion de vos clients et charges mensuelles avec notre solution intuitive.</a:t>
            </a:r>
            <a:endParaRPr lang="en-US" sz="1850" dirty="0"/>
          </a:p>
        </p:txBody>
      </p:sp>
      <p:sp>
        <p:nvSpPr>
          <p:cNvPr id="4" name="Shape 2"/>
          <p:cNvSpPr/>
          <p:nvPr/>
        </p:nvSpPr>
        <p:spPr>
          <a:xfrm>
            <a:off x="837724" y="3780665"/>
            <a:ext cx="6357818" cy="830580"/>
          </a:xfrm>
          <a:prstGeom prst="roundRect">
            <a:avLst>
              <a:gd name="adj" fmla="val 4323"/>
            </a:avLst>
          </a:prstGeom>
          <a:solidFill>
            <a:srgbClr val="2F2B54"/>
          </a:solidFill>
          <a:ln/>
        </p:spPr>
        <p:txBody>
          <a:bodyPr/>
          <a:lstStyle/>
          <a:p>
            <a:pPr algn="ctr"/>
            <a:endParaRPr lang="fr-FR" dirty="0"/>
          </a:p>
        </p:txBody>
      </p:sp>
      <p:sp>
        <p:nvSpPr>
          <p:cNvPr id="5" name="Text 3"/>
          <p:cNvSpPr/>
          <p:nvPr/>
        </p:nvSpPr>
        <p:spPr>
          <a:xfrm>
            <a:off x="2608540" y="3998329"/>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Gestion des Clients</a:t>
            </a:r>
            <a:endParaRPr lang="en-US" sz="2200" dirty="0"/>
          </a:p>
        </p:txBody>
      </p:sp>
      <p:sp>
        <p:nvSpPr>
          <p:cNvPr id="6" name="Shape 4"/>
          <p:cNvSpPr/>
          <p:nvPr/>
        </p:nvSpPr>
        <p:spPr>
          <a:xfrm>
            <a:off x="7434858" y="3780665"/>
            <a:ext cx="6357818" cy="830580"/>
          </a:xfrm>
          <a:prstGeom prst="roundRect">
            <a:avLst>
              <a:gd name="adj" fmla="val 4323"/>
            </a:avLst>
          </a:prstGeom>
          <a:solidFill>
            <a:srgbClr val="2F2B54"/>
          </a:solidFill>
          <a:ln/>
        </p:spPr>
        <p:txBody>
          <a:bodyPr/>
          <a:lstStyle/>
          <a:p>
            <a:endParaRPr lang="fr-FR"/>
          </a:p>
        </p:txBody>
      </p:sp>
      <p:sp>
        <p:nvSpPr>
          <p:cNvPr id="7" name="Text 5"/>
          <p:cNvSpPr/>
          <p:nvPr/>
        </p:nvSpPr>
        <p:spPr>
          <a:xfrm>
            <a:off x="8605361" y="3998328"/>
            <a:ext cx="4016812"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Gestion des Charges Mensuelles</a:t>
            </a:r>
            <a:endParaRPr lang="en-US" sz="2200" dirty="0"/>
          </a:p>
        </p:txBody>
      </p:sp>
      <p:sp>
        <p:nvSpPr>
          <p:cNvPr id="8" name="Rectangle 7">
            <a:extLst>
              <a:ext uri="{FF2B5EF4-FFF2-40B4-BE49-F238E27FC236}">
                <a16:creationId xmlns:a16="http://schemas.microsoft.com/office/drawing/2014/main" id="{A0872268-E18E-0248-D3E0-5A5AE3BF5674}"/>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2" name="Shape 2">
            <a:extLst>
              <a:ext uri="{FF2B5EF4-FFF2-40B4-BE49-F238E27FC236}">
                <a16:creationId xmlns:a16="http://schemas.microsoft.com/office/drawing/2014/main" id="{22C084ED-C8BD-ADDA-C9ED-D03CEF3BDBAA}"/>
              </a:ext>
            </a:extLst>
          </p:cNvPr>
          <p:cNvSpPr/>
          <p:nvPr/>
        </p:nvSpPr>
        <p:spPr>
          <a:xfrm>
            <a:off x="8093035" y="2247904"/>
            <a:ext cx="4024208" cy="2726689"/>
          </a:xfrm>
          <a:prstGeom prst="roundRect">
            <a:avLst>
              <a:gd name="adj" fmla="val 4323"/>
            </a:avLst>
          </a:prstGeom>
          <a:solidFill>
            <a:srgbClr val="2F2B54"/>
          </a:solidFill>
          <a:ln/>
        </p:spPr>
        <p:txBody>
          <a:bodyPr/>
          <a:lstStyle/>
          <a:p>
            <a:pPr algn="ctr"/>
            <a:endParaRPr lang="fr-FR" dirty="0"/>
          </a:p>
        </p:txBody>
      </p:sp>
      <p:sp>
        <p:nvSpPr>
          <p:cNvPr id="10" name="Shape 2">
            <a:extLst>
              <a:ext uri="{FF2B5EF4-FFF2-40B4-BE49-F238E27FC236}">
                <a16:creationId xmlns:a16="http://schemas.microsoft.com/office/drawing/2014/main" id="{B2AE8CCE-643F-7A59-6FF8-C22B0D383D07}"/>
              </a:ext>
            </a:extLst>
          </p:cNvPr>
          <p:cNvSpPr/>
          <p:nvPr/>
        </p:nvSpPr>
        <p:spPr>
          <a:xfrm>
            <a:off x="1815528" y="2402448"/>
            <a:ext cx="4024208" cy="2726689"/>
          </a:xfrm>
          <a:prstGeom prst="roundRect">
            <a:avLst>
              <a:gd name="adj" fmla="val 4323"/>
            </a:avLst>
          </a:prstGeom>
          <a:solidFill>
            <a:srgbClr val="2F2B54"/>
          </a:solidFill>
          <a:ln/>
        </p:spPr>
        <p:txBody>
          <a:bodyPr/>
          <a:lstStyle/>
          <a:p>
            <a:pPr algn="ctr"/>
            <a:endParaRPr lang="fr-FR" dirty="0"/>
          </a:p>
        </p:txBody>
      </p:sp>
      <p:sp>
        <p:nvSpPr>
          <p:cNvPr id="2" name="Text 0"/>
          <p:cNvSpPr/>
          <p:nvPr/>
        </p:nvSpPr>
        <p:spPr>
          <a:xfrm>
            <a:off x="3280648" y="679545"/>
            <a:ext cx="8069104"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Gestion des Factures et Revenus</a:t>
            </a:r>
            <a:endParaRPr lang="en-US" sz="4400" dirty="0"/>
          </a:p>
        </p:txBody>
      </p:sp>
      <p:pic>
        <p:nvPicPr>
          <p:cNvPr id="3" name="Image 0" descr="preencoded.png"/>
          <p:cNvPicPr>
            <a:picLocks noChangeAspect="1"/>
          </p:cNvPicPr>
          <p:nvPr/>
        </p:nvPicPr>
        <p:blipFill>
          <a:blip r:embed="rId3"/>
          <a:stretch>
            <a:fillRect/>
          </a:stretch>
        </p:blipFill>
        <p:spPr>
          <a:xfrm>
            <a:off x="3528428" y="2798972"/>
            <a:ext cx="598408" cy="598408"/>
          </a:xfrm>
          <a:prstGeom prst="rect">
            <a:avLst/>
          </a:prstGeom>
        </p:spPr>
      </p:pic>
      <p:sp>
        <p:nvSpPr>
          <p:cNvPr id="4" name="Text 1"/>
          <p:cNvSpPr/>
          <p:nvPr/>
        </p:nvSpPr>
        <p:spPr>
          <a:xfrm>
            <a:off x="2419539" y="3569958"/>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Factures</a:t>
            </a:r>
            <a:endParaRPr lang="en-US" sz="2200" dirty="0"/>
          </a:p>
        </p:txBody>
      </p:sp>
      <p:sp>
        <p:nvSpPr>
          <p:cNvPr id="5" name="Text 2"/>
          <p:cNvSpPr/>
          <p:nvPr/>
        </p:nvSpPr>
        <p:spPr>
          <a:xfrm>
            <a:off x="1905428" y="3921907"/>
            <a:ext cx="3844406" cy="383024"/>
          </a:xfrm>
          <a:prstGeom prst="rect">
            <a:avLst/>
          </a:prstGeom>
          <a:noFill/>
          <a:ln/>
        </p:spPr>
        <p:txBody>
          <a:bodyPr wrap="none" lIns="0" tIns="0" rIns="0" bIns="0" rtlCol="0" anchor="t"/>
          <a:lstStyle/>
          <a:p>
            <a:pPr marL="0" indent="0" algn="ct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Suivi et organisation</a:t>
            </a:r>
            <a:endParaRPr lang="en-US" sz="1850" dirty="0"/>
          </a:p>
        </p:txBody>
      </p:sp>
      <p:pic>
        <p:nvPicPr>
          <p:cNvPr id="6" name="Image 1" descr="preencoded.png"/>
          <p:cNvPicPr>
            <a:picLocks noChangeAspect="1"/>
          </p:cNvPicPr>
          <p:nvPr/>
        </p:nvPicPr>
        <p:blipFill>
          <a:blip r:embed="rId4"/>
          <a:stretch>
            <a:fillRect/>
          </a:stretch>
        </p:blipFill>
        <p:spPr>
          <a:xfrm>
            <a:off x="9805933" y="2798972"/>
            <a:ext cx="598408" cy="598408"/>
          </a:xfrm>
          <a:prstGeom prst="rect">
            <a:avLst/>
          </a:prstGeom>
        </p:spPr>
      </p:pic>
      <p:sp>
        <p:nvSpPr>
          <p:cNvPr id="7" name="Text 3"/>
          <p:cNvSpPr/>
          <p:nvPr/>
        </p:nvSpPr>
        <p:spPr>
          <a:xfrm>
            <a:off x="8697045" y="3493070"/>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Revenus Mensuels</a:t>
            </a:r>
            <a:endParaRPr lang="en-US" sz="2200" dirty="0"/>
          </a:p>
        </p:txBody>
      </p:sp>
      <p:sp>
        <p:nvSpPr>
          <p:cNvPr id="8" name="Text 4"/>
          <p:cNvSpPr/>
          <p:nvPr/>
        </p:nvSpPr>
        <p:spPr>
          <a:xfrm>
            <a:off x="8355592" y="3921090"/>
            <a:ext cx="3499093" cy="383024"/>
          </a:xfrm>
          <a:prstGeom prst="rect">
            <a:avLst/>
          </a:prstGeom>
          <a:noFill/>
          <a:ln/>
        </p:spPr>
        <p:txBody>
          <a:bodyPr wrap="none" lIns="0" tIns="0" rIns="0" bIns="0" rtlCol="0" anchor="t"/>
          <a:lstStyle/>
          <a:p>
            <a:pPr marL="0" indent="0" algn="ct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Analyse et planification</a:t>
            </a:r>
            <a:endParaRPr lang="en-US" sz="1850" dirty="0"/>
          </a:p>
        </p:txBody>
      </p:sp>
      <p:sp>
        <p:nvSpPr>
          <p:cNvPr id="9" name="Rectangle 8">
            <a:extLst>
              <a:ext uri="{FF2B5EF4-FFF2-40B4-BE49-F238E27FC236}">
                <a16:creationId xmlns:a16="http://schemas.microsoft.com/office/drawing/2014/main" id="{75E37525-E3A6-1089-9829-F3F240FA96CB}"/>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randombar(horizontal)">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ppt_x"/>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down)">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randombar(horizontal)">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animBg="1"/>
      <p:bldP spid="4" grpId="0" animBg="1"/>
      <p:bldP spid="5"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5484494" y="1165679"/>
            <a:ext cx="8036957"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Gestion des Charges Mensuelles</a:t>
            </a:r>
            <a:endParaRPr lang="en-US" sz="4400" dirty="0"/>
          </a:p>
        </p:txBody>
      </p:sp>
      <p:sp>
        <p:nvSpPr>
          <p:cNvPr id="4" name="Shape 1"/>
          <p:cNvSpPr/>
          <p:nvPr/>
        </p:nvSpPr>
        <p:spPr>
          <a:xfrm>
            <a:off x="4513421" y="2954057"/>
            <a:ext cx="4529018" cy="1709142"/>
          </a:xfrm>
          <a:prstGeom prst="roundRect">
            <a:avLst>
              <a:gd name="adj" fmla="val 2101"/>
            </a:avLst>
          </a:prstGeom>
          <a:solidFill>
            <a:srgbClr val="2F2B54"/>
          </a:solidFill>
          <a:ln/>
        </p:spPr>
        <p:txBody>
          <a:bodyPr/>
          <a:lstStyle/>
          <a:p>
            <a:endParaRPr lang="fr-FR"/>
          </a:p>
        </p:txBody>
      </p:sp>
      <p:sp>
        <p:nvSpPr>
          <p:cNvPr id="5" name="Text 2"/>
          <p:cNvSpPr/>
          <p:nvPr/>
        </p:nvSpPr>
        <p:spPr>
          <a:xfrm>
            <a:off x="4734639" y="3584734"/>
            <a:ext cx="4034552"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Déclaration des Charges Stables</a:t>
            </a:r>
            <a:endParaRPr lang="en-US" sz="2200" dirty="0"/>
          </a:p>
        </p:txBody>
      </p:sp>
      <p:sp>
        <p:nvSpPr>
          <p:cNvPr id="6" name="Text 3"/>
          <p:cNvSpPr/>
          <p:nvPr/>
        </p:nvSpPr>
        <p:spPr>
          <a:xfrm>
            <a:off x="4734639" y="3728323"/>
            <a:ext cx="4050387" cy="383024"/>
          </a:xfrm>
          <a:prstGeom prst="rect">
            <a:avLst/>
          </a:prstGeom>
          <a:noFill/>
          <a:ln/>
        </p:spPr>
        <p:txBody>
          <a:bodyPr wrap="none" lIns="0" tIns="0" rIns="0" bIns="0" rtlCol="0" anchor="t"/>
          <a:lstStyle/>
          <a:p>
            <a:pPr marL="0" indent="0" algn="l">
              <a:lnSpc>
                <a:spcPts val="3000"/>
              </a:lnSpc>
              <a:buNone/>
            </a:pPr>
            <a:endParaRPr lang="en-US" sz="1850" dirty="0"/>
          </a:p>
        </p:txBody>
      </p:sp>
      <p:sp>
        <p:nvSpPr>
          <p:cNvPr id="7" name="Shape 4"/>
          <p:cNvSpPr/>
          <p:nvPr/>
        </p:nvSpPr>
        <p:spPr>
          <a:xfrm>
            <a:off x="9263658" y="2993469"/>
            <a:ext cx="4529018" cy="1709142"/>
          </a:xfrm>
          <a:prstGeom prst="roundRect">
            <a:avLst>
              <a:gd name="adj" fmla="val 2101"/>
            </a:avLst>
          </a:prstGeom>
          <a:solidFill>
            <a:srgbClr val="2F2B54"/>
          </a:solidFill>
          <a:ln/>
        </p:spPr>
        <p:txBody>
          <a:bodyPr/>
          <a:lstStyle/>
          <a:p>
            <a:endParaRPr lang="fr-FR"/>
          </a:p>
        </p:txBody>
      </p:sp>
      <p:sp>
        <p:nvSpPr>
          <p:cNvPr id="8" name="Text 5"/>
          <p:cNvSpPr/>
          <p:nvPr/>
        </p:nvSpPr>
        <p:spPr>
          <a:xfrm>
            <a:off x="9502973" y="3496091"/>
            <a:ext cx="4050387" cy="703898"/>
          </a:xfrm>
          <a:prstGeom prst="rect">
            <a:avLst/>
          </a:prstGeom>
          <a:noFill/>
          <a:ln/>
        </p:spPr>
        <p:txBody>
          <a:bodyPr wrap="squar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Génération Automatique des Charges</a:t>
            </a:r>
            <a:endParaRPr lang="en-US" sz="2200" dirty="0"/>
          </a:p>
        </p:txBody>
      </p:sp>
      <p:sp>
        <p:nvSpPr>
          <p:cNvPr id="10" name="Shape 7"/>
          <p:cNvSpPr/>
          <p:nvPr/>
        </p:nvSpPr>
        <p:spPr>
          <a:xfrm>
            <a:off x="6870441" y="4885613"/>
            <a:ext cx="4547115" cy="1357193"/>
          </a:xfrm>
          <a:prstGeom prst="roundRect">
            <a:avLst>
              <a:gd name="adj" fmla="val 2646"/>
            </a:avLst>
          </a:prstGeom>
          <a:solidFill>
            <a:srgbClr val="2F2B54"/>
          </a:solidFill>
          <a:ln/>
        </p:spPr>
        <p:txBody>
          <a:bodyPr/>
          <a:lstStyle/>
          <a:p>
            <a:endParaRPr lang="fr-FR"/>
          </a:p>
        </p:txBody>
      </p:sp>
      <p:sp>
        <p:nvSpPr>
          <p:cNvPr id="11" name="Text 8"/>
          <p:cNvSpPr/>
          <p:nvPr/>
        </p:nvSpPr>
        <p:spPr>
          <a:xfrm>
            <a:off x="7100707" y="5357217"/>
            <a:ext cx="4086582"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Résultats des Charges Couvertes</a:t>
            </a:r>
            <a:endParaRPr lang="en-US" sz="2200" dirty="0"/>
          </a:p>
        </p:txBody>
      </p:sp>
      <p:sp>
        <p:nvSpPr>
          <p:cNvPr id="13" name="Rectangle 12">
            <a:extLst>
              <a:ext uri="{FF2B5EF4-FFF2-40B4-BE49-F238E27FC236}">
                <a16:creationId xmlns:a16="http://schemas.microsoft.com/office/drawing/2014/main" id="{301EDD6A-92A1-1962-6EAE-BB622E9742D9}"/>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wipe(down)">
                                      <p:cBhvr>
                                        <p:cTn id="19" dur="5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wipe(down)">
                                      <p:cBhvr>
                                        <p:cTn id="39"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838753" y="913170"/>
            <a:ext cx="6952893"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Historique des Transactions</a:t>
            </a:r>
            <a:endParaRPr lang="en-US" sz="4400" dirty="0"/>
          </a:p>
        </p:txBody>
      </p:sp>
      <p:sp>
        <p:nvSpPr>
          <p:cNvPr id="3" name="Text 1"/>
          <p:cNvSpPr/>
          <p:nvPr/>
        </p:nvSpPr>
        <p:spPr>
          <a:xfrm>
            <a:off x="2206585" y="4266843"/>
            <a:ext cx="2816185" cy="351949"/>
          </a:xfrm>
          <a:prstGeom prst="rect">
            <a:avLst/>
          </a:prstGeom>
          <a:noFill/>
          <a:ln/>
        </p:spPr>
        <p:txBody>
          <a:bodyPr wrap="none" lIns="0" tIns="0" rIns="0" bIns="0" rtlCol="0" anchor="t"/>
          <a:lstStyle/>
          <a:p>
            <a:pPr marL="0" indent="0" algn="r">
              <a:lnSpc>
                <a:spcPts val="2750"/>
              </a:lnSpc>
              <a:buNone/>
            </a:pPr>
            <a:r>
              <a:rPr lang="en-US" sz="2200" dirty="0">
                <a:solidFill>
                  <a:srgbClr val="D9E1FF"/>
                </a:solidFill>
                <a:latin typeface="Kanit" pitchFamily="34" charset="0"/>
                <a:ea typeface="Kanit" pitchFamily="34" charset="-122"/>
                <a:cs typeface="Kanit" pitchFamily="34" charset="-120"/>
              </a:rPr>
              <a:t>Charges</a:t>
            </a:r>
            <a:endParaRPr lang="en-US" sz="2200" dirty="0"/>
          </a:p>
        </p:txBody>
      </p:sp>
      <p:sp>
        <p:nvSpPr>
          <p:cNvPr id="4" name="Text 2"/>
          <p:cNvSpPr/>
          <p:nvPr/>
        </p:nvSpPr>
        <p:spPr>
          <a:xfrm>
            <a:off x="837724" y="4762381"/>
            <a:ext cx="4185047" cy="383024"/>
          </a:xfrm>
          <a:prstGeom prst="rect">
            <a:avLst/>
          </a:prstGeom>
          <a:noFill/>
          <a:ln/>
        </p:spPr>
        <p:txBody>
          <a:bodyPr wrap="none" lIns="0" tIns="0" rIns="0" bIns="0" rtlCol="0" anchor="t"/>
          <a:lstStyle/>
          <a:p>
            <a:pPr marL="0" indent="0" algn="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Suivi détaillé.</a:t>
            </a:r>
            <a:endParaRPr lang="en-US" sz="1850" dirty="0"/>
          </a:p>
        </p:txBody>
      </p:sp>
      <p:pic>
        <p:nvPicPr>
          <p:cNvPr id="5" name="Image 0" descr="preencoded.png"/>
          <p:cNvPicPr>
            <a:picLocks noChangeAspect="1"/>
          </p:cNvPicPr>
          <p:nvPr/>
        </p:nvPicPr>
        <p:blipFill>
          <a:blip r:embed="rId3"/>
          <a:stretch>
            <a:fillRect/>
          </a:stretch>
        </p:blipFill>
        <p:spPr>
          <a:xfrm>
            <a:off x="5589602" y="2973408"/>
            <a:ext cx="3627358" cy="3627358"/>
          </a:xfrm>
          <a:prstGeom prst="rect">
            <a:avLst/>
          </a:prstGeom>
        </p:spPr>
      </p:pic>
      <p:sp>
        <p:nvSpPr>
          <p:cNvPr id="6" name="Shape 3"/>
          <p:cNvSpPr/>
          <p:nvPr/>
        </p:nvSpPr>
        <p:spPr>
          <a:xfrm>
            <a:off x="5368493" y="4355485"/>
            <a:ext cx="598408" cy="598408"/>
          </a:xfrm>
          <a:prstGeom prst="roundRect">
            <a:avLst>
              <a:gd name="adj" fmla="val 1526526"/>
            </a:avLst>
          </a:prstGeom>
          <a:solidFill>
            <a:srgbClr val="2F2B54"/>
          </a:solidFill>
          <a:ln/>
        </p:spPr>
        <p:txBody>
          <a:bodyPr/>
          <a:lstStyle/>
          <a:p>
            <a:endParaRPr lang="fr-FR"/>
          </a:p>
        </p:txBody>
      </p:sp>
      <p:sp>
        <p:nvSpPr>
          <p:cNvPr id="7" name="Text 4"/>
          <p:cNvSpPr/>
          <p:nvPr/>
        </p:nvSpPr>
        <p:spPr>
          <a:xfrm>
            <a:off x="5521422" y="4425791"/>
            <a:ext cx="269200" cy="336590"/>
          </a:xfrm>
          <a:prstGeom prst="rect">
            <a:avLst/>
          </a:prstGeom>
          <a:noFill/>
          <a:ln/>
        </p:spPr>
        <p:txBody>
          <a:bodyPr wrap="none" lIns="0" tIns="0" rIns="0" bIns="0" rtlCol="0" anchor="t"/>
          <a:lstStyle/>
          <a:p>
            <a:pPr marL="0" indent="0" algn="ctr">
              <a:lnSpc>
                <a:spcPts val="3350"/>
              </a:lnSpc>
              <a:buNone/>
            </a:pPr>
            <a:r>
              <a:rPr lang="en-US" sz="2100" dirty="0">
                <a:solidFill>
                  <a:srgbClr val="D9E1FF"/>
                </a:solidFill>
                <a:latin typeface="Kanit" pitchFamily="34" charset="0"/>
                <a:ea typeface="Kanit" pitchFamily="34" charset="-122"/>
                <a:cs typeface="Kanit" pitchFamily="34" charset="-120"/>
              </a:rPr>
              <a:t>1</a:t>
            </a:r>
            <a:endParaRPr lang="en-US" sz="2100" dirty="0"/>
          </a:p>
        </p:txBody>
      </p:sp>
      <p:sp>
        <p:nvSpPr>
          <p:cNvPr id="8" name="Text 5"/>
          <p:cNvSpPr/>
          <p:nvPr/>
        </p:nvSpPr>
        <p:spPr>
          <a:xfrm>
            <a:off x="9607629" y="426684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Factures</a:t>
            </a:r>
            <a:endParaRPr lang="en-US" sz="2200" dirty="0"/>
          </a:p>
        </p:txBody>
      </p:sp>
      <p:sp>
        <p:nvSpPr>
          <p:cNvPr id="9" name="Text 6"/>
          <p:cNvSpPr/>
          <p:nvPr/>
        </p:nvSpPr>
        <p:spPr>
          <a:xfrm>
            <a:off x="9607629" y="4762381"/>
            <a:ext cx="4185047" cy="383024"/>
          </a:xfrm>
          <a:prstGeom prst="rect">
            <a:avLst/>
          </a:prstGeom>
          <a:noFill/>
          <a:ln/>
        </p:spPr>
        <p:txBody>
          <a:bodyPr wrap="none" lIns="0" tIns="0" rIns="0" bIns="0" rtlCol="0" anchor="t"/>
          <a:lstStyle/>
          <a:p>
            <a:pPr marL="0" indent="0" algn="l">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Vue d'ensemble.</a:t>
            </a:r>
            <a:endParaRPr lang="en-US" sz="1850" dirty="0"/>
          </a:p>
        </p:txBody>
      </p:sp>
      <p:pic>
        <p:nvPicPr>
          <p:cNvPr id="10" name="Image 1" descr="preencoded.png"/>
          <p:cNvPicPr>
            <a:picLocks noChangeAspect="1"/>
          </p:cNvPicPr>
          <p:nvPr/>
        </p:nvPicPr>
        <p:blipFill>
          <a:blip r:embed="rId4"/>
          <a:stretch>
            <a:fillRect/>
          </a:stretch>
        </p:blipFill>
        <p:spPr>
          <a:xfrm>
            <a:off x="5727588" y="2973408"/>
            <a:ext cx="3627358" cy="3627358"/>
          </a:xfrm>
          <a:prstGeom prst="rect">
            <a:avLst/>
          </a:prstGeom>
        </p:spPr>
      </p:pic>
      <p:sp>
        <p:nvSpPr>
          <p:cNvPr id="11" name="Shape 7"/>
          <p:cNvSpPr/>
          <p:nvPr/>
        </p:nvSpPr>
        <p:spPr>
          <a:xfrm>
            <a:off x="8962704" y="4357672"/>
            <a:ext cx="598408" cy="598408"/>
          </a:xfrm>
          <a:prstGeom prst="roundRect">
            <a:avLst>
              <a:gd name="adj" fmla="val 1526526"/>
            </a:avLst>
          </a:prstGeom>
          <a:solidFill>
            <a:srgbClr val="2F2B54"/>
          </a:solidFill>
          <a:ln/>
        </p:spPr>
        <p:txBody>
          <a:bodyPr/>
          <a:lstStyle/>
          <a:p>
            <a:endParaRPr lang="fr-FR"/>
          </a:p>
        </p:txBody>
      </p:sp>
      <p:sp>
        <p:nvSpPr>
          <p:cNvPr id="12" name="Text 8"/>
          <p:cNvSpPr/>
          <p:nvPr/>
        </p:nvSpPr>
        <p:spPr>
          <a:xfrm>
            <a:off x="9137962" y="4425791"/>
            <a:ext cx="269200" cy="336590"/>
          </a:xfrm>
          <a:prstGeom prst="rect">
            <a:avLst/>
          </a:prstGeom>
          <a:noFill/>
          <a:ln/>
        </p:spPr>
        <p:txBody>
          <a:bodyPr wrap="none" lIns="0" tIns="0" rIns="0" bIns="0" rtlCol="0" anchor="t"/>
          <a:lstStyle/>
          <a:p>
            <a:pPr marL="0" indent="0" algn="ctr">
              <a:lnSpc>
                <a:spcPts val="3350"/>
              </a:lnSpc>
              <a:buNone/>
            </a:pPr>
            <a:r>
              <a:rPr lang="en-US" sz="2100" dirty="0">
                <a:solidFill>
                  <a:srgbClr val="D9E1FF"/>
                </a:solidFill>
                <a:latin typeface="Kanit" pitchFamily="34" charset="0"/>
                <a:ea typeface="Kanit" pitchFamily="34" charset="-122"/>
                <a:cs typeface="Kanit" pitchFamily="34" charset="-120"/>
              </a:rPr>
              <a:t>2</a:t>
            </a:r>
            <a:endParaRPr lang="en-US" sz="2100" dirty="0"/>
          </a:p>
        </p:txBody>
      </p:sp>
      <p:sp>
        <p:nvSpPr>
          <p:cNvPr id="13" name="Rectangle 12">
            <a:extLst>
              <a:ext uri="{FF2B5EF4-FFF2-40B4-BE49-F238E27FC236}">
                <a16:creationId xmlns:a16="http://schemas.microsoft.com/office/drawing/2014/main" id="{E8DB7D21-D077-7CA9-09A6-6E8E3E066155}"/>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arn(inVertical)">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barn(inVertical)">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9"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445083" y="0"/>
            <a:ext cx="5185317" cy="8229600"/>
          </a:xfrm>
          <a:prstGeom prst="rect">
            <a:avLst/>
          </a:prstGeom>
        </p:spPr>
      </p:pic>
      <p:sp>
        <p:nvSpPr>
          <p:cNvPr id="3" name="Text 0"/>
          <p:cNvSpPr/>
          <p:nvPr/>
        </p:nvSpPr>
        <p:spPr>
          <a:xfrm>
            <a:off x="1888794" y="888948"/>
            <a:ext cx="5632490"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Résultats Financiers</a:t>
            </a:r>
            <a:endParaRPr lang="en-US" sz="4400" dirty="0"/>
          </a:p>
        </p:txBody>
      </p:sp>
      <p:pic>
        <p:nvPicPr>
          <p:cNvPr id="4" name="Image 1" descr="preencoded.png"/>
          <p:cNvPicPr>
            <a:picLocks noChangeAspect="1"/>
          </p:cNvPicPr>
          <p:nvPr/>
        </p:nvPicPr>
        <p:blipFill>
          <a:blip r:embed="rId4"/>
          <a:stretch>
            <a:fillRect/>
          </a:stretch>
        </p:blipFill>
        <p:spPr>
          <a:xfrm>
            <a:off x="2011442" y="3785830"/>
            <a:ext cx="2301002" cy="830580"/>
          </a:xfrm>
          <a:prstGeom prst="rect">
            <a:avLst/>
          </a:prstGeom>
        </p:spPr>
      </p:pic>
      <p:sp>
        <p:nvSpPr>
          <p:cNvPr id="5" name="Text 1"/>
          <p:cNvSpPr/>
          <p:nvPr/>
        </p:nvSpPr>
        <p:spPr>
          <a:xfrm>
            <a:off x="2993588" y="3990736"/>
            <a:ext cx="336590" cy="420767"/>
          </a:xfrm>
          <a:prstGeom prst="rect">
            <a:avLst/>
          </a:prstGeom>
          <a:noFill/>
          <a:ln/>
        </p:spPr>
        <p:txBody>
          <a:bodyPr wrap="none" lIns="0" tIns="0" rIns="0" bIns="0" rtlCol="0" anchor="t"/>
          <a:lstStyle/>
          <a:p>
            <a:pPr marL="0" indent="0" algn="ctr">
              <a:lnSpc>
                <a:spcPts val="4200"/>
              </a:lnSpc>
              <a:buNone/>
            </a:pPr>
            <a:r>
              <a:rPr lang="en-US" sz="2650" dirty="0">
                <a:solidFill>
                  <a:srgbClr val="D9E1FF"/>
                </a:solidFill>
                <a:latin typeface="Kanit" pitchFamily="34" charset="0"/>
                <a:ea typeface="Kanit" pitchFamily="34" charset="-122"/>
                <a:cs typeface="Kanit" pitchFamily="34" charset="-120"/>
              </a:rPr>
              <a:t>1</a:t>
            </a:r>
            <a:endParaRPr lang="en-US" sz="2650" dirty="0"/>
          </a:p>
        </p:txBody>
      </p:sp>
      <p:sp>
        <p:nvSpPr>
          <p:cNvPr id="6" name="Text 2"/>
          <p:cNvSpPr/>
          <p:nvPr/>
        </p:nvSpPr>
        <p:spPr>
          <a:xfrm>
            <a:off x="4551759" y="4025146"/>
            <a:ext cx="1045726"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Annuels</a:t>
            </a:r>
            <a:endParaRPr lang="en-US" sz="2200" dirty="0"/>
          </a:p>
        </p:txBody>
      </p:sp>
      <p:sp>
        <p:nvSpPr>
          <p:cNvPr id="7" name="Shape 3"/>
          <p:cNvSpPr/>
          <p:nvPr/>
        </p:nvSpPr>
        <p:spPr>
          <a:xfrm>
            <a:off x="4372213" y="4631054"/>
            <a:ext cx="3149071" cy="45719"/>
          </a:xfrm>
          <a:prstGeom prst="roundRect">
            <a:avLst>
              <a:gd name="adj" fmla="val 235611"/>
            </a:avLst>
          </a:prstGeom>
          <a:solidFill>
            <a:srgbClr val="48446D"/>
          </a:solidFill>
          <a:ln/>
        </p:spPr>
        <p:txBody>
          <a:bodyPr/>
          <a:lstStyle/>
          <a:p>
            <a:endParaRPr lang="fr-FR"/>
          </a:p>
        </p:txBody>
      </p:sp>
      <p:pic>
        <p:nvPicPr>
          <p:cNvPr id="8" name="Image 2" descr="preencoded.png"/>
          <p:cNvPicPr>
            <a:picLocks noChangeAspect="1"/>
          </p:cNvPicPr>
          <p:nvPr/>
        </p:nvPicPr>
        <p:blipFill>
          <a:blip r:embed="rId5"/>
          <a:stretch>
            <a:fillRect/>
          </a:stretch>
        </p:blipFill>
        <p:spPr>
          <a:xfrm>
            <a:off x="860941" y="4676180"/>
            <a:ext cx="4602123" cy="830580"/>
          </a:xfrm>
          <a:prstGeom prst="rect">
            <a:avLst/>
          </a:prstGeom>
        </p:spPr>
      </p:pic>
      <p:sp>
        <p:nvSpPr>
          <p:cNvPr id="9" name="Text 4"/>
          <p:cNvSpPr/>
          <p:nvPr/>
        </p:nvSpPr>
        <p:spPr>
          <a:xfrm>
            <a:off x="2993588" y="4705111"/>
            <a:ext cx="336590" cy="420767"/>
          </a:xfrm>
          <a:prstGeom prst="rect">
            <a:avLst/>
          </a:prstGeom>
          <a:noFill/>
          <a:ln/>
        </p:spPr>
        <p:txBody>
          <a:bodyPr wrap="none" lIns="0" tIns="0" rIns="0" bIns="0" rtlCol="0" anchor="t"/>
          <a:lstStyle/>
          <a:p>
            <a:pPr marL="0" indent="0" algn="ctr">
              <a:lnSpc>
                <a:spcPts val="4200"/>
              </a:lnSpc>
              <a:buNone/>
            </a:pPr>
            <a:r>
              <a:rPr lang="en-US" sz="2650" dirty="0">
                <a:solidFill>
                  <a:srgbClr val="D9E1FF"/>
                </a:solidFill>
                <a:latin typeface="Kanit" pitchFamily="34" charset="0"/>
                <a:ea typeface="Kanit" pitchFamily="34" charset="-122"/>
                <a:cs typeface="Kanit" pitchFamily="34" charset="-120"/>
              </a:rPr>
              <a:t>2</a:t>
            </a:r>
            <a:endParaRPr lang="en-US" sz="2650" dirty="0"/>
          </a:p>
        </p:txBody>
      </p:sp>
      <p:sp>
        <p:nvSpPr>
          <p:cNvPr id="10" name="Text 5"/>
          <p:cNvSpPr/>
          <p:nvPr/>
        </p:nvSpPr>
        <p:spPr>
          <a:xfrm>
            <a:off x="5702379" y="4915495"/>
            <a:ext cx="1180743"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Mensuels</a:t>
            </a:r>
            <a:endParaRPr lang="en-US" sz="22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arn(inVertic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837725" y="1471962"/>
            <a:ext cx="7469934" cy="2816369"/>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Gestion des </a:t>
            </a:r>
            <a:r>
              <a:rPr lang="en-US" sz="4400" dirty="0" err="1">
                <a:solidFill>
                  <a:srgbClr val="FFFFFF"/>
                </a:solidFill>
                <a:latin typeface="Kanit" pitchFamily="34" charset="0"/>
                <a:ea typeface="Kanit" pitchFamily="34" charset="-122"/>
                <a:cs typeface="Kanit" pitchFamily="34" charset="-120"/>
              </a:rPr>
              <a:t>Autorisations</a:t>
            </a:r>
            <a:r>
              <a:rPr lang="en-US" sz="4400" dirty="0">
                <a:solidFill>
                  <a:srgbClr val="FFFFFF"/>
                </a:solidFill>
                <a:latin typeface="Kanit" pitchFamily="34" charset="0"/>
                <a:ea typeface="Kanit" pitchFamily="34" charset="-122"/>
                <a:cs typeface="Kanit" pitchFamily="34" charset="-120"/>
              </a:rPr>
              <a:t> </a:t>
            </a:r>
          </a:p>
          <a:p>
            <a:pPr marL="0" indent="0" algn="ctr">
              <a:lnSpc>
                <a:spcPts val="5500"/>
              </a:lnSpc>
              <a:buNone/>
            </a:pPr>
            <a:r>
              <a:rPr lang="en-US" sz="4400" dirty="0" err="1">
                <a:solidFill>
                  <a:srgbClr val="FFFFFF"/>
                </a:solidFill>
                <a:latin typeface="Kanit" pitchFamily="34" charset="0"/>
                <a:ea typeface="Kanit" pitchFamily="34" charset="-122"/>
                <a:cs typeface="Kanit" pitchFamily="34" charset="-120"/>
              </a:rPr>
              <a:t>d'Accès</a:t>
            </a:r>
            <a:endParaRPr lang="en-US" sz="4400" dirty="0"/>
          </a:p>
        </p:txBody>
      </p:sp>
      <p:pic>
        <p:nvPicPr>
          <p:cNvPr id="4" name="Image 0" descr="preencoded.png">
            <a:extLst>
              <a:ext uri="{FF2B5EF4-FFF2-40B4-BE49-F238E27FC236}">
                <a16:creationId xmlns:a16="http://schemas.microsoft.com/office/drawing/2014/main" id="{196F6712-2387-7A39-7029-055C2B3A6CC2}"/>
              </a:ext>
            </a:extLst>
          </p:cNvPr>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1" name="Shape 1">
            <a:extLst>
              <a:ext uri="{FF2B5EF4-FFF2-40B4-BE49-F238E27FC236}">
                <a16:creationId xmlns:a16="http://schemas.microsoft.com/office/drawing/2014/main" id="{F5E56AA6-E4D6-6FBF-860F-4A026E070C71}"/>
              </a:ext>
            </a:extLst>
          </p:cNvPr>
          <p:cNvSpPr/>
          <p:nvPr/>
        </p:nvSpPr>
        <p:spPr>
          <a:xfrm>
            <a:off x="7873767" y="2786870"/>
            <a:ext cx="4529018" cy="1709142"/>
          </a:xfrm>
          <a:prstGeom prst="roundRect">
            <a:avLst>
              <a:gd name="adj" fmla="val 2101"/>
            </a:avLst>
          </a:prstGeom>
          <a:solidFill>
            <a:srgbClr val="2F2B54"/>
          </a:solidFill>
          <a:ln/>
        </p:spPr>
        <p:txBody>
          <a:bodyPr/>
          <a:lstStyle/>
          <a:p>
            <a:endParaRPr lang="fr-FR" dirty="0"/>
          </a:p>
        </p:txBody>
      </p:sp>
      <p:sp>
        <p:nvSpPr>
          <p:cNvPr id="10" name="Shape 1">
            <a:extLst>
              <a:ext uri="{FF2B5EF4-FFF2-40B4-BE49-F238E27FC236}">
                <a16:creationId xmlns:a16="http://schemas.microsoft.com/office/drawing/2014/main" id="{F7B1D0E3-F889-EC10-BCEF-C7D3F72C3F53}"/>
              </a:ext>
            </a:extLst>
          </p:cNvPr>
          <p:cNvSpPr/>
          <p:nvPr/>
        </p:nvSpPr>
        <p:spPr>
          <a:xfrm>
            <a:off x="2126918" y="2786870"/>
            <a:ext cx="4529018" cy="1709142"/>
          </a:xfrm>
          <a:prstGeom prst="roundRect">
            <a:avLst>
              <a:gd name="adj" fmla="val 2101"/>
            </a:avLst>
          </a:prstGeom>
          <a:solidFill>
            <a:srgbClr val="2F2B54"/>
          </a:solidFill>
          <a:ln/>
        </p:spPr>
        <p:txBody>
          <a:bodyPr/>
          <a:lstStyle/>
          <a:p>
            <a:endParaRPr lang="fr-FR"/>
          </a:p>
        </p:txBody>
      </p:sp>
      <p:sp>
        <p:nvSpPr>
          <p:cNvPr id="2" name="Text 0"/>
          <p:cNvSpPr/>
          <p:nvPr/>
        </p:nvSpPr>
        <p:spPr>
          <a:xfrm>
            <a:off x="3191411" y="1044541"/>
            <a:ext cx="8247578"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Dashboard Plateforme Geld Pilot</a:t>
            </a:r>
            <a:endParaRPr lang="en-US" sz="4400" dirty="0"/>
          </a:p>
        </p:txBody>
      </p:sp>
      <p:pic>
        <p:nvPicPr>
          <p:cNvPr id="3" name="Image 0" descr="preencoded.png"/>
          <p:cNvPicPr>
            <a:picLocks noChangeAspect="1"/>
          </p:cNvPicPr>
          <p:nvPr/>
        </p:nvPicPr>
        <p:blipFill>
          <a:blip r:embed="rId3"/>
          <a:stretch>
            <a:fillRect/>
          </a:stretch>
        </p:blipFill>
        <p:spPr>
          <a:xfrm>
            <a:off x="4092223" y="3031882"/>
            <a:ext cx="598408" cy="598408"/>
          </a:xfrm>
          <a:prstGeom prst="rect">
            <a:avLst/>
          </a:prstGeom>
        </p:spPr>
      </p:pic>
      <p:sp>
        <p:nvSpPr>
          <p:cNvPr id="4" name="Text 1"/>
          <p:cNvSpPr/>
          <p:nvPr/>
        </p:nvSpPr>
        <p:spPr>
          <a:xfrm>
            <a:off x="2983334" y="3803376"/>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Prédiction Financière</a:t>
            </a:r>
            <a:endParaRPr lang="en-US" sz="2200" dirty="0"/>
          </a:p>
        </p:txBody>
      </p:sp>
      <p:pic>
        <p:nvPicPr>
          <p:cNvPr id="6" name="Image 1"/>
          <p:cNvPicPr>
            <a:picLocks noChangeAspect="1"/>
          </p:cNvPicPr>
          <p:nvPr/>
        </p:nvPicPr>
        <p:blipFill>
          <a:blip r:embed="rId4">
            <a:extLst>
              <a:ext uri="{96DAC541-7B7A-43D3-8B79-37D633B846F1}">
                <asvg:svgBlip xmlns:asvg="http://schemas.microsoft.com/office/drawing/2016/SVG/main" r:embed="rId5"/>
              </a:ext>
              <a:ext uri="{837473B0-CC2E-450A-ABE3-18F120FF3D39}">
                <a1611:picAttrSrcUrl xmlns:a1611="http://schemas.microsoft.com/office/drawing/2016/11/main" r:id="rId6"/>
              </a:ext>
            </a:extLst>
          </a:blip>
          <a:srcRect/>
          <a:stretch/>
        </p:blipFill>
        <p:spPr>
          <a:xfrm>
            <a:off x="9839073" y="3043033"/>
            <a:ext cx="598408" cy="598408"/>
          </a:xfrm>
          <a:prstGeom prst="rect">
            <a:avLst/>
          </a:prstGeom>
        </p:spPr>
      </p:pic>
      <p:sp>
        <p:nvSpPr>
          <p:cNvPr id="7" name="Text 3"/>
          <p:cNvSpPr/>
          <p:nvPr/>
        </p:nvSpPr>
        <p:spPr>
          <a:xfrm>
            <a:off x="8480450" y="3797744"/>
            <a:ext cx="3315653" cy="351949"/>
          </a:xfrm>
          <a:prstGeom prst="rect">
            <a:avLst/>
          </a:prstGeom>
          <a:noFill/>
          <a:ln/>
        </p:spPr>
        <p:txBody>
          <a:bodyPr wrap="none" lIns="0" tIns="0" rIns="0" bIns="0" rtlCol="0" anchor="t"/>
          <a:lstStyle/>
          <a:p>
            <a:pPr marL="0" indent="0" algn="l">
              <a:lnSpc>
                <a:spcPts val="2750"/>
              </a:lnSpc>
              <a:buNone/>
            </a:pPr>
            <a:r>
              <a:rPr lang="en-US" sz="2200" dirty="0">
                <a:solidFill>
                  <a:srgbClr val="D9E1FF"/>
                </a:solidFill>
                <a:latin typeface="Kanit" pitchFamily="34" charset="0"/>
                <a:ea typeface="Kanit" pitchFamily="34" charset="-122"/>
                <a:cs typeface="Kanit" pitchFamily="34" charset="-120"/>
              </a:rPr>
              <a:t>Visualisation des Données</a:t>
            </a:r>
            <a:endParaRPr lang="en-US" sz="2200" dirty="0"/>
          </a:p>
        </p:txBody>
      </p:sp>
      <p:sp>
        <p:nvSpPr>
          <p:cNvPr id="9" name="Rectangle 8">
            <a:extLst>
              <a:ext uri="{FF2B5EF4-FFF2-40B4-BE49-F238E27FC236}">
                <a16:creationId xmlns:a16="http://schemas.microsoft.com/office/drawing/2014/main" id="{AD1BFF60-86E8-A501-4FFA-A5594E60A655}"/>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arn(inVertical)">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arn(inVertical)">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2" grpId="0" animBg="1"/>
      <p:bldP spid="4"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4" name="Shape 1">
            <a:extLst>
              <a:ext uri="{FF2B5EF4-FFF2-40B4-BE49-F238E27FC236}">
                <a16:creationId xmlns:a16="http://schemas.microsoft.com/office/drawing/2014/main" id="{F8E56428-0123-886F-5098-07A92AEA8784}"/>
              </a:ext>
            </a:extLst>
          </p:cNvPr>
          <p:cNvSpPr/>
          <p:nvPr/>
        </p:nvSpPr>
        <p:spPr>
          <a:xfrm>
            <a:off x="8053017" y="5201798"/>
            <a:ext cx="2962063" cy="1709142"/>
          </a:xfrm>
          <a:prstGeom prst="roundRect">
            <a:avLst>
              <a:gd name="adj" fmla="val 2101"/>
            </a:avLst>
          </a:prstGeom>
          <a:solidFill>
            <a:srgbClr val="2F2B54"/>
          </a:solidFill>
          <a:ln/>
        </p:spPr>
        <p:txBody>
          <a:bodyPr/>
          <a:lstStyle/>
          <a:p>
            <a:endParaRPr lang="fr-FR"/>
          </a:p>
        </p:txBody>
      </p:sp>
      <p:sp>
        <p:nvSpPr>
          <p:cNvPr id="23" name="Shape 1">
            <a:extLst>
              <a:ext uri="{FF2B5EF4-FFF2-40B4-BE49-F238E27FC236}">
                <a16:creationId xmlns:a16="http://schemas.microsoft.com/office/drawing/2014/main" id="{C13B3F6E-945C-894C-4067-72C47578ACCB}"/>
              </a:ext>
            </a:extLst>
          </p:cNvPr>
          <p:cNvSpPr/>
          <p:nvPr/>
        </p:nvSpPr>
        <p:spPr>
          <a:xfrm>
            <a:off x="3615081" y="5232857"/>
            <a:ext cx="2962063" cy="1709142"/>
          </a:xfrm>
          <a:prstGeom prst="roundRect">
            <a:avLst>
              <a:gd name="adj" fmla="val 2101"/>
            </a:avLst>
          </a:prstGeom>
          <a:solidFill>
            <a:srgbClr val="2F2B54"/>
          </a:solidFill>
          <a:ln/>
        </p:spPr>
        <p:txBody>
          <a:bodyPr/>
          <a:lstStyle/>
          <a:p>
            <a:endParaRPr lang="fr-FR" dirty="0"/>
          </a:p>
        </p:txBody>
      </p:sp>
      <p:sp>
        <p:nvSpPr>
          <p:cNvPr id="22" name="Shape 1">
            <a:extLst>
              <a:ext uri="{FF2B5EF4-FFF2-40B4-BE49-F238E27FC236}">
                <a16:creationId xmlns:a16="http://schemas.microsoft.com/office/drawing/2014/main" id="{D43E9028-0A7E-FB86-6503-9994A1037CD4}"/>
              </a:ext>
            </a:extLst>
          </p:cNvPr>
          <p:cNvSpPr/>
          <p:nvPr/>
        </p:nvSpPr>
        <p:spPr>
          <a:xfrm>
            <a:off x="10771112" y="2709266"/>
            <a:ext cx="1963925" cy="1709142"/>
          </a:xfrm>
          <a:prstGeom prst="roundRect">
            <a:avLst>
              <a:gd name="adj" fmla="val 2101"/>
            </a:avLst>
          </a:prstGeom>
          <a:solidFill>
            <a:srgbClr val="2F2B54"/>
          </a:solidFill>
          <a:ln/>
        </p:spPr>
        <p:txBody>
          <a:bodyPr/>
          <a:lstStyle/>
          <a:p>
            <a:endParaRPr lang="fr-FR" dirty="0"/>
          </a:p>
        </p:txBody>
      </p:sp>
      <p:sp>
        <p:nvSpPr>
          <p:cNvPr id="21" name="Shape 1">
            <a:extLst>
              <a:ext uri="{FF2B5EF4-FFF2-40B4-BE49-F238E27FC236}">
                <a16:creationId xmlns:a16="http://schemas.microsoft.com/office/drawing/2014/main" id="{1B023A69-3912-B5BD-A6C8-7419847A4A64}"/>
              </a:ext>
            </a:extLst>
          </p:cNvPr>
          <p:cNvSpPr/>
          <p:nvPr/>
        </p:nvSpPr>
        <p:spPr>
          <a:xfrm>
            <a:off x="6333118" y="2743498"/>
            <a:ext cx="1963925" cy="1709142"/>
          </a:xfrm>
          <a:prstGeom prst="roundRect">
            <a:avLst>
              <a:gd name="adj" fmla="val 2101"/>
            </a:avLst>
          </a:prstGeom>
          <a:solidFill>
            <a:srgbClr val="2F2B54"/>
          </a:solidFill>
          <a:ln/>
        </p:spPr>
        <p:txBody>
          <a:bodyPr/>
          <a:lstStyle/>
          <a:p>
            <a:endParaRPr lang="fr-FR"/>
          </a:p>
        </p:txBody>
      </p:sp>
      <p:sp>
        <p:nvSpPr>
          <p:cNvPr id="20" name="Shape 1">
            <a:extLst>
              <a:ext uri="{FF2B5EF4-FFF2-40B4-BE49-F238E27FC236}">
                <a16:creationId xmlns:a16="http://schemas.microsoft.com/office/drawing/2014/main" id="{DDEEBAAB-C08A-BAA1-C5C5-5A367CEDA6B0}"/>
              </a:ext>
            </a:extLst>
          </p:cNvPr>
          <p:cNvSpPr/>
          <p:nvPr/>
        </p:nvSpPr>
        <p:spPr>
          <a:xfrm>
            <a:off x="1827490" y="2726710"/>
            <a:ext cx="1963925" cy="1709142"/>
          </a:xfrm>
          <a:prstGeom prst="roundRect">
            <a:avLst>
              <a:gd name="adj" fmla="val 2101"/>
            </a:avLst>
          </a:prstGeom>
          <a:solidFill>
            <a:srgbClr val="2F2B54"/>
          </a:solidFill>
          <a:ln/>
        </p:spPr>
        <p:txBody>
          <a:bodyPr/>
          <a:lstStyle/>
          <a:p>
            <a:endParaRPr lang="fr-FR"/>
          </a:p>
        </p:txBody>
      </p:sp>
      <p:sp>
        <p:nvSpPr>
          <p:cNvPr id="2" name="Text 0"/>
          <p:cNvSpPr/>
          <p:nvPr/>
        </p:nvSpPr>
        <p:spPr>
          <a:xfrm>
            <a:off x="837604" y="832826"/>
            <a:ext cx="12954952" cy="1408033"/>
          </a:xfrm>
          <a:prstGeom prst="rect">
            <a:avLst/>
          </a:prstGeom>
          <a:noFill/>
          <a:ln/>
        </p:spPr>
        <p:txBody>
          <a:bodyPr wrap="squar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Tableau de Bord Power BI pour la Visualisation des Données</a:t>
            </a:r>
            <a:endParaRPr lang="en-US" sz="4400" dirty="0"/>
          </a:p>
        </p:txBody>
      </p:sp>
      <p:pic>
        <p:nvPicPr>
          <p:cNvPr id="3" name="Image 0" descr="preencoded.png"/>
          <p:cNvPicPr>
            <a:picLocks noChangeAspect="1"/>
          </p:cNvPicPr>
          <p:nvPr/>
        </p:nvPicPr>
        <p:blipFill>
          <a:blip r:embed="rId3"/>
          <a:stretch>
            <a:fillRect/>
          </a:stretch>
        </p:blipFill>
        <p:spPr>
          <a:xfrm>
            <a:off x="2577941" y="2982873"/>
            <a:ext cx="598408" cy="598408"/>
          </a:xfrm>
          <a:prstGeom prst="rect">
            <a:avLst/>
          </a:prstGeom>
        </p:spPr>
      </p:pic>
      <p:sp>
        <p:nvSpPr>
          <p:cNvPr id="4" name="Text 1"/>
          <p:cNvSpPr/>
          <p:nvPr/>
        </p:nvSpPr>
        <p:spPr>
          <a:xfrm>
            <a:off x="1469112" y="3820597"/>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Clients</a:t>
            </a:r>
            <a:endParaRPr lang="en-US" sz="2200" dirty="0"/>
          </a:p>
        </p:txBody>
      </p:sp>
      <p:sp>
        <p:nvSpPr>
          <p:cNvPr id="5" name="Text 2"/>
          <p:cNvSpPr/>
          <p:nvPr/>
        </p:nvSpPr>
        <p:spPr>
          <a:xfrm>
            <a:off x="837724" y="4316135"/>
            <a:ext cx="4078962" cy="383024"/>
          </a:xfrm>
          <a:prstGeom prst="rect">
            <a:avLst/>
          </a:prstGeom>
          <a:noFill/>
          <a:ln/>
        </p:spPr>
        <p:txBody>
          <a:bodyPr wrap="none" lIns="0" tIns="0" rIns="0" bIns="0" rtlCol="0" anchor="t"/>
          <a:lstStyle/>
          <a:p>
            <a:pPr marL="0" indent="0" algn="ctr">
              <a:lnSpc>
                <a:spcPts val="3000"/>
              </a:lnSpc>
              <a:buNone/>
            </a:pPr>
            <a:endParaRPr lang="en-US" sz="1850" dirty="0"/>
          </a:p>
        </p:txBody>
      </p:sp>
      <p:pic>
        <p:nvPicPr>
          <p:cNvPr id="6" name="Image 1" descr="preencoded.png"/>
          <p:cNvPicPr>
            <a:picLocks noChangeAspect="1"/>
          </p:cNvPicPr>
          <p:nvPr/>
        </p:nvPicPr>
        <p:blipFill>
          <a:blip r:embed="rId4"/>
          <a:stretch>
            <a:fillRect/>
          </a:stretch>
        </p:blipFill>
        <p:spPr>
          <a:xfrm>
            <a:off x="7015877" y="2982873"/>
            <a:ext cx="598408" cy="598408"/>
          </a:xfrm>
          <a:prstGeom prst="rect">
            <a:avLst/>
          </a:prstGeom>
        </p:spPr>
      </p:pic>
      <p:sp>
        <p:nvSpPr>
          <p:cNvPr id="7" name="Text 3"/>
          <p:cNvSpPr/>
          <p:nvPr/>
        </p:nvSpPr>
        <p:spPr>
          <a:xfrm>
            <a:off x="5907048" y="3820597"/>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Charges</a:t>
            </a:r>
            <a:endParaRPr lang="en-US" sz="2200" dirty="0"/>
          </a:p>
        </p:txBody>
      </p:sp>
      <p:sp>
        <p:nvSpPr>
          <p:cNvPr id="8" name="Text 4"/>
          <p:cNvSpPr/>
          <p:nvPr/>
        </p:nvSpPr>
        <p:spPr>
          <a:xfrm>
            <a:off x="5275659" y="4316135"/>
            <a:ext cx="4078962" cy="383024"/>
          </a:xfrm>
          <a:prstGeom prst="rect">
            <a:avLst/>
          </a:prstGeom>
          <a:noFill/>
          <a:ln/>
        </p:spPr>
        <p:txBody>
          <a:bodyPr wrap="none" lIns="0" tIns="0" rIns="0" bIns="0" rtlCol="0" anchor="t"/>
          <a:lstStyle/>
          <a:p>
            <a:pPr marL="0" indent="0" algn="ctr">
              <a:lnSpc>
                <a:spcPts val="3000"/>
              </a:lnSpc>
              <a:buNone/>
            </a:pPr>
            <a:endParaRPr lang="en-US" sz="1850" dirty="0"/>
          </a:p>
        </p:txBody>
      </p:sp>
      <p:pic>
        <p:nvPicPr>
          <p:cNvPr id="9" name="Image 2" descr="preencoded.png"/>
          <p:cNvPicPr>
            <a:picLocks noChangeAspect="1"/>
          </p:cNvPicPr>
          <p:nvPr/>
        </p:nvPicPr>
        <p:blipFill>
          <a:blip r:embed="rId5"/>
          <a:stretch>
            <a:fillRect/>
          </a:stretch>
        </p:blipFill>
        <p:spPr>
          <a:xfrm>
            <a:off x="11453932" y="2982873"/>
            <a:ext cx="598408" cy="598408"/>
          </a:xfrm>
          <a:prstGeom prst="rect">
            <a:avLst/>
          </a:prstGeom>
        </p:spPr>
      </p:pic>
      <p:sp>
        <p:nvSpPr>
          <p:cNvPr id="10" name="Text 5"/>
          <p:cNvSpPr/>
          <p:nvPr/>
        </p:nvSpPr>
        <p:spPr>
          <a:xfrm>
            <a:off x="10344983" y="3820597"/>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Revenus</a:t>
            </a:r>
            <a:endParaRPr lang="en-US" sz="2200" dirty="0"/>
          </a:p>
        </p:txBody>
      </p:sp>
      <p:sp>
        <p:nvSpPr>
          <p:cNvPr id="11" name="Text 6"/>
          <p:cNvSpPr/>
          <p:nvPr/>
        </p:nvSpPr>
        <p:spPr>
          <a:xfrm>
            <a:off x="9713595" y="4316135"/>
            <a:ext cx="4079081" cy="383024"/>
          </a:xfrm>
          <a:prstGeom prst="rect">
            <a:avLst/>
          </a:prstGeom>
          <a:noFill/>
          <a:ln/>
        </p:spPr>
        <p:txBody>
          <a:bodyPr wrap="none" lIns="0" tIns="0" rIns="0" bIns="0" rtlCol="0" anchor="t"/>
          <a:lstStyle/>
          <a:p>
            <a:pPr marL="0" indent="0" algn="ctr">
              <a:lnSpc>
                <a:spcPts val="3000"/>
              </a:lnSpc>
              <a:buNone/>
            </a:pPr>
            <a:endParaRPr lang="en-US" sz="1850" dirty="0"/>
          </a:p>
        </p:txBody>
      </p:sp>
      <p:pic>
        <p:nvPicPr>
          <p:cNvPr id="12" name="Image 3" descr="preencoded.png"/>
          <p:cNvPicPr>
            <a:picLocks noChangeAspect="1"/>
          </p:cNvPicPr>
          <p:nvPr/>
        </p:nvPicPr>
        <p:blipFill>
          <a:blip r:embed="rId6"/>
          <a:stretch>
            <a:fillRect/>
          </a:stretch>
        </p:blipFill>
        <p:spPr>
          <a:xfrm>
            <a:off x="4796909" y="5417225"/>
            <a:ext cx="598408" cy="598408"/>
          </a:xfrm>
          <a:prstGeom prst="rect">
            <a:avLst/>
          </a:prstGeom>
        </p:spPr>
      </p:pic>
      <p:sp>
        <p:nvSpPr>
          <p:cNvPr id="13" name="Text 7"/>
          <p:cNvSpPr/>
          <p:nvPr/>
        </p:nvSpPr>
        <p:spPr>
          <a:xfrm>
            <a:off x="3688080" y="6254948"/>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Résultats Mensuels</a:t>
            </a:r>
            <a:endParaRPr lang="en-US" sz="2200" dirty="0"/>
          </a:p>
        </p:txBody>
      </p:sp>
      <p:sp>
        <p:nvSpPr>
          <p:cNvPr id="14" name="Text 8"/>
          <p:cNvSpPr/>
          <p:nvPr/>
        </p:nvSpPr>
        <p:spPr>
          <a:xfrm>
            <a:off x="3056692" y="6750487"/>
            <a:ext cx="4078962" cy="383024"/>
          </a:xfrm>
          <a:prstGeom prst="rect">
            <a:avLst/>
          </a:prstGeom>
          <a:noFill/>
          <a:ln/>
        </p:spPr>
        <p:txBody>
          <a:bodyPr wrap="none" lIns="0" tIns="0" rIns="0" bIns="0" rtlCol="0" anchor="t"/>
          <a:lstStyle/>
          <a:p>
            <a:pPr marL="0" indent="0" algn="ctr">
              <a:lnSpc>
                <a:spcPts val="3000"/>
              </a:lnSpc>
              <a:buNone/>
            </a:pPr>
            <a:endParaRPr lang="en-US" sz="1850" dirty="0"/>
          </a:p>
        </p:txBody>
      </p:sp>
      <p:pic>
        <p:nvPicPr>
          <p:cNvPr id="15" name="Image 4" descr="preencoded.png"/>
          <p:cNvPicPr>
            <a:picLocks noChangeAspect="1"/>
          </p:cNvPicPr>
          <p:nvPr/>
        </p:nvPicPr>
        <p:blipFill>
          <a:blip r:embed="rId6"/>
          <a:stretch>
            <a:fillRect/>
          </a:stretch>
        </p:blipFill>
        <p:spPr>
          <a:xfrm>
            <a:off x="9234845" y="5417225"/>
            <a:ext cx="598408" cy="598408"/>
          </a:xfrm>
          <a:prstGeom prst="rect">
            <a:avLst/>
          </a:prstGeom>
        </p:spPr>
      </p:pic>
      <p:sp>
        <p:nvSpPr>
          <p:cNvPr id="16" name="Text 9"/>
          <p:cNvSpPr/>
          <p:nvPr/>
        </p:nvSpPr>
        <p:spPr>
          <a:xfrm>
            <a:off x="8126016" y="6254948"/>
            <a:ext cx="2816185" cy="351949"/>
          </a:xfrm>
          <a:prstGeom prst="rect">
            <a:avLst/>
          </a:prstGeom>
          <a:noFill/>
          <a:ln/>
        </p:spPr>
        <p:txBody>
          <a:bodyPr wrap="none" lIns="0" tIns="0" rIns="0" bIns="0" rtlCol="0" anchor="t"/>
          <a:lstStyle/>
          <a:p>
            <a:pPr marL="0" indent="0" algn="ctr">
              <a:lnSpc>
                <a:spcPts val="2750"/>
              </a:lnSpc>
              <a:buNone/>
            </a:pPr>
            <a:r>
              <a:rPr lang="en-US" sz="2200" dirty="0">
                <a:solidFill>
                  <a:srgbClr val="D9E1FF"/>
                </a:solidFill>
                <a:latin typeface="Kanit" pitchFamily="34" charset="0"/>
                <a:ea typeface="Kanit" pitchFamily="34" charset="-122"/>
                <a:cs typeface="Kanit" pitchFamily="34" charset="-120"/>
              </a:rPr>
              <a:t>Résultats Annuels</a:t>
            </a:r>
            <a:endParaRPr lang="en-US" sz="2200" dirty="0"/>
          </a:p>
        </p:txBody>
      </p:sp>
      <p:sp>
        <p:nvSpPr>
          <p:cNvPr id="17" name="Text 10"/>
          <p:cNvSpPr/>
          <p:nvPr/>
        </p:nvSpPr>
        <p:spPr>
          <a:xfrm>
            <a:off x="7494627" y="6750487"/>
            <a:ext cx="4078962" cy="383024"/>
          </a:xfrm>
          <a:prstGeom prst="rect">
            <a:avLst/>
          </a:prstGeom>
          <a:noFill/>
          <a:ln/>
        </p:spPr>
        <p:txBody>
          <a:bodyPr wrap="none" lIns="0" tIns="0" rIns="0" bIns="0" rtlCol="0" anchor="t"/>
          <a:lstStyle/>
          <a:p>
            <a:pPr marL="0" indent="0" algn="ctr">
              <a:lnSpc>
                <a:spcPts val="3000"/>
              </a:lnSpc>
              <a:buNone/>
            </a:pPr>
            <a:endParaRPr lang="en-US" sz="1850" dirty="0"/>
          </a:p>
        </p:txBody>
      </p:sp>
      <p:sp>
        <p:nvSpPr>
          <p:cNvPr id="18" name="Rectangle 17">
            <a:extLst>
              <a:ext uri="{FF2B5EF4-FFF2-40B4-BE49-F238E27FC236}">
                <a16:creationId xmlns:a16="http://schemas.microsoft.com/office/drawing/2014/main" id="{0C19D026-6148-783D-67FA-0BD3BC47AD40}"/>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arn(inVertical)">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1000"/>
                                        <p:tgtEl>
                                          <p:spTgt spid="9"/>
                                        </p:tgtEl>
                                      </p:cBhvr>
                                    </p:animEffect>
                                    <p:anim calcmode="lin" valueType="num">
                                      <p:cBhvr>
                                        <p:cTn id="54" dur="1000" fill="hold"/>
                                        <p:tgtEl>
                                          <p:spTgt spid="9"/>
                                        </p:tgtEl>
                                        <p:attrNameLst>
                                          <p:attrName>ppt_x</p:attrName>
                                        </p:attrNameLst>
                                      </p:cBhvr>
                                      <p:tavLst>
                                        <p:tav tm="0">
                                          <p:val>
                                            <p:strVal val="#ppt_x"/>
                                          </p:val>
                                        </p:tav>
                                        <p:tav tm="100000">
                                          <p:val>
                                            <p:strVal val="#ppt_x"/>
                                          </p:val>
                                        </p:tav>
                                      </p:tavLst>
                                    </p:anim>
                                    <p:anim calcmode="lin" valueType="num">
                                      <p:cBhvr>
                                        <p:cTn id="5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10">
                                            <p:txEl>
                                              <p:pRg st="0" end="0"/>
                                            </p:txEl>
                                          </p:spTgt>
                                        </p:tgtEl>
                                        <p:attrNameLst>
                                          <p:attrName>style.visibility</p:attrName>
                                        </p:attrNameLst>
                                      </p:cBhvr>
                                      <p:to>
                                        <p:strVal val="visible"/>
                                      </p:to>
                                    </p:set>
                                    <p:animEffect transition="in" filter="barn(inVertical)">
                                      <p:cBhvr>
                                        <p:cTn id="60" dur="500"/>
                                        <p:tgtEl>
                                          <p:spTgt spid="10">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1000"/>
                                        <p:tgtEl>
                                          <p:spTgt spid="12"/>
                                        </p:tgtEl>
                                      </p:cBhvr>
                                    </p:animEffect>
                                    <p:anim calcmode="lin" valueType="num">
                                      <p:cBhvr>
                                        <p:cTn id="71" dur="1000" fill="hold"/>
                                        <p:tgtEl>
                                          <p:spTgt spid="12"/>
                                        </p:tgtEl>
                                        <p:attrNameLst>
                                          <p:attrName>ppt_x</p:attrName>
                                        </p:attrNameLst>
                                      </p:cBhvr>
                                      <p:tavLst>
                                        <p:tav tm="0">
                                          <p:val>
                                            <p:strVal val="#ppt_x"/>
                                          </p:val>
                                        </p:tav>
                                        <p:tav tm="100000">
                                          <p:val>
                                            <p:strVal val="#ppt_x"/>
                                          </p:val>
                                        </p:tav>
                                      </p:tavLst>
                                    </p:anim>
                                    <p:anim calcmode="lin" valueType="num">
                                      <p:cBhvr>
                                        <p:cTn id="7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barn(inVertical)">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fade">
                                      <p:cBhvr>
                                        <p:cTn id="87" dur="1000"/>
                                        <p:tgtEl>
                                          <p:spTgt spid="15"/>
                                        </p:tgtEl>
                                      </p:cBhvr>
                                    </p:animEffect>
                                    <p:anim calcmode="lin" valueType="num">
                                      <p:cBhvr>
                                        <p:cTn id="88" dur="1000" fill="hold"/>
                                        <p:tgtEl>
                                          <p:spTgt spid="15"/>
                                        </p:tgtEl>
                                        <p:attrNameLst>
                                          <p:attrName>ppt_x</p:attrName>
                                        </p:attrNameLst>
                                      </p:cBhvr>
                                      <p:tavLst>
                                        <p:tav tm="0">
                                          <p:val>
                                            <p:strVal val="#ppt_x"/>
                                          </p:val>
                                        </p:tav>
                                        <p:tav tm="100000">
                                          <p:val>
                                            <p:strVal val="#ppt_x"/>
                                          </p:val>
                                        </p:tav>
                                      </p:tavLst>
                                    </p:anim>
                                    <p:anim calcmode="lin" valueType="num">
                                      <p:cBhvr>
                                        <p:cTn id="8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16" presetClass="entr" presetSubtype="21" fill="hold" nodeType="clickEffect">
                                  <p:stCondLst>
                                    <p:cond delay="0"/>
                                  </p:stCondLst>
                                  <p:childTnLst>
                                    <p:set>
                                      <p:cBhvr>
                                        <p:cTn id="93" dur="1" fill="hold">
                                          <p:stCondLst>
                                            <p:cond delay="0"/>
                                          </p:stCondLst>
                                        </p:cTn>
                                        <p:tgtEl>
                                          <p:spTgt spid="16">
                                            <p:txEl>
                                              <p:pRg st="0" end="0"/>
                                            </p:txEl>
                                          </p:spTgt>
                                        </p:tgtEl>
                                        <p:attrNameLst>
                                          <p:attrName>style.visibility</p:attrName>
                                        </p:attrNameLst>
                                      </p:cBhvr>
                                      <p:to>
                                        <p:strVal val="visible"/>
                                      </p:to>
                                    </p:set>
                                    <p:animEffect transition="in" filter="barn(inVertical)">
                                      <p:cBhvr>
                                        <p:cTn id="94"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22" grpId="0" animBg="1"/>
      <p:bldP spid="21" grpId="0" animBg="1"/>
      <p:bldP spid="20" grpId="0" animBg="1"/>
      <p:bldP spid="2" grpId="0" animBg="1"/>
      <p:bldP spid="4" grpId="0" animBg="1"/>
      <p:bldP spid="7"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242095" y="928687"/>
            <a:ext cx="5632490"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Prédiction Financière</a:t>
            </a:r>
            <a:endParaRPr lang="en-US" sz="4400" dirty="0"/>
          </a:p>
        </p:txBody>
      </p:sp>
      <p:sp>
        <p:nvSpPr>
          <p:cNvPr id="4" name="Text 1"/>
          <p:cNvSpPr/>
          <p:nvPr/>
        </p:nvSpPr>
        <p:spPr>
          <a:xfrm>
            <a:off x="6324124" y="2815233"/>
            <a:ext cx="3554730" cy="789861"/>
          </a:xfrm>
          <a:prstGeom prst="rect">
            <a:avLst/>
          </a:prstGeom>
          <a:noFill/>
          <a:ln/>
        </p:spPr>
        <p:txBody>
          <a:bodyPr wrap="none" lIns="0" tIns="0" rIns="0" bIns="0" rtlCol="0" anchor="t"/>
          <a:lstStyle/>
          <a:p>
            <a:pPr marL="0" indent="0" algn="ctr">
              <a:lnSpc>
                <a:spcPts val="6200"/>
              </a:lnSpc>
              <a:buNone/>
            </a:pPr>
            <a:r>
              <a:rPr lang="en-US" sz="6200" dirty="0">
                <a:solidFill>
                  <a:srgbClr val="D9E1FF"/>
                </a:solidFill>
                <a:latin typeface="Kanit" pitchFamily="34" charset="0"/>
                <a:ea typeface="Kanit" pitchFamily="34" charset="-122"/>
                <a:cs typeface="Kanit" pitchFamily="34" charset="-120"/>
              </a:rPr>
              <a:t>1</a:t>
            </a:r>
            <a:endParaRPr lang="en-US" sz="6200" dirty="0"/>
          </a:p>
        </p:txBody>
      </p:sp>
      <p:sp>
        <p:nvSpPr>
          <p:cNvPr id="5" name="Text 2"/>
          <p:cNvSpPr/>
          <p:nvPr/>
        </p:nvSpPr>
        <p:spPr>
          <a:xfrm>
            <a:off x="6324124" y="3904178"/>
            <a:ext cx="3554730" cy="383024"/>
          </a:xfrm>
          <a:prstGeom prst="rect">
            <a:avLst/>
          </a:prstGeom>
          <a:noFill/>
          <a:ln/>
        </p:spPr>
        <p:txBody>
          <a:bodyPr wrap="none" lIns="0" tIns="0" rIns="0" bIns="0" rtlCol="0" anchor="t"/>
          <a:lstStyle/>
          <a:p>
            <a:pPr marL="0" indent="0" algn="ct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Modèles de machine learning.</a:t>
            </a:r>
            <a:endParaRPr lang="en-US" sz="1850" dirty="0"/>
          </a:p>
        </p:txBody>
      </p:sp>
      <p:sp>
        <p:nvSpPr>
          <p:cNvPr id="6" name="Text 3"/>
          <p:cNvSpPr/>
          <p:nvPr/>
        </p:nvSpPr>
        <p:spPr>
          <a:xfrm>
            <a:off x="10237827" y="2815233"/>
            <a:ext cx="3554849" cy="789861"/>
          </a:xfrm>
          <a:prstGeom prst="rect">
            <a:avLst/>
          </a:prstGeom>
          <a:noFill/>
          <a:ln/>
        </p:spPr>
        <p:txBody>
          <a:bodyPr wrap="none" lIns="0" tIns="0" rIns="0" bIns="0" rtlCol="0" anchor="t"/>
          <a:lstStyle/>
          <a:p>
            <a:pPr marL="0" indent="0" algn="ctr">
              <a:lnSpc>
                <a:spcPts val="6200"/>
              </a:lnSpc>
              <a:buNone/>
            </a:pPr>
            <a:r>
              <a:rPr lang="en-US" sz="6200" dirty="0">
                <a:solidFill>
                  <a:srgbClr val="D9E1FF"/>
                </a:solidFill>
                <a:latin typeface="Kanit" pitchFamily="34" charset="0"/>
                <a:ea typeface="Kanit" pitchFamily="34" charset="-122"/>
                <a:cs typeface="Kanit" pitchFamily="34" charset="-120"/>
              </a:rPr>
              <a:t>Python</a:t>
            </a:r>
            <a:endParaRPr lang="en-US" sz="6200" dirty="0"/>
          </a:p>
        </p:txBody>
      </p:sp>
      <p:sp>
        <p:nvSpPr>
          <p:cNvPr id="7" name="Text 4"/>
          <p:cNvSpPr/>
          <p:nvPr/>
        </p:nvSpPr>
        <p:spPr>
          <a:xfrm>
            <a:off x="10237827" y="3904178"/>
            <a:ext cx="3554849" cy="383024"/>
          </a:xfrm>
          <a:prstGeom prst="rect">
            <a:avLst/>
          </a:prstGeom>
          <a:noFill/>
          <a:ln/>
        </p:spPr>
        <p:txBody>
          <a:bodyPr wrap="none" lIns="0" tIns="0" rIns="0" bIns="0" rtlCol="0" anchor="t"/>
          <a:lstStyle/>
          <a:p>
            <a:pPr marL="0" indent="0" algn="ct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Langage de programmation.</a:t>
            </a:r>
            <a:endParaRPr lang="en-US" sz="1850" dirty="0"/>
          </a:p>
        </p:txBody>
      </p:sp>
      <p:sp>
        <p:nvSpPr>
          <p:cNvPr id="8" name="Text 5"/>
          <p:cNvSpPr/>
          <p:nvPr/>
        </p:nvSpPr>
        <p:spPr>
          <a:xfrm>
            <a:off x="8280916" y="5124926"/>
            <a:ext cx="3554849" cy="789861"/>
          </a:xfrm>
          <a:prstGeom prst="rect">
            <a:avLst/>
          </a:prstGeom>
          <a:noFill/>
          <a:ln/>
        </p:spPr>
        <p:txBody>
          <a:bodyPr wrap="none" lIns="0" tIns="0" rIns="0" bIns="0" rtlCol="0" anchor="t"/>
          <a:lstStyle/>
          <a:p>
            <a:pPr marL="0" indent="0" algn="ctr">
              <a:lnSpc>
                <a:spcPts val="6200"/>
              </a:lnSpc>
              <a:buNone/>
            </a:pPr>
            <a:r>
              <a:rPr lang="en-US" sz="6200" dirty="0">
                <a:solidFill>
                  <a:srgbClr val="D9E1FF"/>
                </a:solidFill>
                <a:latin typeface="Kanit" pitchFamily="34" charset="0"/>
                <a:ea typeface="Kanit" pitchFamily="34" charset="-122"/>
                <a:cs typeface="Kanit" pitchFamily="34" charset="-120"/>
              </a:rPr>
              <a:t>TensorFlow</a:t>
            </a:r>
            <a:endParaRPr lang="en-US" sz="6200" dirty="0"/>
          </a:p>
        </p:txBody>
      </p:sp>
      <p:sp>
        <p:nvSpPr>
          <p:cNvPr id="9" name="Text 6"/>
          <p:cNvSpPr/>
          <p:nvPr/>
        </p:nvSpPr>
        <p:spPr>
          <a:xfrm>
            <a:off x="8280916" y="6213872"/>
            <a:ext cx="3554849" cy="383024"/>
          </a:xfrm>
          <a:prstGeom prst="rect">
            <a:avLst/>
          </a:prstGeom>
          <a:noFill/>
          <a:ln/>
        </p:spPr>
        <p:txBody>
          <a:bodyPr wrap="none" lIns="0" tIns="0" rIns="0" bIns="0" rtlCol="0" anchor="t"/>
          <a:lstStyle/>
          <a:p>
            <a:pPr marL="0" indent="0" algn="ctr">
              <a:lnSpc>
                <a:spcPts val="3000"/>
              </a:lnSpc>
              <a:buNone/>
            </a:pPr>
            <a:r>
              <a:rPr lang="en-US" sz="1850" dirty="0">
                <a:solidFill>
                  <a:srgbClr val="D9E1FF"/>
                </a:solidFill>
                <a:latin typeface="Martel Sans Light" pitchFamily="34" charset="0"/>
                <a:ea typeface="Martel Sans Light" pitchFamily="34" charset="-122"/>
                <a:cs typeface="Martel Sans Light" pitchFamily="34" charset="-120"/>
              </a:rPr>
              <a:t>Bibliothèque utilisée.</a:t>
            </a:r>
            <a:endParaRPr lang="en-US" sz="1850" dirty="0"/>
          </a:p>
        </p:txBody>
      </p:sp>
      <p:sp>
        <p:nvSpPr>
          <p:cNvPr id="10" name="Rectangle 9">
            <a:extLst>
              <a:ext uri="{FF2B5EF4-FFF2-40B4-BE49-F238E27FC236}">
                <a16:creationId xmlns:a16="http://schemas.microsoft.com/office/drawing/2014/main" id="{017D171A-7E77-9102-EBB7-8968120A647A}"/>
              </a:ext>
            </a:extLst>
          </p:cNvPr>
          <p:cNvSpPr/>
          <p:nvPr/>
        </p:nvSpPr>
        <p:spPr>
          <a:xfrm>
            <a:off x="12655253" y="7654175"/>
            <a:ext cx="1951463"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anim calcmode="lin" valueType="num">
                                      <p:cBhvr additive="base">
                                        <p:cTn id="4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0C35">
              <a:alpha val="80000"/>
            </a:srgbClr>
          </a:solidFill>
          <a:ln/>
        </p:spPr>
        <p:txBody>
          <a:bodyPr/>
          <a:lstStyle/>
          <a:p>
            <a:endParaRPr lang="fr-FR" dirty="0"/>
          </a:p>
        </p:txBody>
      </p:sp>
      <p:sp>
        <p:nvSpPr>
          <p:cNvPr id="4" name="Text 1"/>
          <p:cNvSpPr/>
          <p:nvPr/>
        </p:nvSpPr>
        <p:spPr>
          <a:xfrm>
            <a:off x="4242316" y="1178380"/>
            <a:ext cx="6142553"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Chatbots d'Assistance IA</a:t>
            </a:r>
            <a:endParaRPr lang="en-US" sz="4400" dirty="0"/>
          </a:p>
        </p:txBody>
      </p:sp>
      <p:sp>
        <p:nvSpPr>
          <p:cNvPr id="5" name="Text 2"/>
          <p:cNvSpPr/>
          <p:nvPr/>
        </p:nvSpPr>
        <p:spPr>
          <a:xfrm>
            <a:off x="2540020" y="3585090"/>
            <a:ext cx="3404592" cy="1027230"/>
          </a:xfrm>
          <a:prstGeom prst="rect">
            <a:avLst/>
          </a:prstGeom>
          <a:noFill/>
          <a:ln/>
        </p:spPr>
        <p:txBody>
          <a:bodyPr wrap="none" lIns="0" tIns="0" rIns="0" bIns="0" rtlCol="0" anchor="t"/>
          <a:lstStyle/>
          <a:p>
            <a:pPr marL="0" indent="0" algn="ctr">
              <a:lnSpc>
                <a:spcPts val="2750"/>
              </a:lnSpc>
              <a:buNone/>
            </a:pPr>
            <a:r>
              <a:rPr lang="en-US" sz="3500" b="1" i="1" dirty="0">
                <a:solidFill>
                  <a:srgbClr val="FF7C80"/>
                </a:solidFill>
                <a:latin typeface="Kanit" pitchFamily="34" charset="0"/>
                <a:ea typeface="Kanit" pitchFamily="34" charset="-122"/>
                <a:cs typeface="Kanit" pitchFamily="34" charset="-120"/>
              </a:rPr>
              <a:t>SMARTY</a:t>
            </a:r>
            <a:r>
              <a:rPr lang="en-US" sz="2200" dirty="0">
                <a:solidFill>
                  <a:srgbClr val="FFFFFF"/>
                </a:solidFill>
                <a:latin typeface="Kanit" pitchFamily="34" charset="0"/>
                <a:ea typeface="Kanit" pitchFamily="34" charset="-122"/>
                <a:cs typeface="Kanit" pitchFamily="34" charset="-120"/>
              </a:rPr>
              <a:t> </a:t>
            </a:r>
          </a:p>
          <a:p>
            <a:pPr marL="0" indent="0" algn="ctr">
              <a:lnSpc>
                <a:spcPts val="2750"/>
              </a:lnSpc>
              <a:buNone/>
            </a:pPr>
            <a:r>
              <a:rPr lang="en-US" sz="2200" dirty="0">
                <a:solidFill>
                  <a:srgbClr val="FFFFFF"/>
                </a:solidFill>
                <a:latin typeface="Kanit" pitchFamily="34" charset="0"/>
                <a:ea typeface="Kanit" pitchFamily="34" charset="-122"/>
                <a:cs typeface="Kanit" pitchFamily="34" charset="-120"/>
              </a:rPr>
              <a:t>  Support Technique</a:t>
            </a:r>
            <a:endParaRPr lang="en-US" sz="2200" dirty="0"/>
          </a:p>
        </p:txBody>
      </p:sp>
      <p:sp>
        <p:nvSpPr>
          <p:cNvPr id="6" name="Text 3"/>
          <p:cNvSpPr/>
          <p:nvPr/>
        </p:nvSpPr>
        <p:spPr>
          <a:xfrm>
            <a:off x="8552378" y="3601185"/>
            <a:ext cx="3664982" cy="1027230"/>
          </a:xfrm>
          <a:prstGeom prst="rect">
            <a:avLst/>
          </a:prstGeom>
          <a:noFill/>
          <a:ln/>
        </p:spPr>
        <p:txBody>
          <a:bodyPr wrap="none" lIns="0" tIns="0" rIns="0" bIns="0" rtlCol="0" anchor="t"/>
          <a:lstStyle/>
          <a:p>
            <a:pPr marL="0" indent="0" algn="ctr">
              <a:lnSpc>
                <a:spcPts val="2750"/>
              </a:lnSpc>
              <a:buNone/>
            </a:pPr>
            <a:r>
              <a:rPr lang="en-US" sz="3500" i="1" dirty="0" err="1">
                <a:solidFill>
                  <a:schemeClr val="accent4">
                    <a:lumMod val="40000"/>
                    <a:lumOff val="60000"/>
                  </a:schemeClr>
                </a:solidFill>
                <a:latin typeface="Kanit" pitchFamily="34" charset="0"/>
                <a:ea typeface="Kanit" pitchFamily="34" charset="-122"/>
                <a:cs typeface="Kanit" pitchFamily="34" charset="-120"/>
              </a:rPr>
              <a:t>GeldBot</a:t>
            </a:r>
            <a:r>
              <a:rPr lang="en-US" sz="3500" i="1" dirty="0">
                <a:solidFill>
                  <a:srgbClr val="FFFFFF"/>
                </a:solidFill>
                <a:latin typeface="Kanit" pitchFamily="34" charset="0"/>
                <a:ea typeface="Kanit" pitchFamily="34" charset="-122"/>
                <a:cs typeface="Kanit" pitchFamily="34" charset="-120"/>
              </a:rPr>
              <a:t> </a:t>
            </a:r>
          </a:p>
          <a:p>
            <a:pPr marL="0" indent="0" algn="ctr">
              <a:lnSpc>
                <a:spcPts val="2750"/>
              </a:lnSpc>
              <a:buNone/>
            </a:pPr>
            <a:r>
              <a:rPr lang="en-US" sz="2200" dirty="0">
                <a:solidFill>
                  <a:srgbClr val="FFFFFF"/>
                </a:solidFill>
                <a:latin typeface="Kanit" pitchFamily="34" charset="0"/>
                <a:ea typeface="Kanit" pitchFamily="34" charset="-122"/>
                <a:cs typeface="Kanit" pitchFamily="34" charset="-120"/>
              </a:rPr>
              <a:t>  </a:t>
            </a:r>
            <a:r>
              <a:rPr lang="en-US" sz="2200" dirty="0" err="1">
                <a:solidFill>
                  <a:srgbClr val="FFFFFF"/>
                </a:solidFill>
                <a:latin typeface="Kanit" pitchFamily="34" charset="0"/>
                <a:ea typeface="Kanit" pitchFamily="34" charset="-122"/>
                <a:cs typeface="Kanit" pitchFamily="34" charset="-120"/>
              </a:rPr>
              <a:t>Systèmes</a:t>
            </a:r>
            <a:r>
              <a:rPr lang="en-US" sz="2200" dirty="0">
                <a:solidFill>
                  <a:srgbClr val="FFFFFF"/>
                </a:solidFill>
                <a:latin typeface="Kanit" pitchFamily="34" charset="0"/>
                <a:ea typeface="Kanit" pitchFamily="34" charset="-122"/>
                <a:cs typeface="Kanit" pitchFamily="34" charset="-120"/>
              </a:rPr>
              <a:t> Financiers</a:t>
            </a:r>
            <a:endParaRPr lang="en-US" sz="22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C6616A99-438B-C1F2-6EA4-6EA0060A1491}"/>
              </a:ext>
            </a:extLst>
          </p:cNvPr>
          <p:cNvSpPr/>
          <p:nvPr/>
        </p:nvSpPr>
        <p:spPr>
          <a:xfrm>
            <a:off x="407019" y="408945"/>
            <a:ext cx="13816361" cy="1598274"/>
          </a:xfrm>
          <a:prstGeom prst="rect">
            <a:avLst/>
          </a:prstGeom>
          <a:noFill/>
          <a:ln/>
        </p:spPr>
        <p:txBody>
          <a:bodyPr wrap="none" lIns="0" tIns="0" rIns="0" bIns="0" rtlCol="0" anchor="t"/>
          <a:lstStyle/>
          <a:p>
            <a:pPr algn="ctr">
              <a:lnSpc>
                <a:spcPts val="5500"/>
              </a:lnSpc>
            </a:pPr>
            <a:r>
              <a:rPr lang="fr-FR" sz="4400" b="1" dirty="0">
                <a:solidFill>
                  <a:schemeClr val="bg1"/>
                </a:solidFill>
              </a:rPr>
              <a:t>Création et déploiement de </a:t>
            </a:r>
            <a:r>
              <a:rPr lang="fr-FR" sz="4400" b="1" dirty="0" err="1">
                <a:solidFill>
                  <a:schemeClr val="bg1"/>
                </a:solidFill>
              </a:rPr>
              <a:t>VecoFlexTnMWS</a:t>
            </a:r>
            <a:r>
              <a:rPr lang="fr-FR" sz="4400" b="1" dirty="0">
                <a:solidFill>
                  <a:schemeClr val="bg1"/>
                </a:solidFill>
              </a:rPr>
              <a:t> </a:t>
            </a:r>
          </a:p>
          <a:p>
            <a:pPr algn="ctr">
              <a:lnSpc>
                <a:spcPts val="5500"/>
              </a:lnSpc>
            </a:pPr>
            <a:r>
              <a:rPr lang="fr-FR" sz="4400" b="1" dirty="0">
                <a:solidFill>
                  <a:schemeClr val="bg1"/>
                </a:solidFill>
              </a:rPr>
              <a:t>sur le Node Package Manager.</a:t>
            </a:r>
            <a:endParaRPr lang="en-US" sz="4400" b="1" dirty="0">
              <a:solidFill>
                <a:schemeClr val="bg1"/>
              </a:solidFill>
            </a:endParaRPr>
          </a:p>
        </p:txBody>
      </p:sp>
      <p:sp>
        <p:nvSpPr>
          <p:cNvPr id="3" name="Rectangle 2">
            <a:extLst>
              <a:ext uri="{FF2B5EF4-FFF2-40B4-BE49-F238E27FC236}">
                <a16:creationId xmlns:a16="http://schemas.microsoft.com/office/drawing/2014/main" id="{CEAC6A5F-7C98-F096-C111-4B8E0AB124B0}"/>
              </a:ext>
            </a:extLst>
          </p:cNvPr>
          <p:cNvSpPr/>
          <p:nvPr/>
        </p:nvSpPr>
        <p:spPr>
          <a:xfrm>
            <a:off x="12047911" y="7654175"/>
            <a:ext cx="2558805" cy="524107"/>
          </a:xfrm>
          <a:prstGeom prst="rect">
            <a:avLst/>
          </a:prstGeom>
          <a:solidFill>
            <a:srgbClr val="100C35"/>
          </a:solidFill>
          <a:ln>
            <a:solidFill>
              <a:srgbClr val="100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descr="Une image contenant texte, capture d’écran, Visage humain, homme&#10;&#10;Le contenu généré par l’IA peut être incorrect.">
            <a:extLst>
              <a:ext uri="{FF2B5EF4-FFF2-40B4-BE49-F238E27FC236}">
                <a16:creationId xmlns:a16="http://schemas.microsoft.com/office/drawing/2014/main" id="{D71B5686-5F2E-79DA-2660-7AC0D0A3CF9D}"/>
              </a:ext>
            </a:extLst>
          </p:cNvPr>
          <p:cNvPicPr>
            <a:picLocks noChangeAspect="1"/>
          </p:cNvPicPr>
          <p:nvPr/>
        </p:nvPicPr>
        <p:blipFill>
          <a:blip r:embed="rId2"/>
          <a:stretch>
            <a:fillRect/>
          </a:stretch>
        </p:blipFill>
        <p:spPr>
          <a:xfrm>
            <a:off x="250660" y="2184457"/>
            <a:ext cx="14129078" cy="5731771"/>
          </a:xfrm>
          <a:prstGeom prst="rect">
            <a:avLst/>
          </a:prstGeom>
        </p:spPr>
      </p:pic>
    </p:spTree>
    <p:extLst>
      <p:ext uri="{BB962C8B-B14F-4D97-AF65-F5344CB8AC3E}">
        <p14:creationId xmlns:p14="http://schemas.microsoft.com/office/powerpoint/2010/main" val="307876747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0" y="0"/>
            <a:ext cx="7315200" cy="8229600"/>
          </a:xfrm>
          <a:prstGeom prst="rect">
            <a:avLst/>
          </a:prstGeom>
        </p:spPr>
      </p:pic>
      <p:sp>
        <p:nvSpPr>
          <p:cNvPr id="3" name="Text 0"/>
          <p:cNvSpPr/>
          <p:nvPr/>
        </p:nvSpPr>
        <p:spPr>
          <a:xfrm>
            <a:off x="837723" y="1376371"/>
            <a:ext cx="5632490" cy="704017"/>
          </a:xfrm>
          <a:prstGeom prst="rect">
            <a:avLst/>
          </a:prstGeom>
          <a:noFill/>
          <a:ln/>
        </p:spPr>
        <p:txBody>
          <a:bodyPr wrap="none" lIns="0" tIns="0" rIns="0" bIns="0" rtlCol="0" anchor="t"/>
          <a:lstStyle/>
          <a:p>
            <a:pPr marL="0" indent="0" algn="ctr">
              <a:lnSpc>
                <a:spcPts val="5500"/>
              </a:lnSpc>
              <a:buNone/>
            </a:pPr>
            <a:r>
              <a:rPr lang="en-US" sz="4400" dirty="0">
                <a:solidFill>
                  <a:srgbClr val="FFFFFF"/>
                </a:solidFill>
                <a:latin typeface="Kanit" pitchFamily="34" charset="0"/>
                <a:ea typeface="Kanit" pitchFamily="34" charset="-122"/>
                <a:cs typeface="Kanit" pitchFamily="34" charset="-120"/>
              </a:rPr>
              <a:t>Conclusion</a:t>
            </a:r>
            <a:endParaRPr lang="en-US" sz="4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0C35">
              <a:alpha val="80000"/>
            </a:srgbClr>
          </a:solidFill>
          <a:ln/>
        </p:spPr>
        <p:txBody>
          <a:bodyPr/>
          <a:lstStyle/>
          <a:p>
            <a:endParaRPr lang="fr-FR"/>
          </a:p>
        </p:txBody>
      </p:sp>
      <p:sp>
        <p:nvSpPr>
          <p:cNvPr id="4" name="Text 1"/>
          <p:cNvSpPr/>
          <p:nvPr/>
        </p:nvSpPr>
        <p:spPr>
          <a:xfrm>
            <a:off x="2510433" y="1316251"/>
            <a:ext cx="9609415" cy="580787"/>
          </a:xfrm>
          <a:prstGeom prst="rect">
            <a:avLst/>
          </a:prstGeom>
          <a:noFill/>
          <a:ln/>
        </p:spPr>
        <p:txBody>
          <a:bodyPr wrap="none" lIns="0" tIns="0" rIns="0" bIns="0" rtlCol="0" anchor="t"/>
          <a:lstStyle/>
          <a:p>
            <a:pPr marL="0" indent="0" algn="ctr">
              <a:lnSpc>
                <a:spcPts val="4550"/>
              </a:lnSpc>
              <a:buNone/>
            </a:pPr>
            <a:r>
              <a:rPr lang="en-US" sz="3650" b="1" dirty="0">
                <a:solidFill>
                  <a:srgbClr val="FFFFFF"/>
                </a:solidFill>
                <a:latin typeface="Kanit" pitchFamily="34" charset="0"/>
                <a:ea typeface="Kanit" pitchFamily="34" charset="-122"/>
                <a:cs typeface="Kanit" pitchFamily="34" charset="-120"/>
              </a:rPr>
              <a:t>Merci énormément pour le suivi et le soutien</a:t>
            </a:r>
            <a:endParaRPr lang="en-US" sz="3650" dirty="0"/>
          </a:p>
        </p:txBody>
      </p:sp>
      <p:pic>
        <p:nvPicPr>
          <p:cNvPr id="6" name="Image 5" descr="Une image contenant motif, point&#10;&#10;Le contenu généré par l’IA peut être incorrect.">
            <a:extLst>
              <a:ext uri="{FF2B5EF4-FFF2-40B4-BE49-F238E27FC236}">
                <a16:creationId xmlns:a16="http://schemas.microsoft.com/office/drawing/2014/main" id="{A0BF658C-B17D-6159-105E-2341E24EF857}"/>
              </a:ext>
            </a:extLst>
          </p:cNvPr>
          <p:cNvPicPr>
            <a:picLocks noChangeAspect="1"/>
          </p:cNvPicPr>
          <p:nvPr/>
        </p:nvPicPr>
        <p:blipFill>
          <a:blip r:embed="rId4"/>
          <a:stretch>
            <a:fillRect/>
          </a:stretch>
        </p:blipFill>
        <p:spPr>
          <a:xfrm>
            <a:off x="1795347" y="2319454"/>
            <a:ext cx="4114800" cy="4114800"/>
          </a:xfrm>
          <a:prstGeom prst="rect">
            <a:avLst/>
          </a:prstGeom>
        </p:spPr>
      </p:pic>
      <p:sp>
        <p:nvSpPr>
          <p:cNvPr id="7" name="ZoneTexte 6">
            <a:extLst>
              <a:ext uri="{FF2B5EF4-FFF2-40B4-BE49-F238E27FC236}">
                <a16:creationId xmlns:a16="http://schemas.microsoft.com/office/drawing/2014/main" id="{34E0D3D0-0940-3504-C676-ECF4807A87FB}"/>
              </a:ext>
            </a:extLst>
          </p:cNvPr>
          <p:cNvSpPr txBox="1"/>
          <p:nvPr/>
        </p:nvSpPr>
        <p:spPr>
          <a:xfrm>
            <a:off x="2001644" y="6466821"/>
            <a:ext cx="3702206" cy="523220"/>
          </a:xfrm>
          <a:prstGeom prst="rect">
            <a:avLst/>
          </a:prstGeom>
          <a:noFill/>
        </p:spPr>
        <p:txBody>
          <a:bodyPr wrap="square" rtlCol="0">
            <a:spAutoFit/>
          </a:bodyPr>
          <a:lstStyle/>
          <a:p>
            <a:pPr algn="ctr"/>
            <a:r>
              <a:rPr lang="fr-FR" sz="2800" b="1" u="sng" dirty="0">
                <a:solidFill>
                  <a:schemeClr val="bg1"/>
                </a:solidFill>
              </a:rPr>
              <a:t> Design </a:t>
            </a:r>
            <a:r>
              <a:rPr lang="fr-FR" sz="2800" b="1" u="sng" dirty="0" err="1">
                <a:solidFill>
                  <a:schemeClr val="bg1"/>
                </a:solidFill>
              </a:rPr>
              <a:t>Diagrams</a:t>
            </a:r>
            <a:r>
              <a:rPr lang="fr-FR" sz="2800" b="1" u="sng" dirty="0">
                <a:solidFill>
                  <a:schemeClr val="bg1"/>
                </a:solidFill>
              </a:rPr>
              <a:t>    </a:t>
            </a:r>
          </a:p>
        </p:txBody>
      </p:sp>
      <p:pic>
        <p:nvPicPr>
          <p:cNvPr id="9" name="Image 8" descr="Une image contenant motif, point&#10;&#10;Le contenu généré par l’IA peut être incorrect.">
            <a:extLst>
              <a:ext uri="{FF2B5EF4-FFF2-40B4-BE49-F238E27FC236}">
                <a16:creationId xmlns:a16="http://schemas.microsoft.com/office/drawing/2014/main" id="{DE137B42-28EB-21C1-6D39-000861C36649}"/>
              </a:ext>
            </a:extLst>
          </p:cNvPr>
          <p:cNvPicPr>
            <a:picLocks noChangeAspect="1"/>
          </p:cNvPicPr>
          <p:nvPr/>
        </p:nvPicPr>
        <p:blipFill>
          <a:blip r:embed="rId5"/>
          <a:stretch>
            <a:fillRect/>
          </a:stretch>
        </p:blipFill>
        <p:spPr>
          <a:xfrm>
            <a:off x="8720255" y="2319454"/>
            <a:ext cx="4114800" cy="4114800"/>
          </a:xfrm>
          <a:prstGeom prst="rect">
            <a:avLst/>
          </a:prstGeom>
        </p:spPr>
      </p:pic>
      <p:sp>
        <p:nvSpPr>
          <p:cNvPr id="10" name="ZoneTexte 9">
            <a:extLst>
              <a:ext uri="{FF2B5EF4-FFF2-40B4-BE49-F238E27FC236}">
                <a16:creationId xmlns:a16="http://schemas.microsoft.com/office/drawing/2014/main" id="{B2177DEE-C773-D237-9C86-41EC3F406F13}"/>
              </a:ext>
            </a:extLst>
          </p:cNvPr>
          <p:cNvSpPr txBox="1"/>
          <p:nvPr/>
        </p:nvSpPr>
        <p:spPr>
          <a:xfrm>
            <a:off x="8926552" y="6466821"/>
            <a:ext cx="3702206" cy="523220"/>
          </a:xfrm>
          <a:prstGeom prst="rect">
            <a:avLst/>
          </a:prstGeom>
          <a:noFill/>
        </p:spPr>
        <p:txBody>
          <a:bodyPr wrap="square" rtlCol="0">
            <a:spAutoFit/>
          </a:bodyPr>
          <a:lstStyle/>
          <a:p>
            <a:pPr algn="ctr"/>
            <a:r>
              <a:rPr lang="fr-FR" sz="2800" b="1" u="sng" dirty="0">
                <a:solidFill>
                  <a:schemeClr val="bg1"/>
                </a:solidFill>
              </a:rPr>
              <a:t>Platform </a:t>
            </a:r>
            <a:r>
              <a:rPr lang="fr-FR" sz="2800" b="1" u="sng" dirty="0" err="1">
                <a:solidFill>
                  <a:schemeClr val="bg1"/>
                </a:solidFill>
              </a:rPr>
              <a:t>Demo</a:t>
            </a:r>
            <a:endParaRPr lang="fr-FR" sz="2800" b="1" u="sng"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396</Words>
  <Application>Microsoft Office PowerPoint</Application>
  <PresentationFormat>Personnalisé</PresentationFormat>
  <Paragraphs>107</Paragraphs>
  <Slides>18</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Martel Sans Light</vt:lpstr>
      <vt:lpstr>Kanit</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Wahbi</cp:lastModifiedBy>
  <cp:revision>18</cp:revision>
  <dcterms:created xsi:type="dcterms:W3CDTF">2025-03-26T03:42:35Z</dcterms:created>
  <dcterms:modified xsi:type="dcterms:W3CDTF">2025-04-07T15:37:17Z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2025-03-26T03:45:02Z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e244edb5-e1a9-459f-b2a8-b6dc8adf67d1</vt:lpwstr>
  </property>
  <property fmtid="{D5CDD505-2E9C-101B-9397-08002B2CF9AE}" pid="7" name="MSIP_Label_defa4170-0d19-0005-0004-bc88714345d2_ActionId">
    <vt:lpwstr>3d0a85d4-a517-4ce5-afb8-ea002b9a6e31</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