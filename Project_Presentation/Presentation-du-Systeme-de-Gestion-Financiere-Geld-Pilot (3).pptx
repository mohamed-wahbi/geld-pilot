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3" r:id="rId17"/>
    <p:sldId id="271" r:id="rId18"/>
    <p:sldId id="272" r:id="rId19"/>
  </p:sldIdLst>
  <p:sldSz cx="14630400" cy="8229600"/>
  <p:notesSz cx="8229600" cy="14630400"/>
  <p:embeddedFontLst>
    <p:embeddedFont>
      <p:font typeface="Kanit" panose="020B0604020202020204" charset="-34"/>
      <p:regular r:id="rId21"/>
    </p:embeddedFont>
    <p:embeddedFont>
      <p:font typeface="Martel Sans Light" panose="020B0604020202020204" charset="0"/>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7C80"/>
    <a:srgbClr val="100C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9" d="100"/>
          <a:sy n="69" d="100"/>
        </p:scale>
        <p:origin x="677"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1.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824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Slide 1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lide 1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lide 1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lide 1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lide 1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lide 1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lide 1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271C4E"/>
          </a:solidFill>
          <a:ln/>
        </p:spPr>
      </p:sp>
      <p:sp>
        <p:nvSpPr>
          <p:cNvPr id="3" name="Shape 1"/>
          <p:cNvSpPr/>
          <p:nvPr/>
        </p:nvSpPr>
        <p:spPr>
          <a:xfrm>
            <a:off x="0" y="0"/>
            <a:ext cx="14630400" cy="8229600"/>
          </a:xfrm>
          <a:prstGeom prst="rect">
            <a:avLst/>
          </a:prstGeom>
          <a:solidFill>
            <a:srgbClr val="100C35"/>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5.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8.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0.xml"/><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1.xml"/><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13.xml"/><Relationship Id="rId6" Type="http://schemas.openxmlformats.org/officeDocument/2006/relationships/hyperlink" Target="https://svgsilh.com/image/2126876.html" TargetMode="External"/><Relationship Id="rId5" Type="http://schemas.openxmlformats.org/officeDocument/2006/relationships/image" Target="../media/image19.sv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3.xml"/><Relationship Id="rId1" Type="http://schemas.openxmlformats.org/officeDocument/2006/relationships/slideLayout" Target="../slideLayouts/slideLayout14.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6.xml"/></Relationships>
</file>

<file path=ppt/slides/_rels/slide16.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6.xml"/></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17.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324124" y="891540"/>
            <a:ext cx="7468553" cy="1408033"/>
          </a:xfrm>
          <a:prstGeom prst="rect">
            <a:avLst/>
          </a:prstGeom>
          <a:noFill/>
          <a:ln/>
        </p:spPr>
        <p:txBody>
          <a:bodyPr wrap="square" lIns="0" tIns="0" rIns="0" bIns="0" rtlCol="0" anchor="t"/>
          <a:lstStyle/>
          <a:p>
            <a:pPr marL="0" indent="0" algn="ctr">
              <a:lnSpc>
                <a:spcPts val="5500"/>
              </a:lnSpc>
              <a:buNone/>
            </a:pPr>
            <a:r>
              <a:rPr lang="en-US" sz="4000" dirty="0">
                <a:solidFill>
                  <a:srgbClr val="FFFFFF"/>
                </a:solidFill>
                <a:latin typeface="Kanit" pitchFamily="34" charset="0"/>
                <a:ea typeface="Kanit" pitchFamily="34" charset="-122"/>
                <a:cs typeface="Kanit" pitchFamily="34" charset="-120"/>
              </a:rPr>
              <a:t>Présentation du Système de Gestion Financière Geld Pilot </a:t>
            </a:r>
            <a:endParaRPr lang="en-US" sz="4000" dirty="0"/>
          </a:p>
        </p:txBody>
      </p:sp>
      <p:sp>
        <p:nvSpPr>
          <p:cNvPr id="4" name="Text 1"/>
          <p:cNvSpPr/>
          <p:nvPr/>
        </p:nvSpPr>
        <p:spPr>
          <a:xfrm>
            <a:off x="6324124" y="2410123"/>
            <a:ext cx="7468553" cy="766048"/>
          </a:xfrm>
          <a:prstGeom prst="rect">
            <a:avLst/>
          </a:prstGeom>
          <a:noFill/>
          <a:ln/>
        </p:spPr>
        <p:txBody>
          <a:bodyPr wrap="square" lIns="0" tIns="0" rIns="0" bIns="0" rtlCol="0" anchor="t"/>
          <a:lstStyle/>
          <a:p>
            <a:pPr marL="0" indent="0" algn="ctr">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Solution innovante pour automatiser et améliorer la gestion financière d'Alight MEA.</a:t>
            </a:r>
            <a:endParaRPr lang="en-US" sz="1850" dirty="0"/>
          </a:p>
        </p:txBody>
      </p:sp>
      <p:sp>
        <p:nvSpPr>
          <p:cNvPr id="5" name="Text 2"/>
          <p:cNvSpPr/>
          <p:nvPr/>
        </p:nvSpPr>
        <p:spPr>
          <a:xfrm>
            <a:off x="6324124" y="3693795"/>
            <a:ext cx="7468553" cy="383024"/>
          </a:xfrm>
          <a:prstGeom prst="rect">
            <a:avLst/>
          </a:prstGeom>
          <a:noFill/>
          <a:ln/>
        </p:spPr>
        <p:txBody>
          <a:bodyPr wrap="none" lIns="0" tIns="0" rIns="0" bIns="0" rtlCol="0" anchor="t"/>
          <a:lstStyle/>
          <a:p>
            <a:pPr marL="0" indent="0" algn="l">
              <a:lnSpc>
                <a:spcPts val="3000"/>
              </a:lnSpc>
              <a:buNone/>
            </a:pPr>
            <a:r>
              <a:rPr lang="en-US" sz="1850" b="1" dirty="0">
                <a:solidFill>
                  <a:srgbClr val="C6BFEE"/>
                </a:solidFill>
                <a:latin typeface="Martel Sans Light" pitchFamily="34" charset="0"/>
                <a:ea typeface="Martel Sans Light" pitchFamily="34" charset="-122"/>
                <a:cs typeface="Martel Sans Light" pitchFamily="34" charset="-120"/>
              </a:rPr>
              <a:t>Encadrants :</a:t>
            </a:r>
            <a:endParaRPr lang="en-US" sz="1850" dirty="0"/>
          </a:p>
        </p:txBody>
      </p:sp>
      <p:sp>
        <p:nvSpPr>
          <p:cNvPr id="6" name="Text 3"/>
          <p:cNvSpPr/>
          <p:nvPr/>
        </p:nvSpPr>
        <p:spPr>
          <a:xfrm>
            <a:off x="6324122" y="4166584"/>
            <a:ext cx="7468553" cy="383024"/>
          </a:xfrm>
          <a:prstGeom prst="rect">
            <a:avLst/>
          </a:prstGeom>
          <a:noFill/>
          <a:ln/>
        </p:spPr>
        <p:txBody>
          <a:bodyPr wrap="none" lIns="0" tIns="0" rIns="0" bIns="0" rtlCol="0" anchor="t"/>
          <a:lstStyle/>
          <a:p>
            <a:pPr marL="0" indent="0" algn="l">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      </a:t>
            </a:r>
            <a:r>
              <a:rPr lang="en-US" sz="1850" b="1" i="1" dirty="0">
                <a:solidFill>
                  <a:srgbClr val="D9E1FF"/>
                </a:solidFill>
                <a:latin typeface="Martel Sans Light" pitchFamily="34" charset="0"/>
                <a:ea typeface="Martel Sans Light" pitchFamily="34" charset="-122"/>
                <a:cs typeface="Martel Sans Light" pitchFamily="34" charset="-120"/>
              </a:rPr>
              <a:t>Ben Abid Fadwa </a:t>
            </a:r>
            <a:r>
              <a:rPr lang="en-US" sz="1850" dirty="0">
                <a:solidFill>
                  <a:srgbClr val="D9E1FF"/>
                </a:solidFill>
                <a:latin typeface="Martel Sans Light" pitchFamily="34" charset="0"/>
                <a:ea typeface="Martel Sans Light" pitchFamily="34" charset="-122"/>
                <a:cs typeface="Martel Sans Light" pitchFamily="34" charset="-120"/>
              </a:rPr>
              <a:t>encadrante pedagogique</a:t>
            </a:r>
            <a:endParaRPr lang="en-US" sz="1850" dirty="0"/>
          </a:p>
        </p:txBody>
      </p:sp>
      <p:sp>
        <p:nvSpPr>
          <p:cNvPr id="7" name="Text 4"/>
          <p:cNvSpPr/>
          <p:nvPr/>
        </p:nvSpPr>
        <p:spPr>
          <a:xfrm>
            <a:off x="6324121" y="4622525"/>
            <a:ext cx="7468553" cy="383024"/>
          </a:xfrm>
          <a:prstGeom prst="rect">
            <a:avLst/>
          </a:prstGeom>
          <a:noFill/>
          <a:ln/>
        </p:spPr>
        <p:txBody>
          <a:bodyPr wrap="none" lIns="0" tIns="0" rIns="0" bIns="0" rtlCol="0" anchor="t"/>
          <a:lstStyle/>
          <a:p>
            <a:pPr marL="0" indent="0" algn="l">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     </a:t>
            </a:r>
            <a:r>
              <a:rPr lang="en-US" sz="1850" b="1" i="1" dirty="0">
                <a:solidFill>
                  <a:srgbClr val="D9E1FF"/>
                </a:solidFill>
                <a:latin typeface="Martel Sans Light" pitchFamily="34" charset="0"/>
                <a:ea typeface="Martel Sans Light" pitchFamily="34" charset="-122"/>
                <a:cs typeface="Martel Sans Light" pitchFamily="34" charset="-120"/>
              </a:rPr>
              <a:t> Kourou Rim</a:t>
            </a:r>
            <a:r>
              <a:rPr lang="en-US" sz="1850" dirty="0">
                <a:solidFill>
                  <a:srgbClr val="D9E1FF"/>
                </a:solidFill>
                <a:latin typeface="Martel Sans Light" pitchFamily="34" charset="0"/>
                <a:ea typeface="Martel Sans Light" pitchFamily="34" charset="-122"/>
                <a:cs typeface="Martel Sans Light" pitchFamily="34" charset="-120"/>
              </a:rPr>
              <a:t> encadrement profitionelle</a:t>
            </a:r>
            <a:endParaRPr lang="en-US" sz="1850" dirty="0"/>
          </a:p>
        </p:txBody>
      </p:sp>
      <p:sp>
        <p:nvSpPr>
          <p:cNvPr id="8" name="Text 5"/>
          <p:cNvSpPr/>
          <p:nvPr/>
        </p:nvSpPr>
        <p:spPr>
          <a:xfrm>
            <a:off x="6324124" y="5650468"/>
            <a:ext cx="7468553" cy="383024"/>
          </a:xfrm>
          <a:prstGeom prst="rect">
            <a:avLst/>
          </a:prstGeom>
          <a:noFill/>
          <a:ln/>
        </p:spPr>
        <p:txBody>
          <a:bodyPr wrap="none" lIns="0" tIns="0" rIns="0" bIns="0" rtlCol="0" anchor="t"/>
          <a:lstStyle/>
          <a:p>
            <a:pPr marL="0" indent="0" algn="l">
              <a:lnSpc>
                <a:spcPts val="3000"/>
              </a:lnSpc>
              <a:buNone/>
            </a:pPr>
            <a:r>
              <a:rPr lang="en-US" sz="1850" b="1" dirty="0">
                <a:solidFill>
                  <a:srgbClr val="C6BFEE"/>
                </a:solidFill>
                <a:latin typeface="Martel Sans Light" pitchFamily="34" charset="0"/>
                <a:ea typeface="Martel Sans Light" pitchFamily="34" charset="-122"/>
                <a:cs typeface="Martel Sans Light" pitchFamily="34" charset="-120"/>
              </a:rPr>
              <a:t>Élaboré par :</a:t>
            </a:r>
            <a:endParaRPr lang="en-US" sz="1850" dirty="0"/>
          </a:p>
        </p:txBody>
      </p:sp>
      <p:sp>
        <p:nvSpPr>
          <p:cNvPr id="9" name="Text 6"/>
          <p:cNvSpPr/>
          <p:nvPr/>
        </p:nvSpPr>
        <p:spPr>
          <a:xfrm>
            <a:off x="6324123" y="6111181"/>
            <a:ext cx="7468553" cy="383024"/>
          </a:xfrm>
          <a:prstGeom prst="rect">
            <a:avLst/>
          </a:prstGeom>
          <a:noFill/>
          <a:ln/>
        </p:spPr>
        <p:txBody>
          <a:bodyPr wrap="none" lIns="0" tIns="0" rIns="0" bIns="0" rtlCol="0" anchor="t"/>
          <a:lstStyle/>
          <a:p>
            <a:pPr marL="0" indent="0" algn="l">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     </a:t>
            </a:r>
            <a:r>
              <a:rPr lang="en-US" sz="1850" b="1" dirty="0">
                <a:solidFill>
                  <a:srgbClr val="F2F2F2"/>
                </a:solidFill>
                <a:latin typeface="Martel Sans Light" pitchFamily="34" charset="0"/>
                <a:ea typeface="Martel Sans Light" pitchFamily="34" charset="-122"/>
                <a:cs typeface="Martel Sans Light" pitchFamily="34" charset="-120"/>
              </a:rPr>
              <a:t> </a:t>
            </a:r>
            <a:r>
              <a:rPr lang="en-US" sz="1850" i="1" dirty="0">
                <a:solidFill>
                  <a:srgbClr val="CCCCCC"/>
                </a:solidFill>
                <a:latin typeface="Martel Sans Light" pitchFamily="34" charset="0"/>
                <a:ea typeface="Martel Sans Light" pitchFamily="34" charset="-122"/>
                <a:cs typeface="Martel Sans Light" pitchFamily="34" charset="-120"/>
              </a:rPr>
              <a:t>Salwej Mohamed Wahbi</a:t>
            </a:r>
            <a:endParaRPr lang="en-US" sz="1850" dirty="0"/>
          </a:p>
        </p:txBody>
      </p:sp>
      <p:sp>
        <p:nvSpPr>
          <p:cNvPr id="10" name="Text 7"/>
          <p:cNvSpPr/>
          <p:nvPr/>
        </p:nvSpPr>
        <p:spPr>
          <a:xfrm>
            <a:off x="6324124" y="6954917"/>
            <a:ext cx="7468553" cy="383024"/>
          </a:xfrm>
          <a:prstGeom prst="rect">
            <a:avLst/>
          </a:prstGeom>
          <a:noFill/>
          <a:ln/>
        </p:spPr>
        <p:txBody>
          <a:bodyPr wrap="none" lIns="0" tIns="0" rIns="0" bIns="0" rtlCol="0" anchor="t"/>
          <a:lstStyle/>
          <a:p>
            <a:pPr marL="0" indent="0" algn="r">
              <a:lnSpc>
                <a:spcPts val="3000"/>
              </a:lnSpc>
              <a:buNone/>
            </a:pPr>
            <a:r>
              <a:rPr lang="en-US" sz="1850" b="1" dirty="0">
                <a:solidFill>
                  <a:srgbClr val="D8AFF8"/>
                </a:solidFill>
                <a:latin typeface="Martel Sans Light" pitchFamily="34" charset="0"/>
                <a:ea typeface="Martel Sans Light" pitchFamily="34" charset="-122"/>
                <a:cs typeface="Martel Sans Light" pitchFamily="34" charset="-120"/>
              </a:rPr>
              <a:t>27/03/2025</a:t>
            </a:r>
            <a:endParaRPr lang="en-US" sz="1850" dirty="0"/>
          </a:p>
        </p:txBody>
      </p:sp>
      <p:sp>
        <p:nvSpPr>
          <p:cNvPr id="12" name="Rectangle 11">
            <a:extLst>
              <a:ext uri="{FF2B5EF4-FFF2-40B4-BE49-F238E27FC236}">
                <a16:creationId xmlns:a16="http://schemas.microsoft.com/office/drawing/2014/main" id="{A8E90684-6DA5-9F8D-314D-22FD1A756034}"/>
              </a:ext>
            </a:extLst>
          </p:cNvPr>
          <p:cNvSpPr/>
          <p:nvPr/>
        </p:nvSpPr>
        <p:spPr>
          <a:xfrm>
            <a:off x="12655253" y="7654175"/>
            <a:ext cx="1951463" cy="524107"/>
          </a:xfrm>
          <a:prstGeom prst="rect">
            <a:avLst/>
          </a:prstGeom>
          <a:solidFill>
            <a:srgbClr val="100C35"/>
          </a:solidFill>
          <a:ln>
            <a:solidFill>
              <a:srgbClr val="100C3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634865" y="580105"/>
            <a:ext cx="5360670" cy="647105"/>
          </a:xfrm>
          <a:prstGeom prst="rect">
            <a:avLst/>
          </a:prstGeom>
          <a:noFill/>
          <a:ln/>
        </p:spPr>
        <p:txBody>
          <a:bodyPr wrap="none" lIns="0" tIns="0" rIns="0" bIns="0" rtlCol="0" anchor="t"/>
          <a:lstStyle/>
          <a:p>
            <a:pPr marL="0" indent="0" algn="ctr">
              <a:lnSpc>
                <a:spcPts val="5050"/>
              </a:lnSpc>
              <a:buNone/>
            </a:pPr>
            <a:r>
              <a:rPr lang="en-US" sz="4050" dirty="0">
                <a:solidFill>
                  <a:srgbClr val="FFFFFF"/>
                </a:solidFill>
                <a:latin typeface="Kanit" pitchFamily="34" charset="0"/>
                <a:ea typeface="Kanit" pitchFamily="34" charset="-122"/>
                <a:cs typeface="Kanit" pitchFamily="34" charset="-120"/>
              </a:rPr>
              <a:t>Plan de la Présentation</a:t>
            </a:r>
            <a:endParaRPr lang="en-US" sz="4050" dirty="0"/>
          </a:p>
        </p:txBody>
      </p:sp>
      <p:sp>
        <p:nvSpPr>
          <p:cNvPr id="3" name="Text 1"/>
          <p:cNvSpPr/>
          <p:nvPr/>
        </p:nvSpPr>
        <p:spPr>
          <a:xfrm>
            <a:off x="769977" y="1694736"/>
            <a:ext cx="13090446" cy="351949"/>
          </a:xfrm>
          <a:prstGeom prst="rect">
            <a:avLst/>
          </a:prstGeom>
          <a:noFill/>
          <a:ln/>
        </p:spPr>
        <p:txBody>
          <a:bodyPr wrap="none" lIns="0" tIns="0" rIns="0" bIns="0" rtlCol="0" anchor="t"/>
          <a:lstStyle/>
          <a:p>
            <a:pPr marL="342900" indent="-342900" algn="l">
              <a:lnSpc>
                <a:spcPts val="2750"/>
              </a:lnSpc>
              <a:buSzPct val="100000"/>
              <a:buFont typeface="+mj-lt"/>
              <a:buAutoNum type="arabicPeriod"/>
            </a:pPr>
            <a:r>
              <a:rPr lang="en-US" sz="1700" dirty="0">
                <a:solidFill>
                  <a:srgbClr val="D9E1FF"/>
                </a:solidFill>
                <a:latin typeface="Martel Sans Light" pitchFamily="34" charset="0"/>
                <a:ea typeface="Martel Sans Light" pitchFamily="34" charset="-122"/>
                <a:cs typeface="Martel Sans Light" pitchFamily="34" charset="-120"/>
              </a:rPr>
              <a:t>Introduction</a:t>
            </a:r>
          </a:p>
          <a:p>
            <a:pPr marL="342900" indent="-342900" algn="l">
              <a:lnSpc>
                <a:spcPts val="2750"/>
              </a:lnSpc>
              <a:buSzPct val="100000"/>
              <a:buFont typeface="+mj-lt"/>
              <a:buAutoNum type="arabicPeriod"/>
            </a:pPr>
            <a:endParaRPr lang="en-US" sz="1700" dirty="0"/>
          </a:p>
        </p:txBody>
      </p:sp>
      <p:sp>
        <p:nvSpPr>
          <p:cNvPr id="4" name="Text 2"/>
          <p:cNvSpPr/>
          <p:nvPr/>
        </p:nvSpPr>
        <p:spPr>
          <a:xfrm>
            <a:off x="769977" y="2123599"/>
            <a:ext cx="13090446" cy="351949"/>
          </a:xfrm>
          <a:prstGeom prst="rect">
            <a:avLst/>
          </a:prstGeom>
          <a:noFill/>
          <a:ln/>
        </p:spPr>
        <p:txBody>
          <a:bodyPr wrap="none" lIns="0" tIns="0" rIns="0" bIns="0" rtlCol="0" anchor="t"/>
          <a:lstStyle/>
          <a:p>
            <a:pPr marL="342900" indent="-342900" algn="l">
              <a:lnSpc>
                <a:spcPts val="2750"/>
              </a:lnSpc>
              <a:buSzPct val="100000"/>
              <a:buFont typeface="+mj-lt"/>
              <a:buAutoNum type="arabicPeriod" startAt="2"/>
            </a:pPr>
            <a:r>
              <a:rPr lang="en-US" sz="1700" dirty="0">
                <a:solidFill>
                  <a:srgbClr val="D9E1FF"/>
                </a:solidFill>
                <a:latin typeface="Martel Sans Light" pitchFamily="34" charset="0"/>
                <a:ea typeface="Martel Sans Light" pitchFamily="34" charset="-122"/>
                <a:cs typeface="Martel Sans Light" pitchFamily="34" charset="-120"/>
              </a:rPr>
              <a:t>Interface pour Découvrir les Objectifs de la Plateforme Geld Pilot </a:t>
            </a:r>
            <a:endParaRPr lang="en-US" sz="1700" dirty="0"/>
          </a:p>
        </p:txBody>
      </p:sp>
      <p:sp>
        <p:nvSpPr>
          <p:cNvPr id="5" name="Text 3"/>
          <p:cNvSpPr/>
          <p:nvPr/>
        </p:nvSpPr>
        <p:spPr>
          <a:xfrm>
            <a:off x="769977" y="2552462"/>
            <a:ext cx="13090446" cy="351949"/>
          </a:xfrm>
          <a:prstGeom prst="rect">
            <a:avLst/>
          </a:prstGeom>
          <a:noFill/>
          <a:ln/>
        </p:spPr>
        <p:txBody>
          <a:bodyPr wrap="none" lIns="0" tIns="0" rIns="0" bIns="0" rtlCol="0" anchor="t"/>
          <a:lstStyle/>
          <a:p>
            <a:pPr marL="342900" indent="-342900" algn="l">
              <a:lnSpc>
                <a:spcPts val="2750"/>
              </a:lnSpc>
              <a:buSzPct val="100000"/>
              <a:buFont typeface="+mj-lt"/>
              <a:buAutoNum type="arabicPeriod" startAt="3"/>
            </a:pPr>
            <a:r>
              <a:rPr lang="en-US" sz="1700" dirty="0">
                <a:solidFill>
                  <a:srgbClr val="D9E1FF"/>
                </a:solidFill>
                <a:latin typeface="Martel Sans Light" pitchFamily="34" charset="0"/>
                <a:ea typeface="Martel Sans Light" pitchFamily="34" charset="-122"/>
                <a:cs typeface="Martel Sans Light" pitchFamily="34" charset="-120"/>
              </a:rPr>
              <a:t>Activités Financières Prises en Compte</a:t>
            </a:r>
            <a:endParaRPr lang="en-US" sz="1700" dirty="0"/>
          </a:p>
        </p:txBody>
      </p:sp>
      <p:sp>
        <p:nvSpPr>
          <p:cNvPr id="6" name="Text 4"/>
          <p:cNvSpPr/>
          <p:nvPr/>
        </p:nvSpPr>
        <p:spPr>
          <a:xfrm>
            <a:off x="769977" y="2981325"/>
            <a:ext cx="13090446" cy="351949"/>
          </a:xfrm>
          <a:prstGeom prst="rect">
            <a:avLst/>
          </a:prstGeom>
          <a:noFill/>
          <a:ln/>
        </p:spPr>
        <p:txBody>
          <a:bodyPr wrap="none" lIns="0" tIns="0" rIns="0" bIns="0" rtlCol="0" anchor="t"/>
          <a:lstStyle/>
          <a:p>
            <a:pPr marL="342900" indent="-342900" algn="l">
              <a:lnSpc>
                <a:spcPts val="2750"/>
              </a:lnSpc>
              <a:buSzPct val="100000"/>
              <a:buFont typeface="+mj-lt"/>
              <a:buAutoNum type="arabicPeriod" startAt="4"/>
            </a:pPr>
            <a:r>
              <a:rPr lang="en-US" sz="1700" dirty="0">
                <a:solidFill>
                  <a:srgbClr val="D9E1FF"/>
                </a:solidFill>
                <a:latin typeface="Martel Sans Light" pitchFamily="34" charset="0"/>
                <a:ea typeface="Martel Sans Light" pitchFamily="34" charset="-122"/>
                <a:cs typeface="Martel Sans Light" pitchFamily="34" charset="-120"/>
              </a:rPr>
              <a:t>Gestion des Clients et des Charges Mensuelles</a:t>
            </a:r>
            <a:endParaRPr lang="en-US" sz="1700" dirty="0"/>
          </a:p>
        </p:txBody>
      </p:sp>
      <p:sp>
        <p:nvSpPr>
          <p:cNvPr id="7" name="Text 5"/>
          <p:cNvSpPr/>
          <p:nvPr/>
        </p:nvSpPr>
        <p:spPr>
          <a:xfrm>
            <a:off x="769977" y="3410188"/>
            <a:ext cx="13090446" cy="351949"/>
          </a:xfrm>
          <a:prstGeom prst="rect">
            <a:avLst/>
          </a:prstGeom>
          <a:noFill/>
          <a:ln/>
        </p:spPr>
        <p:txBody>
          <a:bodyPr wrap="none" lIns="0" tIns="0" rIns="0" bIns="0" rtlCol="0" anchor="t"/>
          <a:lstStyle/>
          <a:p>
            <a:pPr marL="342900" indent="-342900" algn="l">
              <a:lnSpc>
                <a:spcPts val="2750"/>
              </a:lnSpc>
              <a:buSzPct val="100000"/>
              <a:buFont typeface="+mj-lt"/>
              <a:buAutoNum type="arabicPeriod" startAt="5"/>
            </a:pPr>
            <a:r>
              <a:rPr lang="en-US" sz="1700" dirty="0">
                <a:solidFill>
                  <a:srgbClr val="D9E1FF"/>
                </a:solidFill>
                <a:latin typeface="Martel Sans Light" pitchFamily="34" charset="0"/>
                <a:ea typeface="Martel Sans Light" pitchFamily="34" charset="-122"/>
                <a:cs typeface="Martel Sans Light" pitchFamily="34" charset="-120"/>
              </a:rPr>
              <a:t>Gestion des Revenus</a:t>
            </a:r>
            <a:endParaRPr lang="en-US" sz="1700" dirty="0"/>
          </a:p>
        </p:txBody>
      </p:sp>
      <p:sp>
        <p:nvSpPr>
          <p:cNvPr id="8" name="Text 6"/>
          <p:cNvSpPr/>
          <p:nvPr/>
        </p:nvSpPr>
        <p:spPr>
          <a:xfrm>
            <a:off x="769977" y="3839051"/>
            <a:ext cx="13090446" cy="351949"/>
          </a:xfrm>
          <a:prstGeom prst="rect">
            <a:avLst/>
          </a:prstGeom>
          <a:noFill/>
          <a:ln/>
        </p:spPr>
        <p:txBody>
          <a:bodyPr wrap="none" lIns="0" tIns="0" rIns="0" bIns="0" rtlCol="0" anchor="t"/>
          <a:lstStyle/>
          <a:p>
            <a:pPr marL="342900" indent="-342900" algn="l">
              <a:lnSpc>
                <a:spcPts val="2750"/>
              </a:lnSpc>
              <a:buSzPct val="100000"/>
              <a:buFont typeface="+mj-lt"/>
              <a:buAutoNum type="arabicPeriod" startAt="6"/>
            </a:pPr>
            <a:r>
              <a:rPr lang="en-US" sz="1700" dirty="0">
                <a:solidFill>
                  <a:srgbClr val="D9E1FF"/>
                </a:solidFill>
                <a:latin typeface="Martel Sans Light" pitchFamily="34" charset="0"/>
                <a:ea typeface="Martel Sans Light" pitchFamily="34" charset="-122"/>
                <a:cs typeface="Martel Sans Light" pitchFamily="34" charset="-120"/>
              </a:rPr>
              <a:t>Gestion des Charges Mensuelles</a:t>
            </a:r>
            <a:endParaRPr lang="en-US" sz="1700" dirty="0"/>
          </a:p>
        </p:txBody>
      </p:sp>
      <p:sp>
        <p:nvSpPr>
          <p:cNvPr id="9" name="Text 7"/>
          <p:cNvSpPr/>
          <p:nvPr/>
        </p:nvSpPr>
        <p:spPr>
          <a:xfrm>
            <a:off x="769977" y="4267914"/>
            <a:ext cx="13090446" cy="351949"/>
          </a:xfrm>
          <a:prstGeom prst="rect">
            <a:avLst/>
          </a:prstGeom>
          <a:noFill/>
          <a:ln/>
        </p:spPr>
        <p:txBody>
          <a:bodyPr wrap="none" lIns="0" tIns="0" rIns="0" bIns="0" rtlCol="0" anchor="t"/>
          <a:lstStyle/>
          <a:p>
            <a:pPr marL="342900" indent="-342900" algn="l">
              <a:lnSpc>
                <a:spcPts val="2750"/>
              </a:lnSpc>
              <a:buSzPct val="100000"/>
              <a:buFont typeface="+mj-lt"/>
              <a:buAutoNum type="arabicPeriod" startAt="7"/>
            </a:pPr>
            <a:r>
              <a:rPr lang="en-US" sz="1700" dirty="0">
                <a:solidFill>
                  <a:srgbClr val="D9E1FF"/>
                </a:solidFill>
                <a:latin typeface="Martel Sans Light" pitchFamily="34" charset="0"/>
                <a:ea typeface="Martel Sans Light" pitchFamily="34" charset="-122"/>
                <a:cs typeface="Martel Sans Light" pitchFamily="34" charset="-120"/>
              </a:rPr>
              <a:t>Historique des Charges et Factures</a:t>
            </a:r>
            <a:endParaRPr lang="en-US" sz="1700" dirty="0"/>
          </a:p>
        </p:txBody>
      </p:sp>
      <p:sp>
        <p:nvSpPr>
          <p:cNvPr id="10" name="Text 8"/>
          <p:cNvSpPr/>
          <p:nvPr/>
        </p:nvSpPr>
        <p:spPr>
          <a:xfrm>
            <a:off x="769977" y="4696778"/>
            <a:ext cx="13090446" cy="351949"/>
          </a:xfrm>
          <a:prstGeom prst="rect">
            <a:avLst/>
          </a:prstGeom>
          <a:noFill/>
          <a:ln/>
        </p:spPr>
        <p:txBody>
          <a:bodyPr wrap="none" lIns="0" tIns="0" rIns="0" bIns="0" rtlCol="0" anchor="t"/>
          <a:lstStyle/>
          <a:p>
            <a:pPr marL="342900" indent="-342900" algn="l">
              <a:lnSpc>
                <a:spcPts val="2750"/>
              </a:lnSpc>
              <a:buSzPct val="100000"/>
              <a:buFont typeface="+mj-lt"/>
              <a:buAutoNum type="arabicPeriod" startAt="8"/>
            </a:pPr>
            <a:r>
              <a:rPr lang="en-US" sz="1700" dirty="0">
                <a:solidFill>
                  <a:srgbClr val="D9E1FF"/>
                </a:solidFill>
                <a:latin typeface="Martel Sans Light" pitchFamily="34" charset="0"/>
                <a:ea typeface="Martel Sans Light" pitchFamily="34" charset="-122"/>
                <a:cs typeface="Martel Sans Light" pitchFamily="34" charset="-120"/>
              </a:rPr>
              <a:t>Résultats Financiers Mensuels et Annuels</a:t>
            </a:r>
            <a:endParaRPr lang="en-US" sz="1700" dirty="0"/>
          </a:p>
        </p:txBody>
      </p:sp>
      <p:sp>
        <p:nvSpPr>
          <p:cNvPr id="11" name="Text 9"/>
          <p:cNvSpPr/>
          <p:nvPr/>
        </p:nvSpPr>
        <p:spPr>
          <a:xfrm>
            <a:off x="769977" y="5125641"/>
            <a:ext cx="13090446" cy="351949"/>
          </a:xfrm>
          <a:prstGeom prst="rect">
            <a:avLst/>
          </a:prstGeom>
          <a:noFill/>
          <a:ln/>
        </p:spPr>
        <p:txBody>
          <a:bodyPr wrap="none" lIns="0" tIns="0" rIns="0" bIns="0" rtlCol="0" anchor="t"/>
          <a:lstStyle/>
          <a:p>
            <a:pPr marL="342900" indent="-342900" algn="l">
              <a:lnSpc>
                <a:spcPts val="2750"/>
              </a:lnSpc>
              <a:buSzPct val="100000"/>
              <a:buFont typeface="+mj-lt"/>
              <a:buAutoNum type="arabicPeriod" startAt="9"/>
            </a:pPr>
            <a:r>
              <a:rPr lang="en-US" sz="1700" dirty="0">
                <a:solidFill>
                  <a:srgbClr val="D9E1FF"/>
                </a:solidFill>
                <a:latin typeface="Martel Sans Light" pitchFamily="34" charset="0"/>
                <a:ea typeface="Martel Sans Light" pitchFamily="34" charset="-122"/>
                <a:cs typeface="Martel Sans Light" pitchFamily="34" charset="-120"/>
              </a:rPr>
              <a:t>Gestion des Autorisations d'Accès </a:t>
            </a:r>
            <a:endParaRPr lang="en-US" sz="1700" dirty="0"/>
          </a:p>
        </p:txBody>
      </p:sp>
      <p:sp>
        <p:nvSpPr>
          <p:cNvPr id="12" name="Text 10"/>
          <p:cNvSpPr/>
          <p:nvPr/>
        </p:nvSpPr>
        <p:spPr>
          <a:xfrm>
            <a:off x="769977" y="5554504"/>
            <a:ext cx="13090446" cy="351949"/>
          </a:xfrm>
          <a:prstGeom prst="rect">
            <a:avLst/>
          </a:prstGeom>
          <a:noFill/>
          <a:ln/>
        </p:spPr>
        <p:txBody>
          <a:bodyPr wrap="none" lIns="0" tIns="0" rIns="0" bIns="0" rtlCol="0" anchor="t"/>
          <a:lstStyle/>
          <a:p>
            <a:pPr marL="342900" indent="-342900" algn="l">
              <a:lnSpc>
                <a:spcPts val="2750"/>
              </a:lnSpc>
              <a:buSzPct val="100000"/>
              <a:buFont typeface="+mj-lt"/>
              <a:buAutoNum type="arabicPeriod" startAt="10"/>
            </a:pPr>
            <a:r>
              <a:rPr lang="en-US" sz="1700" dirty="0">
                <a:solidFill>
                  <a:srgbClr val="D9E1FF"/>
                </a:solidFill>
                <a:latin typeface="Martel Sans Light" pitchFamily="34" charset="0"/>
                <a:ea typeface="Martel Sans Light" pitchFamily="34" charset="-122"/>
                <a:cs typeface="Martel Sans Light" pitchFamily="34" charset="-120"/>
              </a:rPr>
              <a:t>Dashboard Plateforme Geld Pilot </a:t>
            </a:r>
            <a:endParaRPr lang="en-US" sz="1700" dirty="0"/>
          </a:p>
        </p:txBody>
      </p:sp>
      <p:sp>
        <p:nvSpPr>
          <p:cNvPr id="13" name="Text 11"/>
          <p:cNvSpPr/>
          <p:nvPr/>
        </p:nvSpPr>
        <p:spPr>
          <a:xfrm>
            <a:off x="769977" y="5983367"/>
            <a:ext cx="13090446" cy="351949"/>
          </a:xfrm>
          <a:prstGeom prst="rect">
            <a:avLst/>
          </a:prstGeom>
          <a:noFill/>
          <a:ln/>
        </p:spPr>
        <p:txBody>
          <a:bodyPr wrap="none" lIns="0" tIns="0" rIns="0" bIns="0" rtlCol="0" anchor="t"/>
          <a:lstStyle/>
          <a:p>
            <a:pPr marL="342900" indent="-342900" algn="l">
              <a:lnSpc>
                <a:spcPts val="2750"/>
              </a:lnSpc>
              <a:buSzPct val="100000"/>
              <a:buFont typeface="+mj-lt"/>
              <a:buAutoNum type="arabicPeriod" startAt="11"/>
            </a:pPr>
            <a:r>
              <a:rPr lang="en-US" sz="1700" dirty="0">
                <a:solidFill>
                  <a:srgbClr val="D9E1FF"/>
                </a:solidFill>
                <a:latin typeface="Martel Sans Light" pitchFamily="34" charset="0"/>
                <a:ea typeface="Martel Sans Light" pitchFamily="34" charset="-122"/>
                <a:cs typeface="Martel Sans Light" pitchFamily="34" charset="-120"/>
              </a:rPr>
              <a:t>Dashboard Power BI pour Visualisation des Données</a:t>
            </a:r>
            <a:endParaRPr lang="en-US" sz="1700" dirty="0"/>
          </a:p>
        </p:txBody>
      </p:sp>
      <p:sp>
        <p:nvSpPr>
          <p:cNvPr id="14" name="Text 12"/>
          <p:cNvSpPr/>
          <p:nvPr/>
        </p:nvSpPr>
        <p:spPr>
          <a:xfrm>
            <a:off x="769977" y="6412230"/>
            <a:ext cx="13090446" cy="351949"/>
          </a:xfrm>
          <a:prstGeom prst="rect">
            <a:avLst/>
          </a:prstGeom>
          <a:noFill/>
          <a:ln/>
        </p:spPr>
        <p:txBody>
          <a:bodyPr wrap="none" lIns="0" tIns="0" rIns="0" bIns="0" rtlCol="0" anchor="t"/>
          <a:lstStyle/>
          <a:p>
            <a:pPr marL="342900" indent="-342900" algn="l">
              <a:lnSpc>
                <a:spcPts val="2750"/>
              </a:lnSpc>
              <a:buSzPct val="100000"/>
              <a:buFont typeface="+mj-lt"/>
              <a:buAutoNum type="arabicPeriod" startAt="12"/>
            </a:pPr>
            <a:r>
              <a:rPr lang="en-US" sz="1700" dirty="0">
                <a:solidFill>
                  <a:srgbClr val="D9E1FF"/>
                </a:solidFill>
                <a:latin typeface="Martel Sans Light" pitchFamily="34" charset="0"/>
                <a:ea typeface="Martel Sans Light" pitchFamily="34" charset="-122"/>
                <a:cs typeface="Martel Sans Light" pitchFamily="34" charset="-120"/>
              </a:rPr>
              <a:t>Geld Pilot Modèles de Machine Learning pour la Prédiction Financière </a:t>
            </a:r>
            <a:endParaRPr lang="en-US" sz="1700" dirty="0"/>
          </a:p>
        </p:txBody>
      </p:sp>
      <p:sp>
        <p:nvSpPr>
          <p:cNvPr id="15" name="Text 13"/>
          <p:cNvSpPr/>
          <p:nvPr/>
        </p:nvSpPr>
        <p:spPr>
          <a:xfrm>
            <a:off x="769977" y="6841093"/>
            <a:ext cx="13090446" cy="351949"/>
          </a:xfrm>
          <a:prstGeom prst="rect">
            <a:avLst/>
          </a:prstGeom>
          <a:noFill/>
          <a:ln/>
        </p:spPr>
        <p:txBody>
          <a:bodyPr wrap="none" lIns="0" tIns="0" rIns="0" bIns="0" rtlCol="0" anchor="t"/>
          <a:lstStyle/>
          <a:p>
            <a:pPr marL="342900" indent="-342900" algn="l">
              <a:lnSpc>
                <a:spcPts val="2750"/>
              </a:lnSpc>
              <a:buSzPct val="100000"/>
              <a:buFont typeface="+mj-lt"/>
              <a:buAutoNum type="arabicPeriod" startAt="13"/>
            </a:pPr>
            <a:r>
              <a:rPr lang="en-US" sz="1700" dirty="0">
                <a:solidFill>
                  <a:srgbClr val="D9E1FF"/>
                </a:solidFill>
                <a:latin typeface="Martel Sans Light" pitchFamily="34" charset="0"/>
                <a:ea typeface="Martel Sans Light" pitchFamily="34" charset="-122"/>
                <a:cs typeface="Martel Sans Light" pitchFamily="34" charset="-120"/>
              </a:rPr>
              <a:t>Chatbot Personnalisé pour Assistance IA</a:t>
            </a:r>
            <a:endParaRPr lang="en-US" sz="1700" dirty="0"/>
          </a:p>
        </p:txBody>
      </p:sp>
      <p:sp>
        <p:nvSpPr>
          <p:cNvPr id="16" name="Text 14"/>
          <p:cNvSpPr/>
          <p:nvPr/>
        </p:nvSpPr>
        <p:spPr>
          <a:xfrm>
            <a:off x="769977" y="7269956"/>
            <a:ext cx="13090446" cy="351949"/>
          </a:xfrm>
          <a:prstGeom prst="rect">
            <a:avLst/>
          </a:prstGeom>
          <a:noFill/>
          <a:ln/>
        </p:spPr>
        <p:txBody>
          <a:bodyPr wrap="none" lIns="0" tIns="0" rIns="0" bIns="0" rtlCol="0" anchor="t"/>
          <a:lstStyle/>
          <a:p>
            <a:pPr marL="342900" indent="-342900" algn="l">
              <a:lnSpc>
                <a:spcPts val="2750"/>
              </a:lnSpc>
              <a:buSzPct val="100000"/>
              <a:buFont typeface="+mj-lt"/>
              <a:buAutoNum type="arabicPeriod" startAt="14"/>
            </a:pPr>
            <a:r>
              <a:rPr lang="en-US" sz="1700" dirty="0">
                <a:solidFill>
                  <a:srgbClr val="D9E1FF"/>
                </a:solidFill>
                <a:latin typeface="Martel Sans Light" pitchFamily="34" charset="0"/>
                <a:ea typeface="Martel Sans Light" pitchFamily="34" charset="-122"/>
                <a:cs typeface="Martel Sans Light" pitchFamily="34" charset="-120"/>
              </a:rPr>
              <a:t> Creation Du </a:t>
            </a:r>
            <a:r>
              <a:rPr lang="en-US" sz="1700" dirty="0" err="1">
                <a:solidFill>
                  <a:srgbClr val="D9E1FF"/>
                </a:solidFill>
                <a:latin typeface="Martel Sans Light" pitchFamily="34" charset="0"/>
                <a:ea typeface="Martel Sans Light" pitchFamily="34" charset="-122"/>
                <a:cs typeface="Martel Sans Light" pitchFamily="34" charset="-120"/>
              </a:rPr>
              <a:t>Bibliothéque</a:t>
            </a:r>
            <a:r>
              <a:rPr lang="en-US" sz="1700" dirty="0">
                <a:solidFill>
                  <a:srgbClr val="D9E1FF"/>
                </a:solidFill>
                <a:latin typeface="Martel Sans Light" pitchFamily="34" charset="0"/>
                <a:ea typeface="Martel Sans Light" pitchFamily="34" charset="-122"/>
                <a:cs typeface="Martel Sans Light" pitchFamily="34" charset="-120"/>
              </a:rPr>
              <a:t> </a:t>
            </a:r>
            <a:r>
              <a:rPr lang="en-US" sz="1700" dirty="0" err="1">
                <a:solidFill>
                  <a:srgbClr val="D9E1FF"/>
                </a:solidFill>
                <a:latin typeface="Martel Sans Light" pitchFamily="34" charset="0"/>
                <a:ea typeface="Martel Sans Light" pitchFamily="34" charset="-122"/>
                <a:cs typeface="Martel Sans Light" pitchFamily="34" charset="-120"/>
              </a:rPr>
              <a:t>VecoFlexTnMWS</a:t>
            </a:r>
            <a:r>
              <a:rPr lang="en-US" sz="1700" dirty="0">
                <a:solidFill>
                  <a:srgbClr val="D9E1FF"/>
                </a:solidFill>
                <a:latin typeface="Martel Sans Light" pitchFamily="34" charset="0"/>
                <a:ea typeface="Martel Sans Light" pitchFamily="34" charset="-122"/>
                <a:cs typeface="Martel Sans Light" pitchFamily="34" charset="-120"/>
              </a:rPr>
              <a:t> Sur Le NPM</a:t>
            </a:r>
          </a:p>
        </p:txBody>
      </p:sp>
      <p:sp>
        <p:nvSpPr>
          <p:cNvPr id="17" name="Rectangle 16">
            <a:extLst>
              <a:ext uri="{FF2B5EF4-FFF2-40B4-BE49-F238E27FC236}">
                <a16:creationId xmlns:a16="http://schemas.microsoft.com/office/drawing/2014/main" id="{CD060C02-E744-BE47-BA81-B418EB5AF2EF}"/>
              </a:ext>
            </a:extLst>
          </p:cNvPr>
          <p:cNvSpPr/>
          <p:nvPr/>
        </p:nvSpPr>
        <p:spPr>
          <a:xfrm>
            <a:off x="12655253" y="7654175"/>
            <a:ext cx="1951463" cy="524107"/>
          </a:xfrm>
          <a:prstGeom prst="rect">
            <a:avLst/>
          </a:prstGeom>
          <a:solidFill>
            <a:srgbClr val="100C35"/>
          </a:solidFill>
          <a:ln>
            <a:solidFill>
              <a:srgbClr val="100C3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8" name="Text 14">
            <a:extLst>
              <a:ext uri="{FF2B5EF4-FFF2-40B4-BE49-F238E27FC236}">
                <a16:creationId xmlns:a16="http://schemas.microsoft.com/office/drawing/2014/main" id="{3399B6E1-0C41-6173-7959-870111CFAA6B}"/>
              </a:ext>
            </a:extLst>
          </p:cNvPr>
          <p:cNvSpPr/>
          <p:nvPr/>
        </p:nvSpPr>
        <p:spPr>
          <a:xfrm>
            <a:off x="769977" y="7621905"/>
            <a:ext cx="13090446" cy="351949"/>
          </a:xfrm>
          <a:prstGeom prst="rect">
            <a:avLst/>
          </a:prstGeom>
          <a:noFill/>
          <a:ln/>
        </p:spPr>
        <p:txBody>
          <a:bodyPr wrap="none" lIns="0" tIns="0" rIns="0" bIns="0" rtlCol="0" anchor="t"/>
          <a:lstStyle/>
          <a:p>
            <a:pPr algn="l">
              <a:lnSpc>
                <a:spcPts val="2750"/>
              </a:lnSpc>
              <a:buSzPct val="100000"/>
            </a:pPr>
            <a:r>
              <a:rPr lang="en-US" sz="1700" dirty="0">
                <a:solidFill>
                  <a:srgbClr val="D9E1FF"/>
                </a:solidFill>
                <a:latin typeface="Martel Sans Light" pitchFamily="34" charset="0"/>
                <a:ea typeface="Martel Sans Light" pitchFamily="34" charset="-122"/>
                <a:cs typeface="Martel Sans Light" pitchFamily="34" charset="-120"/>
              </a:rPr>
              <a:t>15. Conclusion</a:t>
            </a:r>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p:tgtEl>
                                          <p:spTgt spid="3"/>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fade">
                                      <p:cBhvr>
                                        <p:cTn id="24" dur="500"/>
                                        <p:tgtEl>
                                          <p:spTgt spid="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500"/>
                                        <p:tgtEl>
                                          <p:spTgt spid="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500"/>
                                        <p:tgtEl>
                                          <p:spTgt spid="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8">
                                            <p:txEl>
                                              <p:pRg st="0" end="0"/>
                                            </p:txEl>
                                          </p:spTgt>
                                        </p:tgtEl>
                                        <p:attrNameLst>
                                          <p:attrName>style.visibility</p:attrName>
                                        </p:attrNameLst>
                                      </p:cBhvr>
                                      <p:to>
                                        <p:strVal val="visible"/>
                                      </p:to>
                                    </p:set>
                                    <p:animEffect transition="in" filter="fade">
                                      <p:cBhvr>
                                        <p:cTn id="39" dur="500"/>
                                        <p:tgtEl>
                                          <p:spTgt spid="8">
                                            <p:txEl>
                                              <p:pRg st="0" end="0"/>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9">
                                            <p:txEl>
                                              <p:pRg st="0" end="0"/>
                                            </p:txEl>
                                          </p:spTgt>
                                        </p:tgtEl>
                                        <p:attrNameLst>
                                          <p:attrName>style.visibility</p:attrName>
                                        </p:attrNameLst>
                                      </p:cBhvr>
                                      <p:to>
                                        <p:strVal val="visible"/>
                                      </p:to>
                                    </p:set>
                                    <p:animEffect transition="in" filter="fade">
                                      <p:cBhvr>
                                        <p:cTn id="44" dur="500"/>
                                        <p:tgtEl>
                                          <p:spTgt spid="9">
                                            <p:txEl>
                                              <p:pRg st="0" end="0"/>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0"/>
                                        </p:tgtEl>
                                        <p:attrNameLst>
                                          <p:attrName>style.visibility</p:attrName>
                                        </p:attrNameLst>
                                      </p:cBhvr>
                                      <p:to>
                                        <p:strVal val="visible"/>
                                      </p:to>
                                    </p:set>
                                    <p:animEffect transition="in" filter="fade">
                                      <p:cBhvr>
                                        <p:cTn id="49" dur="50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1">
                                            <p:txEl>
                                              <p:pRg st="0" end="0"/>
                                            </p:txEl>
                                          </p:spTgt>
                                        </p:tgtEl>
                                        <p:attrNameLst>
                                          <p:attrName>style.visibility</p:attrName>
                                        </p:attrNameLst>
                                      </p:cBhvr>
                                      <p:to>
                                        <p:strVal val="visible"/>
                                      </p:to>
                                    </p:set>
                                    <p:animEffect transition="in" filter="fade">
                                      <p:cBhvr>
                                        <p:cTn id="54" dur="500"/>
                                        <p:tgtEl>
                                          <p:spTgt spid="11">
                                            <p:txEl>
                                              <p:pRg st="0" end="0"/>
                                            </p:txEl>
                                          </p:spTgt>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2">
                                            <p:txEl>
                                              <p:pRg st="0" end="0"/>
                                            </p:txEl>
                                          </p:spTgt>
                                        </p:tgtEl>
                                        <p:attrNameLst>
                                          <p:attrName>style.visibility</p:attrName>
                                        </p:attrNameLst>
                                      </p:cBhvr>
                                      <p:to>
                                        <p:strVal val="visible"/>
                                      </p:to>
                                    </p:set>
                                    <p:animEffect transition="in" filter="fade">
                                      <p:cBhvr>
                                        <p:cTn id="59" dur="500"/>
                                        <p:tgtEl>
                                          <p:spTgt spid="12">
                                            <p:txEl>
                                              <p:pRg st="0" end="0"/>
                                            </p:txEl>
                                          </p:spTgt>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3">
                                            <p:txEl>
                                              <p:pRg st="0" end="0"/>
                                            </p:txEl>
                                          </p:spTgt>
                                        </p:tgtEl>
                                        <p:attrNameLst>
                                          <p:attrName>style.visibility</p:attrName>
                                        </p:attrNameLst>
                                      </p:cBhvr>
                                      <p:to>
                                        <p:strVal val="visible"/>
                                      </p:to>
                                    </p:set>
                                    <p:animEffect transition="in" filter="fade">
                                      <p:cBhvr>
                                        <p:cTn id="64" dur="500"/>
                                        <p:tgtEl>
                                          <p:spTgt spid="13">
                                            <p:txEl>
                                              <p:pRg st="0" end="0"/>
                                            </p:txEl>
                                          </p:spTgt>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grpId="0" nodeType="clickEffect">
                                  <p:stCondLst>
                                    <p:cond delay="0"/>
                                  </p:stCondLst>
                                  <p:childTnLst>
                                    <p:set>
                                      <p:cBhvr>
                                        <p:cTn id="68" dur="1" fill="hold">
                                          <p:stCondLst>
                                            <p:cond delay="0"/>
                                          </p:stCondLst>
                                        </p:cTn>
                                        <p:tgtEl>
                                          <p:spTgt spid="14"/>
                                        </p:tgtEl>
                                        <p:attrNameLst>
                                          <p:attrName>style.visibility</p:attrName>
                                        </p:attrNameLst>
                                      </p:cBhvr>
                                      <p:to>
                                        <p:strVal val="visible"/>
                                      </p:to>
                                    </p:set>
                                    <p:animEffect transition="in" filter="fade">
                                      <p:cBhvr>
                                        <p:cTn id="69" dur="500"/>
                                        <p:tgtEl>
                                          <p:spTgt spid="1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5">
                                            <p:txEl>
                                              <p:pRg st="0" end="0"/>
                                            </p:txEl>
                                          </p:spTgt>
                                        </p:tgtEl>
                                        <p:attrNameLst>
                                          <p:attrName>style.visibility</p:attrName>
                                        </p:attrNameLst>
                                      </p:cBhvr>
                                      <p:to>
                                        <p:strVal val="visible"/>
                                      </p:to>
                                    </p:set>
                                    <p:animEffect transition="in" filter="fade">
                                      <p:cBhvr>
                                        <p:cTn id="74" dur="500"/>
                                        <p:tgtEl>
                                          <p:spTgt spid="15">
                                            <p:txEl>
                                              <p:pRg st="0" end="0"/>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10" presetClass="entr" presetSubtype="0" fill="hold" grpId="0" nodeType="clickEffect">
                                  <p:stCondLst>
                                    <p:cond delay="0"/>
                                  </p:stCondLst>
                                  <p:childTnLst>
                                    <p:set>
                                      <p:cBhvr>
                                        <p:cTn id="78" dur="1" fill="hold">
                                          <p:stCondLst>
                                            <p:cond delay="0"/>
                                          </p:stCondLst>
                                        </p:cTn>
                                        <p:tgtEl>
                                          <p:spTgt spid="16"/>
                                        </p:tgtEl>
                                        <p:attrNameLst>
                                          <p:attrName>style.visibility</p:attrName>
                                        </p:attrNameLst>
                                      </p:cBhvr>
                                      <p:to>
                                        <p:strVal val="visible"/>
                                      </p:to>
                                    </p:set>
                                    <p:animEffect transition="in" filter="fade">
                                      <p:cBhvr>
                                        <p:cTn id="79" dur="500"/>
                                        <p:tgtEl>
                                          <p:spTgt spid="16"/>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clickEffect">
                                  <p:stCondLst>
                                    <p:cond delay="0"/>
                                  </p:stCondLst>
                                  <p:childTnLst>
                                    <p:set>
                                      <p:cBhvr>
                                        <p:cTn id="83" dur="1" fill="hold">
                                          <p:stCondLst>
                                            <p:cond delay="0"/>
                                          </p:stCondLst>
                                        </p:cTn>
                                        <p:tgtEl>
                                          <p:spTgt spid="18"/>
                                        </p:tgtEl>
                                        <p:attrNameLst>
                                          <p:attrName>style.visibility</p:attrName>
                                        </p:attrNameLst>
                                      </p:cBhvr>
                                      <p:to>
                                        <p:strVal val="visible"/>
                                      </p:to>
                                    </p:set>
                                    <p:animEffect transition="in" filter="fade">
                                      <p:cBhvr>
                                        <p:cTn id="84"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10" grpId="0" animBg="1"/>
      <p:bldP spid="14" grpId="0" animBg="1"/>
      <p:bldP spid="16" grpId="0" animBg="1"/>
      <p:bldP spid="1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144000" y="0"/>
            <a:ext cx="5486400" cy="8229600"/>
          </a:xfrm>
          <a:prstGeom prst="rect">
            <a:avLst/>
          </a:prstGeom>
        </p:spPr>
      </p:pic>
      <p:sp>
        <p:nvSpPr>
          <p:cNvPr id="3" name="Text 0"/>
          <p:cNvSpPr/>
          <p:nvPr/>
        </p:nvSpPr>
        <p:spPr>
          <a:xfrm>
            <a:off x="1462192" y="1356447"/>
            <a:ext cx="5632490" cy="704017"/>
          </a:xfrm>
          <a:prstGeom prst="rect">
            <a:avLst/>
          </a:prstGeom>
          <a:noFill/>
          <a:ln/>
        </p:spPr>
        <p:txBody>
          <a:bodyPr wrap="none" lIns="0" tIns="0" rIns="0" bIns="0" rtlCol="0" anchor="t"/>
          <a:lstStyle/>
          <a:p>
            <a:pPr marL="0" indent="0" algn="ctr">
              <a:lnSpc>
                <a:spcPts val="5500"/>
              </a:lnSpc>
              <a:buNone/>
            </a:pPr>
            <a:r>
              <a:rPr lang="en-US" sz="4400" dirty="0">
                <a:solidFill>
                  <a:srgbClr val="FFFFFF"/>
                </a:solidFill>
                <a:latin typeface="Kanit" pitchFamily="34" charset="0"/>
                <a:ea typeface="Kanit" pitchFamily="34" charset="-122"/>
                <a:cs typeface="Kanit" pitchFamily="34" charset="-120"/>
              </a:rPr>
              <a:t>Introduction</a:t>
            </a:r>
            <a:endParaRPr lang="en-US" sz="4400" dirty="0"/>
          </a:p>
        </p:txBody>
      </p:sp>
      <p:sp>
        <p:nvSpPr>
          <p:cNvPr id="4" name="Text 1"/>
          <p:cNvSpPr/>
          <p:nvPr/>
        </p:nvSpPr>
        <p:spPr>
          <a:xfrm>
            <a:off x="837724" y="2586706"/>
            <a:ext cx="7468553" cy="1532096"/>
          </a:xfrm>
          <a:prstGeom prst="rect">
            <a:avLst/>
          </a:prstGeom>
          <a:noFill/>
          <a:ln/>
        </p:spPr>
        <p:txBody>
          <a:bodyPr wrap="square" lIns="0" tIns="0" rIns="0" bIns="0" rtlCol="0" anchor="t"/>
          <a:lstStyle/>
          <a:p>
            <a:pPr marL="0" indent="0" algn="l">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Ce projet présente une solution de gestion financière innovante pour automatiser et améliorer les processus financiers chez Alight MEA, offrant une plateforme intuitive pour une gestion simplifiée et une prise de décision optimisée.</a:t>
            </a:r>
            <a:endParaRPr lang="en-US" sz="1850" dirty="0"/>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4" fill="hold" nodeType="clickEffect">
                                  <p:stCondLst>
                                    <p:cond delay="0"/>
                                  </p:stCondLst>
                                  <p:childTnLst>
                                    <p:set>
                                      <p:cBhvr>
                                        <p:cTn id="13" dur="1" fill="hold">
                                          <p:stCondLst>
                                            <p:cond delay="0"/>
                                          </p:stCondLst>
                                        </p:cTn>
                                        <p:tgtEl>
                                          <p:spTgt spid="4">
                                            <p:txEl>
                                              <p:pRg st="0" end="0"/>
                                            </p:txEl>
                                          </p:spTgt>
                                        </p:tgtEl>
                                        <p:attrNameLst>
                                          <p:attrName>style.visibility</p:attrName>
                                        </p:attrNameLst>
                                      </p:cBhvr>
                                      <p:to>
                                        <p:strVal val="visible"/>
                                      </p:to>
                                    </p:set>
                                    <p:animEffect transition="in" filter="wipe(down)">
                                      <p:cBhvr>
                                        <p:cTn id="14" dur="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837724" y="928318"/>
            <a:ext cx="12954952" cy="1408033"/>
          </a:xfrm>
          <a:prstGeom prst="rect">
            <a:avLst/>
          </a:prstGeom>
          <a:noFill/>
          <a:ln/>
        </p:spPr>
        <p:txBody>
          <a:bodyPr wrap="square" lIns="0" tIns="0" rIns="0" bIns="0" rtlCol="0" anchor="t"/>
          <a:lstStyle/>
          <a:p>
            <a:pPr marL="0" indent="0" algn="ctr">
              <a:lnSpc>
                <a:spcPts val="5500"/>
              </a:lnSpc>
              <a:buNone/>
            </a:pPr>
            <a:r>
              <a:rPr lang="en-US" sz="4400" dirty="0">
                <a:solidFill>
                  <a:srgbClr val="FFFFFF"/>
                </a:solidFill>
                <a:latin typeface="Kanit" pitchFamily="34" charset="0"/>
                <a:ea typeface="Kanit" pitchFamily="34" charset="-122"/>
                <a:cs typeface="Kanit" pitchFamily="34" charset="-120"/>
              </a:rPr>
              <a:t>Interface pour Découvrir les Objectifs de la Plateforme Geld Pilot</a:t>
            </a:r>
            <a:endParaRPr lang="en-US" sz="4400" dirty="0"/>
          </a:p>
        </p:txBody>
      </p:sp>
      <p:pic>
        <p:nvPicPr>
          <p:cNvPr id="3" name="Image 0" descr="preencoded.png"/>
          <p:cNvPicPr>
            <a:picLocks noChangeAspect="1"/>
          </p:cNvPicPr>
          <p:nvPr/>
        </p:nvPicPr>
        <p:blipFill>
          <a:blip r:embed="rId3"/>
          <a:stretch>
            <a:fillRect/>
          </a:stretch>
        </p:blipFill>
        <p:spPr>
          <a:xfrm>
            <a:off x="837724" y="3851681"/>
            <a:ext cx="598408" cy="598408"/>
          </a:xfrm>
          <a:prstGeom prst="rect">
            <a:avLst/>
          </a:prstGeom>
        </p:spPr>
      </p:pic>
      <p:sp>
        <p:nvSpPr>
          <p:cNvPr id="4" name="Text 1"/>
          <p:cNvSpPr/>
          <p:nvPr/>
        </p:nvSpPr>
        <p:spPr>
          <a:xfrm>
            <a:off x="1675448" y="3809890"/>
            <a:ext cx="2816185" cy="351949"/>
          </a:xfrm>
          <a:prstGeom prst="rect">
            <a:avLst/>
          </a:prstGeom>
          <a:noFill/>
          <a:ln/>
        </p:spPr>
        <p:txBody>
          <a:bodyPr wrap="none" lIns="0" tIns="0" rIns="0" bIns="0" rtlCol="0" anchor="t"/>
          <a:lstStyle/>
          <a:p>
            <a:pPr marL="0" indent="0" algn="l">
              <a:lnSpc>
                <a:spcPts val="2750"/>
              </a:lnSpc>
              <a:buNone/>
            </a:pPr>
            <a:r>
              <a:rPr lang="en-US" sz="2200" dirty="0">
                <a:solidFill>
                  <a:srgbClr val="D9E1FF"/>
                </a:solidFill>
                <a:latin typeface="Kanit" pitchFamily="34" charset="0"/>
                <a:ea typeface="Kanit" pitchFamily="34" charset="-122"/>
                <a:cs typeface="Kanit" pitchFamily="34" charset="-120"/>
              </a:rPr>
              <a:t>Vue d'ensemble</a:t>
            </a:r>
            <a:endParaRPr lang="en-US" sz="2200" dirty="0"/>
          </a:p>
        </p:txBody>
      </p:sp>
      <p:sp>
        <p:nvSpPr>
          <p:cNvPr id="5" name="Text 2"/>
          <p:cNvSpPr/>
          <p:nvPr/>
        </p:nvSpPr>
        <p:spPr>
          <a:xfrm>
            <a:off x="1675448" y="4305428"/>
            <a:ext cx="3241238" cy="766048"/>
          </a:xfrm>
          <a:prstGeom prst="rect">
            <a:avLst/>
          </a:prstGeom>
          <a:noFill/>
          <a:ln/>
        </p:spPr>
        <p:txBody>
          <a:bodyPr wrap="square" lIns="0" tIns="0" rIns="0" bIns="0" rtlCol="0" anchor="t"/>
          <a:lstStyle/>
          <a:p>
            <a:pPr marL="0" indent="0" algn="l">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Fonctionnalités et avantages clés.</a:t>
            </a:r>
            <a:endParaRPr lang="en-US" sz="1850" dirty="0"/>
          </a:p>
        </p:txBody>
      </p:sp>
      <p:pic>
        <p:nvPicPr>
          <p:cNvPr id="6" name="Image 1" descr="preencoded.png"/>
          <p:cNvPicPr>
            <a:picLocks noChangeAspect="1"/>
          </p:cNvPicPr>
          <p:nvPr/>
        </p:nvPicPr>
        <p:blipFill>
          <a:blip r:embed="rId4"/>
          <a:stretch>
            <a:fillRect/>
          </a:stretch>
        </p:blipFill>
        <p:spPr>
          <a:xfrm>
            <a:off x="5275659" y="3851681"/>
            <a:ext cx="598408" cy="598408"/>
          </a:xfrm>
          <a:prstGeom prst="rect">
            <a:avLst/>
          </a:prstGeom>
        </p:spPr>
      </p:pic>
      <p:sp>
        <p:nvSpPr>
          <p:cNvPr id="7" name="Text 3"/>
          <p:cNvSpPr/>
          <p:nvPr/>
        </p:nvSpPr>
        <p:spPr>
          <a:xfrm>
            <a:off x="6113383" y="3809890"/>
            <a:ext cx="3142893" cy="351949"/>
          </a:xfrm>
          <a:prstGeom prst="rect">
            <a:avLst/>
          </a:prstGeom>
          <a:noFill/>
          <a:ln/>
        </p:spPr>
        <p:txBody>
          <a:bodyPr wrap="none" lIns="0" tIns="0" rIns="0" bIns="0" rtlCol="0" anchor="t"/>
          <a:lstStyle/>
          <a:p>
            <a:pPr marL="0" indent="0" algn="l">
              <a:lnSpc>
                <a:spcPts val="2750"/>
              </a:lnSpc>
              <a:buNone/>
            </a:pPr>
            <a:r>
              <a:rPr lang="en-US" sz="2200" dirty="0">
                <a:solidFill>
                  <a:srgbClr val="D9E1FF"/>
                </a:solidFill>
                <a:latin typeface="Kanit" pitchFamily="34" charset="0"/>
                <a:ea typeface="Kanit" pitchFamily="34" charset="-122"/>
                <a:cs typeface="Kanit" pitchFamily="34" charset="-120"/>
              </a:rPr>
              <a:t>Comprendre les objectifs</a:t>
            </a:r>
            <a:endParaRPr lang="en-US" sz="2200" dirty="0"/>
          </a:p>
        </p:txBody>
      </p:sp>
      <p:sp>
        <p:nvSpPr>
          <p:cNvPr id="8" name="Text 4"/>
          <p:cNvSpPr/>
          <p:nvPr/>
        </p:nvSpPr>
        <p:spPr>
          <a:xfrm>
            <a:off x="6113383" y="4305428"/>
            <a:ext cx="3241238" cy="383024"/>
          </a:xfrm>
          <a:prstGeom prst="rect">
            <a:avLst/>
          </a:prstGeom>
          <a:noFill/>
          <a:ln/>
        </p:spPr>
        <p:txBody>
          <a:bodyPr wrap="none" lIns="0" tIns="0" rIns="0" bIns="0" rtlCol="0" anchor="t"/>
          <a:lstStyle/>
          <a:p>
            <a:pPr marL="0" indent="0" algn="l">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Objectifs financiers clairs.</a:t>
            </a:r>
            <a:endParaRPr lang="en-US" sz="1850" dirty="0"/>
          </a:p>
        </p:txBody>
      </p:sp>
      <p:pic>
        <p:nvPicPr>
          <p:cNvPr id="9" name="Image 2" descr="preencoded.png"/>
          <p:cNvPicPr>
            <a:picLocks noChangeAspect="1"/>
          </p:cNvPicPr>
          <p:nvPr/>
        </p:nvPicPr>
        <p:blipFill>
          <a:blip r:embed="rId5"/>
          <a:stretch>
            <a:fillRect/>
          </a:stretch>
        </p:blipFill>
        <p:spPr>
          <a:xfrm>
            <a:off x="9713595" y="3851681"/>
            <a:ext cx="598408" cy="598408"/>
          </a:xfrm>
          <a:prstGeom prst="rect">
            <a:avLst/>
          </a:prstGeom>
        </p:spPr>
      </p:pic>
      <p:sp>
        <p:nvSpPr>
          <p:cNvPr id="10" name="Text 5"/>
          <p:cNvSpPr/>
          <p:nvPr/>
        </p:nvSpPr>
        <p:spPr>
          <a:xfrm>
            <a:off x="10551319" y="3809890"/>
            <a:ext cx="2816185" cy="351949"/>
          </a:xfrm>
          <a:prstGeom prst="rect">
            <a:avLst/>
          </a:prstGeom>
          <a:noFill/>
          <a:ln/>
        </p:spPr>
        <p:txBody>
          <a:bodyPr wrap="none" lIns="0" tIns="0" rIns="0" bIns="0" rtlCol="0" anchor="t"/>
          <a:lstStyle/>
          <a:p>
            <a:pPr marL="0" indent="0" algn="l">
              <a:lnSpc>
                <a:spcPts val="2750"/>
              </a:lnSpc>
              <a:buNone/>
            </a:pPr>
            <a:r>
              <a:rPr lang="en-US" sz="2200" dirty="0">
                <a:solidFill>
                  <a:srgbClr val="D9E1FF"/>
                </a:solidFill>
                <a:latin typeface="Kanit" pitchFamily="34" charset="0"/>
                <a:ea typeface="Kanit" pitchFamily="34" charset="-122"/>
                <a:cs typeface="Kanit" pitchFamily="34" charset="-120"/>
              </a:rPr>
              <a:t>Faciliter l'accès</a:t>
            </a:r>
            <a:endParaRPr lang="en-US" sz="2200" dirty="0"/>
          </a:p>
        </p:txBody>
      </p:sp>
      <p:sp>
        <p:nvSpPr>
          <p:cNvPr id="11" name="Text 6"/>
          <p:cNvSpPr/>
          <p:nvPr/>
        </p:nvSpPr>
        <p:spPr>
          <a:xfrm>
            <a:off x="10551319" y="4305428"/>
            <a:ext cx="3241358" cy="766048"/>
          </a:xfrm>
          <a:prstGeom prst="rect">
            <a:avLst/>
          </a:prstGeom>
          <a:noFill/>
          <a:ln/>
        </p:spPr>
        <p:txBody>
          <a:bodyPr wrap="square" lIns="0" tIns="0" rIns="0" bIns="0" rtlCol="0" anchor="t"/>
          <a:lstStyle/>
          <a:p>
            <a:pPr marL="0" indent="0" algn="l">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Autorisation de la responsable financière.</a:t>
            </a:r>
            <a:endParaRPr lang="en-US" sz="1850" dirty="0"/>
          </a:p>
        </p:txBody>
      </p:sp>
      <p:sp>
        <p:nvSpPr>
          <p:cNvPr id="12" name="Rectangle 11">
            <a:extLst>
              <a:ext uri="{FF2B5EF4-FFF2-40B4-BE49-F238E27FC236}">
                <a16:creationId xmlns:a16="http://schemas.microsoft.com/office/drawing/2014/main" id="{BE270917-49D9-086A-5643-5D6599DABE17}"/>
              </a:ext>
            </a:extLst>
          </p:cNvPr>
          <p:cNvSpPr/>
          <p:nvPr/>
        </p:nvSpPr>
        <p:spPr>
          <a:xfrm>
            <a:off x="12655253" y="7654175"/>
            <a:ext cx="1951463" cy="524107"/>
          </a:xfrm>
          <a:prstGeom prst="rect">
            <a:avLst/>
          </a:prstGeom>
          <a:solidFill>
            <a:srgbClr val="100C35"/>
          </a:solidFill>
          <a:ln>
            <a:solidFill>
              <a:srgbClr val="100C3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p:tgtEl>
                                          <p:spTgt spid="3"/>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4"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wipe(down)">
                                      <p:cBhvr>
                                        <p:cTn id="19" dur="500"/>
                                        <p:tgtEl>
                                          <p:spTgt spid="4"/>
                                        </p:tgtEl>
                                      </p:cBhvr>
                                    </p:animEffec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5"/>
                                        </p:tgtEl>
                                        <p:attrNameLst>
                                          <p:attrName>style.visibility</p:attrName>
                                        </p:attrNameLst>
                                      </p:cBhvr>
                                      <p:to>
                                        <p:strVal val="visible"/>
                                      </p:to>
                                    </p:set>
                                    <p:anim calcmode="lin" valueType="num">
                                      <p:cBhvr additive="base">
                                        <p:cTn id="24" dur="500" fill="hold"/>
                                        <p:tgtEl>
                                          <p:spTgt spid="5"/>
                                        </p:tgtEl>
                                        <p:attrNameLst>
                                          <p:attrName>ppt_x</p:attrName>
                                        </p:attrNameLst>
                                      </p:cBhvr>
                                      <p:tavLst>
                                        <p:tav tm="0">
                                          <p:val>
                                            <p:strVal val="#ppt_x"/>
                                          </p:val>
                                        </p:tav>
                                        <p:tav tm="100000">
                                          <p:val>
                                            <p:strVal val="#ppt_x"/>
                                          </p:val>
                                        </p:tav>
                                      </p:tavLst>
                                    </p:anim>
                                    <p:anim calcmode="lin" valueType="num">
                                      <p:cBhvr additive="base">
                                        <p:cTn id="25"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
                                        </p:tgtEl>
                                        <p:attrNameLst>
                                          <p:attrName>style.visibility</p:attrName>
                                        </p:attrNameLst>
                                      </p:cBhvr>
                                      <p:to>
                                        <p:strVal val="visible"/>
                                      </p:to>
                                    </p:set>
                                    <p:animEffect transition="in" filter="fade">
                                      <p:cBhvr>
                                        <p:cTn id="30" dur="500"/>
                                        <p:tgtEl>
                                          <p:spTgt spid="6"/>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4"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down)">
                                      <p:cBhvr>
                                        <p:cTn id="35" dur="5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 presetClass="entr" presetSubtype="4" fill="hold" grpId="0" nodeType="clickEffect">
                                  <p:stCondLst>
                                    <p:cond delay="0"/>
                                  </p:stCondLst>
                                  <p:childTnLst>
                                    <p:set>
                                      <p:cBhvr>
                                        <p:cTn id="39" dur="1" fill="hold">
                                          <p:stCondLst>
                                            <p:cond delay="0"/>
                                          </p:stCondLst>
                                        </p:cTn>
                                        <p:tgtEl>
                                          <p:spTgt spid="8"/>
                                        </p:tgtEl>
                                        <p:attrNameLst>
                                          <p:attrName>style.visibility</p:attrName>
                                        </p:attrNameLst>
                                      </p:cBhvr>
                                      <p:to>
                                        <p:strVal val="visible"/>
                                      </p:to>
                                    </p:set>
                                    <p:anim calcmode="lin" valueType="num">
                                      <p:cBhvr additive="base">
                                        <p:cTn id="40" dur="500" fill="hold"/>
                                        <p:tgtEl>
                                          <p:spTgt spid="8"/>
                                        </p:tgtEl>
                                        <p:attrNameLst>
                                          <p:attrName>ppt_x</p:attrName>
                                        </p:attrNameLst>
                                      </p:cBhvr>
                                      <p:tavLst>
                                        <p:tav tm="0">
                                          <p:val>
                                            <p:strVal val="#ppt_x"/>
                                          </p:val>
                                        </p:tav>
                                        <p:tav tm="100000">
                                          <p:val>
                                            <p:strVal val="#ppt_x"/>
                                          </p:val>
                                        </p:tav>
                                      </p:tavLst>
                                    </p:anim>
                                    <p:anim calcmode="lin" valueType="num">
                                      <p:cBhvr additive="base">
                                        <p:cTn id="41"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9"/>
                                        </p:tgtEl>
                                        <p:attrNameLst>
                                          <p:attrName>style.visibility</p:attrName>
                                        </p:attrNameLst>
                                      </p:cBhvr>
                                      <p:to>
                                        <p:strVal val="visible"/>
                                      </p:to>
                                    </p:set>
                                    <p:animEffect transition="in" filter="fade">
                                      <p:cBhvr>
                                        <p:cTn id="46" dur="500"/>
                                        <p:tgtEl>
                                          <p:spTgt spid="9"/>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4" fill="hold" nodeType="clickEffect">
                                  <p:stCondLst>
                                    <p:cond delay="0"/>
                                  </p:stCondLst>
                                  <p:childTnLst>
                                    <p:set>
                                      <p:cBhvr>
                                        <p:cTn id="50" dur="1" fill="hold">
                                          <p:stCondLst>
                                            <p:cond delay="0"/>
                                          </p:stCondLst>
                                        </p:cTn>
                                        <p:tgtEl>
                                          <p:spTgt spid="10">
                                            <p:txEl>
                                              <p:pRg st="0" end="0"/>
                                            </p:txEl>
                                          </p:spTgt>
                                        </p:tgtEl>
                                        <p:attrNameLst>
                                          <p:attrName>style.visibility</p:attrName>
                                        </p:attrNameLst>
                                      </p:cBhvr>
                                      <p:to>
                                        <p:strVal val="visible"/>
                                      </p:to>
                                    </p:set>
                                    <p:animEffect transition="in" filter="wipe(down)">
                                      <p:cBhvr>
                                        <p:cTn id="51" dur="500"/>
                                        <p:tgtEl>
                                          <p:spTgt spid="10">
                                            <p:txEl>
                                              <p:pRg st="0" end="0"/>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2" presetClass="entr" presetSubtype="4" fill="hold" nodeType="clickEffect">
                                  <p:stCondLst>
                                    <p:cond delay="0"/>
                                  </p:stCondLst>
                                  <p:childTnLst>
                                    <p:set>
                                      <p:cBhvr>
                                        <p:cTn id="55" dur="1" fill="hold">
                                          <p:stCondLst>
                                            <p:cond delay="0"/>
                                          </p:stCondLst>
                                        </p:cTn>
                                        <p:tgtEl>
                                          <p:spTgt spid="11">
                                            <p:txEl>
                                              <p:pRg st="0" end="0"/>
                                            </p:txEl>
                                          </p:spTgt>
                                        </p:tgtEl>
                                        <p:attrNameLst>
                                          <p:attrName>style.visibility</p:attrName>
                                        </p:attrNameLst>
                                      </p:cBhvr>
                                      <p:to>
                                        <p:strVal val="visible"/>
                                      </p:to>
                                    </p:set>
                                    <p:anim calcmode="lin" valueType="num">
                                      <p:cBhvr additive="base">
                                        <p:cTn id="56" dur="500" fill="hold"/>
                                        <p:tgtEl>
                                          <p:spTgt spid="11">
                                            <p:txEl>
                                              <p:pRg st="0" end="0"/>
                                            </p:txEl>
                                          </p:spTgt>
                                        </p:tgtEl>
                                        <p:attrNameLst>
                                          <p:attrName>ppt_x</p:attrName>
                                        </p:attrNameLst>
                                      </p:cBhvr>
                                      <p:tavLst>
                                        <p:tav tm="0">
                                          <p:val>
                                            <p:strVal val="#ppt_x"/>
                                          </p:val>
                                        </p:tav>
                                        <p:tav tm="100000">
                                          <p:val>
                                            <p:strVal val="#ppt_x"/>
                                          </p:val>
                                        </p:tav>
                                      </p:tavLst>
                                    </p:anim>
                                    <p:anim calcmode="lin" valueType="num">
                                      <p:cBhvr additive="base">
                                        <p:cTn id="57" dur="500" fill="hold"/>
                                        <p:tgtEl>
                                          <p:spTgt spid="11">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7" grpId="0" animBg="1"/>
      <p:bldP spid="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2454473" y="1040676"/>
            <a:ext cx="9721453" cy="704017"/>
          </a:xfrm>
          <a:prstGeom prst="rect">
            <a:avLst/>
          </a:prstGeom>
          <a:noFill/>
          <a:ln/>
        </p:spPr>
        <p:txBody>
          <a:bodyPr wrap="none" lIns="0" tIns="0" rIns="0" bIns="0" rtlCol="0" anchor="t"/>
          <a:lstStyle/>
          <a:p>
            <a:pPr marL="0" indent="0" algn="ctr">
              <a:lnSpc>
                <a:spcPts val="5500"/>
              </a:lnSpc>
              <a:buNone/>
            </a:pPr>
            <a:r>
              <a:rPr lang="en-US" sz="4400" dirty="0">
                <a:solidFill>
                  <a:srgbClr val="FFFFFF"/>
                </a:solidFill>
                <a:latin typeface="Kanit" pitchFamily="34" charset="0"/>
                <a:ea typeface="Kanit" pitchFamily="34" charset="-122"/>
                <a:cs typeface="Kanit" pitchFamily="34" charset="-120"/>
              </a:rPr>
              <a:t>Activités Financières Prises en Compte</a:t>
            </a:r>
            <a:endParaRPr lang="en-US" sz="4400" dirty="0"/>
          </a:p>
        </p:txBody>
      </p:sp>
      <p:sp>
        <p:nvSpPr>
          <p:cNvPr id="3" name="Shape 1"/>
          <p:cNvSpPr/>
          <p:nvPr/>
        </p:nvSpPr>
        <p:spPr>
          <a:xfrm>
            <a:off x="837724" y="3083658"/>
            <a:ext cx="538520" cy="538520"/>
          </a:xfrm>
          <a:prstGeom prst="roundRect">
            <a:avLst>
              <a:gd name="adj" fmla="val 6668"/>
            </a:avLst>
          </a:prstGeom>
          <a:solidFill>
            <a:srgbClr val="2F2B54"/>
          </a:solidFill>
          <a:ln/>
        </p:spPr>
        <p:txBody>
          <a:bodyPr/>
          <a:lstStyle/>
          <a:p>
            <a:endParaRPr lang="fr-FR"/>
          </a:p>
        </p:txBody>
      </p:sp>
      <p:pic>
        <p:nvPicPr>
          <p:cNvPr id="4" name="Image 0" descr="preencoded.png"/>
          <p:cNvPicPr>
            <a:picLocks noChangeAspect="1"/>
          </p:cNvPicPr>
          <p:nvPr/>
        </p:nvPicPr>
        <p:blipFill>
          <a:blip r:embed="rId3"/>
          <a:stretch>
            <a:fillRect/>
          </a:stretch>
        </p:blipFill>
        <p:spPr>
          <a:xfrm>
            <a:off x="937974" y="3141641"/>
            <a:ext cx="337899" cy="422434"/>
          </a:xfrm>
          <a:prstGeom prst="rect">
            <a:avLst/>
          </a:prstGeom>
        </p:spPr>
      </p:pic>
      <p:sp>
        <p:nvSpPr>
          <p:cNvPr id="5" name="Text 2"/>
          <p:cNvSpPr/>
          <p:nvPr/>
        </p:nvSpPr>
        <p:spPr>
          <a:xfrm>
            <a:off x="1615559" y="3083658"/>
            <a:ext cx="3889058" cy="351949"/>
          </a:xfrm>
          <a:prstGeom prst="rect">
            <a:avLst/>
          </a:prstGeom>
          <a:noFill/>
          <a:ln/>
        </p:spPr>
        <p:txBody>
          <a:bodyPr wrap="none" lIns="0" tIns="0" rIns="0" bIns="0" rtlCol="0" anchor="t"/>
          <a:lstStyle/>
          <a:p>
            <a:pPr marL="0" indent="0" algn="l">
              <a:lnSpc>
                <a:spcPts val="2750"/>
              </a:lnSpc>
              <a:buNone/>
            </a:pPr>
            <a:r>
              <a:rPr lang="en-US" sz="2200" dirty="0">
                <a:solidFill>
                  <a:srgbClr val="D9E1FF"/>
                </a:solidFill>
                <a:latin typeface="Kanit" pitchFamily="34" charset="0"/>
                <a:ea typeface="Kanit" pitchFamily="34" charset="-122"/>
                <a:cs typeface="Kanit" pitchFamily="34" charset="-120"/>
              </a:rPr>
              <a:t>Authentification personnalisée</a:t>
            </a:r>
            <a:endParaRPr lang="en-US" sz="2200" dirty="0"/>
          </a:p>
        </p:txBody>
      </p:sp>
      <p:sp>
        <p:nvSpPr>
          <p:cNvPr id="6" name="Text 3"/>
          <p:cNvSpPr/>
          <p:nvPr/>
        </p:nvSpPr>
        <p:spPr>
          <a:xfrm>
            <a:off x="1615559" y="3579196"/>
            <a:ext cx="12177117" cy="766048"/>
          </a:xfrm>
          <a:prstGeom prst="rect">
            <a:avLst/>
          </a:prstGeom>
          <a:noFill/>
          <a:ln/>
        </p:spPr>
        <p:txBody>
          <a:bodyPr wrap="square" lIns="0" tIns="0" rIns="0" bIns="0" rtlCol="0" anchor="t"/>
          <a:lstStyle/>
          <a:p>
            <a:pPr marL="0" indent="0" algn="l">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Gestion de l'authentification des utilisateurs. Autorisation d'accès par la responsable financière avec notifications personnalisées via Outlook.</a:t>
            </a:r>
            <a:endParaRPr lang="en-US" sz="1850" dirty="0"/>
          </a:p>
        </p:txBody>
      </p:sp>
      <p:sp>
        <p:nvSpPr>
          <p:cNvPr id="7" name="Rectangle 6">
            <a:extLst>
              <a:ext uri="{FF2B5EF4-FFF2-40B4-BE49-F238E27FC236}">
                <a16:creationId xmlns:a16="http://schemas.microsoft.com/office/drawing/2014/main" id="{A6F6694F-8EAF-D687-FA72-97D5E0518681}"/>
              </a:ext>
            </a:extLst>
          </p:cNvPr>
          <p:cNvSpPr/>
          <p:nvPr/>
        </p:nvSpPr>
        <p:spPr>
          <a:xfrm>
            <a:off x="12655253" y="7654175"/>
            <a:ext cx="1951463" cy="524107"/>
          </a:xfrm>
          <a:prstGeom prst="rect">
            <a:avLst/>
          </a:prstGeom>
          <a:solidFill>
            <a:srgbClr val="100C35"/>
          </a:solidFill>
          <a:ln>
            <a:solidFill>
              <a:srgbClr val="100C3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6" presetClass="entr" presetSubtype="21" fill="hold"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barn(inVertical)">
                                      <p:cBhvr>
                                        <p:cTn id="14" dur="500"/>
                                        <p:tgtEl>
                                          <p:spTgt spid="4"/>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4"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wipe(down)">
                                      <p:cBhvr>
                                        <p:cTn id="19" dur="500"/>
                                        <p:tgtEl>
                                          <p:spTgt spid="5"/>
                                        </p:tgtEl>
                                      </p:cBhvr>
                                    </p:animEffect>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grpId="0" nodeType="clickEffect">
                                  <p:stCondLst>
                                    <p:cond delay="0"/>
                                  </p:stCondLst>
                                  <p:childTnLst>
                                    <p:set>
                                      <p:cBhvr>
                                        <p:cTn id="23" dur="1" fill="hold">
                                          <p:stCondLst>
                                            <p:cond delay="0"/>
                                          </p:stCondLst>
                                        </p:cTn>
                                        <p:tgtEl>
                                          <p:spTgt spid="6"/>
                                        </p:tgtEl>
                                        <p:attrNameLst>
                                          <p:attrName>style.visibility</p:attrName>
                                        </p:attrNameLst>
                                      </p:cBhvr>
                                      <p:to>
                                        <p:strVal val="visible"/>
                                      </p:to>
                                    </p:set>
                                    <p:anim calcmode="lin" valueType="num">
                                      <p:cBhvr additive="base">
                                        <p:cTn id="24" dur="500" fill="hold"/>
                                        <p:tgtEl>
                                          <p:spTgt spid="6"/>
                                        </p:tgtEl>
                                        <p:attrNameLst>
                                          <p:attrName>ppt_x</p:attrName>
                                        </p:attrNameLst>
                                      </p:cBhvr>
                                      <p:tavLst>
                                        <p:tav tm="0">
                                          <p:val>
                                            <p:strVal val="#ppt_x"/>
                                          </p:val>
                                        </p:tav>
                                        <p:tav tm="100000">
                                          <p:val>
                                            <p:strVal val="#ppt_x"/>
                                          </p:val>
                                        </p:tav>
                                      </p:tavLst>
                                    </p:anim>
                                    <p:anim calcmode="lin" valueType="num">
                                      <p:cBhvr additive="base">
                                        <p:cTn id="25"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16" presetClass="entr" presetSubtype="21" fill="hold" grpId="0" nodeType="clickEffect">
                                  <p:stCondLst>
                                    <p:cond delay="0"/>
                                  </p:stCondLst>
                                  <p:childTnLst>
                                    <p:set>
                                      <p:cBhvr>
                                        <p:cTn id="29" dur="1" fill="hold">
                                          <p:stCondLst>
                                            <p:cond delay="0"/>
                                          </p:stCondLst>
                                        </p:cTn>
                                        <p:tgtEl>
                                          <p:spTgt spid="3"/>
                                        </p:tgtEl>
                                        <p:attrNameLst>
                                          <p:attrName>style.visibility</p:attrName>
                                        </p:attrNameLst>
                                      </p:cBhvr>
                                      <p:to>
                                        <p:strVal val="visible"/>
                                      </p:to>
                                    </p:set>
                                    <p:animEffect transition="in" filter="barn(inVertical)">
                                      <p:cBhvr>
                                        <p:cTn id="3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1545550" y="1027572"/>
            <a:ext cx="11539299" cy="704017"/>
          </a:xfrm>
          <a:prstGeom prst="rect">
            <a:avLst/>
          </a:prstGeom>
          <a:noFill/>
          <a:ln/>
        </p:spPr>
        <p:txBody>
          <a:bodyPr wrap="none" lIns="0" tIns="0" rIns="0" bIns="0" rtlCol="0" anchor="t"/>
          <a:lstStyle/>
          <a:p>
            <a:pPr marL="0" indent="0" algn="ctr">
              <a:lnSpc>
                <a:spcPts val="5500"/>
              </a:lnSpc>
              <a:buNone/>
            </a:pPr>
            <a:r>
              <a:rPr lang="en-US" sz="4400" dirty="0">
                <a:solidFill>
                  <a:srgbClr val="FFFFFF"/>
                </a:solidFill>
                <a:latin typeface="Kanit" pitchFamily="34" charset="0"/>
                <a:ea typeface="Kanit" pitchFamily="34" charset="-122"/>
                <a:cs typeface="Kanit" pitchFamily="34" charset="-120"/>
              </a:rPr>
              <a:t>Gestion des Clients et des Charges Mensuelles</a:t>
            </a:r>
            <a:endParaRPr lang="en-US" sz="4400" dirty="0"/>
          </a:p>
        </p:txBody>
      </p:sp>
      <p:sp>
        <p:nvSpPr>
          <p:cNvPr id="3" name="Text 1"/>
          <p:cNvSpPr/>
          <p:nvPr/>
        </p:nvSpPr>
        <p:spPr>
          <a:xfrm>
            <a:off x="837724" y="3128440"/>
            <a:ext cx="12954952" cy="383024"/>
          </a:xfrm>
          <a:prstGeom prst="rect">
            <a:avLst/>
          </a:prstGeom>
          <a:noFill/>
          <a:ln/>
        </p:spPr>
        <p:txBody>
          <a:bodyPr wrap="none" lIns="0" tIns="0" rIns="0" bIns="0" rtlCol="0" anchor="t"/>
          <a:lstStyle/>
          <a:p>
            <a:pPr marL="0" indent="0" algn="l">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Simplifiez la gestion de vos clients et charges mensuelles avec notre solution intuitive.</a:t>
            </a:r>
            <a:endParaRPr lang="en-US" sz="1850" dirty="0"/>
          </a:p>
        </p:txBody>
      </p:sp>
      <p:sp>
        <p:nvSpPr>
          <p:cNvPr id="4" name="Shape 2"/>
          <p:cNvSpPr/>
          <p:nvPr/>
        </p:nvSpPr>
        <p:spPr>
          <a:xfrm>
            <a:off x="837724" y="3780665"/>
            <a:ext cx="6357818" cy="830580"/>
          </a:xfrm>
          <a:prstGeom prst="roundRect">
            <a:avLst>
              <a:gd name="adj" fmla="val 4323"/>
            </a:avLst>
          </a:prstGeom>
          <a:solidFill>
            <a:srgbClr val="2F2B54"/>
          </a:solidFill>
          <a:ln/>
        </p:spPr>
        <p:txBody>
          <a:bodyPr/>
          <a:lstStyle/>
          <a:p>
            <a:pPr algn="ctr"/>
            <a:endParaRPr lang="fr-FR" dirty="0"/>
          </a:p>
        </p:txBody>
      </p:sp>
      <p:sp>
        <p:nvSpPr>
          <p:cNvPr id="5" name="Text 3"/>
          <p:cNvSpPr/>
          <p:nvPr/>
        </p:nvSpPr>
        <p:spPr>
          <a:xfrm>
            <a:off x="2608540" y="3998329"/>
            <a:ext cx="2816185" cy="351949"/>
          </a:xfrm>
          <a:prstGeom prst="rect">
            <a:avLst/>
          </a:prstGeom>
          <a:noFill/>
          <a:ln/>
        </p:spPr>
        <p:txBody>
          <a:bodyPr wrap="none" lIns="0" tIns="0" rIns="0" bIns="0" rtlCol="0" anchor="t"/>
          <a:lstStyle/>
          <a:p>
            <a:pPr marL="0" indent="0" algn="ctr">
              <a:lnSpc>
                <a:spcPts val="2750"/>
              </a:lnSpc>
              <a:buNone/>
            </a:pPr>
            <a:r>
              <a:rPr lang="en-US" sz="2200" dirty="0">
                <a:solidFill>
                  <a:srgbClr val="D9E1FF"/>
                </a:solidFill>
                <a:latin typeface="Kanit" pitchFamily="34" charset="0"/>
                <a:ea typeface="Kanit" pitchFamily="34" charset="-122"/>
                <a:cs typeface="Kanit" pitchFamily="34" charset="-120"/>
              </a:rPr>
              <a:t>Gestion des Clients</a:t>
            </a:r>
            <a:endParaRPr lang="en-US" sz="2200" dirty="0"/>
          </a:p>
        </p:txBody>
      </p:sp>
      <p:sp>
        <p:nvSpPr>
          <p:cNvPr id="6" name="Shape 4"/>
          <p:cNvSpPr/>
          <p:nvPr/>
        </p:nvSpPr>
        <p:spPr>
          <a:xfrm>
            <a:off x="7434858" y="3780665"/>
            <a:ext cx="6357818" cy="830580"/>
          </a:xfrm>
          <a:prstGeom prst="roundRect">
            <a:avLst>
              <a:gd name="adj" fmla="val 4323"/>
            </a:avLst>
          </a:prstGeom>
          <a:solidFill>
            <a:srgbClr val="2F2B54"/>
          </a:solidFill>
          <a:ln/>
        </p:spPr>
        <p:txBody>
          <a:bodyPr/>
          <a:lstStyle/>
          <a:p>
            <a:endParaRPr lang="fr-FR"/>
          </a:p>
        </p:txBody>
      </p:sp>
      <p:sp>
        <p:nvSpPr>
          <p:cNvPr id="7" name="Text 5"/>
          <p:cNvSpPr/>
          <p:nvPr/>
        </p:nvSpPr>
        <p:spPr>
          <a:xfrm>
            <a:off x="8605361" y="3998328"/>
            <a:ext cx="4016812" cy="351949"/>
          </a:xfrm>
          <a:prstGeom prst="rect">
            <a:avLst/>
          </a:prstGeom>
          <a:noFill/>
          <a:ln/>
        </p:spPr>
        <p:txBody>
          <a:bodyPr wrap="none" lIns="0" tIns="0" rIns="0" bIns="0" rtlCol="0" anchor="t"/>
          <a:lstStyle/>
          <a:p>
            <a:pPr marL="0" indent="0" algn="ctr">
              <a:lnSpc>
                <a:spcPts val="2750"/>
              </a:lnSpc>
              <a:buNone/>
            </a:pPr>
            <a:r>
              <a:rPr lang="en-US" sz="2200" dirty="0">
                <a:solidFill>
                  <a:srgbClr val="D9E1FF"/>
                </a:solidFill>
                <a:latin typeface="Kanit" pitchFamily="34" charset="0"/>
                <a:ea typeface="Kanit" pitchFamily="34" charset="-122"/>
                <a:cs typeface="Kanit" pitchFamily="34" charset="-120"/>
              </a:rPr>
              <a:t>Gestion des Charges Mensuelles</a:t>
            </a:r>
            <a:endParaRPr lang="en-US" sz="2200" dirty="0"/>
          </a:p>
        </p:txBody>
      </p:sp>
      <p:sp>
        <p:nvSpPr>
          <p:cNvPr id="8" name="Rectangle 7">
            <a:extLst>
              <a:ext uri="{FF2B5EF4-FFF2-40B4-BE49-F238E27FC236}">
                <a16:creationId xmlns:a16="http://schemas.microsoft.com/office/drawing/2014/main" id="{A0872268-E18E-0248-D3E0-5A5AE3BF5674}"/>
              </a:ext>
            </a:extLst>
          </p:cNvPr>
          <p:cNvSpPr/>
          <p:nvPr/>
        </p:nvSpPr>
        <p:spPr>
          <a:xfrm>
            <a:off x="12655253" y="7654175"/>
            <a:ext cx="1951463" cy="524107"/>
          </a:xfrm>
          <a:prstGeom prst="rect">
            <a:avLst/>
          </a:prstGeom>
          <a:solidFill>
            <a:srgbClr val="100C35"/>
          </a:solidFill>
          <a:ln>
            <a:solidFill>
              <a:srgbClr val="100C3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ransition spd="slow">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4"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wipe(down)">
                                      <p:cBhvr>
                                        <p:cTn id="14" dur="500"/>
                                        <p:tgtEl>
                                          <p:spTgt spid="3"/>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grpId="0"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wipe(down)">
                                      <p:cBhvr>
                                        <p:cTn id="24" dur="500"/>
                                        <p:tgtEl>
                                          <p:spTgt spid="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animEffect transition="in" filter="fade">
                                      <p:cBhvr>
                                        <p:cTn id="29" dur="500"/>
                                        <p:tgtEl>
                                          <p:spTgt spid="6"/>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wipe(down)">
                                      <p:cBhvr>
                                        <p:cTn id="34"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12" name="Shape 2">
            <a:extLst>
              <a:ext uri="{FF2B5EF4-FFF2-40B4-BE49-F238E27FC236}">
                <a16:creationId xmlns:a16="http://schemas.microsoft.com/office/drawing/2014/main" id="{22C084ED-C8BD-ADDA-C9ED-D03CEF3BDBAA}"/>
              </a:ext>
            </a:extLst>
          </p:cNvPr>
          <p:cNvSpPr/>
          <p:nvPr/>
        </p:nvSpPr>
        <p:spPr>
          <a:xfrm>
            <a:off x="8093035" y="2247904"/>
            <a:ext cx="4024208" cy="2726689"/>
          </a:xfrm>
          <a:prstGeom prst="roundRect">
            <a:avLst>
              <a:gd name="adj" fmla="val 4323"/>
            </a:avLst>
          </a:prstGeom>
          <a:solidFill>
            <a:srgbClr val="2F2B54"/>
          </a:solidFill>
          <a:ln/>
        </p:spPr>
        <p:txBody>
          <a:bodyPr/>
          <a:lstStyle/>
          <a:p>
            <a:pPr algn="ctr"/>
            <a:endParaRPr lang="fr-FR" dirty="0"/>
          </a:p>
        </p:txBody>
      </p:sp>
      <p:sp>
        <p:nvSpPr>
          <p:cNvPr id="10" name="Shape 2">
            <a:extLst>
              <a:ext uri="{FF2B5EF4-FFF2-40B4-BE49-F238E27FC236}">
                <a16:creationId xmlns:a16="http://schemas.microsoft.com/office/drawing/2014/main" id="{B2AE8CCE-643F-7A59-6FF8-C22B0D383D07}"/>
              </a:ext>
            </a:extLst>
          </p:cNvPr>
          <p:cNvSpPr/>
          <p:nvPr/>
        </p:nvSpPr>
        <p:spPr>
          <a:xfrm>
            <a:off x="1815528" y="2402448"/>
            <a:ext cx="4024208" cy="2726689"/>
          </a:xfrm>
          <a:prstGeom prst="roundRect">
            <a:avLst>
              <a:gd name="adj" fmla="val 4323"/>
            </a:avLst>
          </a:prstGeom>
          <a:solidFill>
            <a:srgbClr val="2F2B54"/>
          </a:solidFill>
          <a:ln/>
        </p:spPr>
        <p:txBody>
          <a:bodyPr/>
          <a:lstStyle/>
          <a:p>
            <a:pPr algn="ctr"/>
            <a:endParaRPr lang="fr-FR" dirty="0"/>
          </a:p>
        </p:txBody>
      </p:sp>
      <p:sp>
        <p:nvSpPr>
          <p:cNvPr id="2" name="Text 0"/>
          <p:cNvSpPr/>
          <p:nvPr/>
        </p:nvSpPr>
        <p:spPr>
          <a:xfrm>
            <a:off x="3280648" y="679545"/>
            <a:ext cx="8069104" cy="704017"/>
          </a:xfrm>
          <a:prstGeom prst="rect">
            <a:avLst/>
          </a:prstGeom>
          <a:noFill/>
          <a:ln/>
        </p:spPr>
        <p:txBody>
          <a:bodyPr wrap="none" lIns="0" tIns="0" rIns="0" bIns="0" rtlCol="0" anchor="t"/>
          <a:lstStyle/>
          <a:p>
            <a:pPr marL="0" indent="0" algn="ctr">
              <a:lnSpc>
                <a:spcPts val="5500"/>
              </a:lnSpc>
              <a:buNone/>
            </a:pPr>
            <a:r>
              <a:rPr lang="en-US" sz="4400" dirty="0">
                <a:solidFill>
                  <a:srgbClr val="FFFFFF"/>
                </a:solidFill>
                <a:latin typeface="Kanit" pitchFamily="34" charset="0"/>
                <a:ea typeface="Kanit" pitchFamily="34" charset="-122"/>
                <a:cs typeface="Kanit" pitchFamily="34" charset="-120"/>
              </a:rPr>
              <a:t>Gestion des Factures et Revenus</a:t>
            </a:r>
            <a:endParaRPr lang="en-US" sz="4400" dirty="0"/>
          </a:p>
        </p:txBody>
      </p:sp>
      <p:pic>
        <p:nvPicPr>
          <p:cNvPr id="3" name="Image 0" descr="preencoded.png"/>
          <p:cNvPicPr>
            <a:picLocks noChangeAspect="1"/>
          </p:cNvPicPr>
          <p:nvPr/>
        </p:nvPicPr>
        <p:blipFill>
          <a:blip r:embed="rId3"/>
          <a:stretch>
            <a:fillRect/>
          </a:stretch>
        </p:blipFill>
        <p:spPr>
          <a:xfrm>
            <a:off x="3528428" y="2798972"/>
            <a:ext cx="598408" cy="598408"/>
          </a:xfrm>
          <a:prstGeom prst="rect">
            <a:avLst/>
          </a:prstGeom>
        </p:spPr>
      </p:pic>
      <p:sp>
        <p:nvSpPr>
          <p:cNvPr id="4" name="Text 1"/>
          <p:cNvSpPr/>
          <p:nvPr/>
        </p:nvSpPr>
        <p:spPr>
          <a:xfrm>
            <a:off x="2419539" y="3569958"/>
            <a:ext cx="2816185" cy="351949"/>
          </a:xfrm>
          <a:prstGeom prst="rect">
            <a:avLst/>
          </a:prstGeom>
          <a:noFill/>
          <a:ln/>
        </p:spPr>
        <p:txBody>
          <a:bodyPr wrap="none" lIns="0" tIns="0" rIns="0" bIns="0" rtlCol="0" anchor="t"/>
          <a:lstStyle/>
          <a:p>
            <a:pPr marL="0" indent="0" algn="ctr">
              <a:lnSpc>
                <a:spcPts val="2750"/>
              </a:lnSpc>
              <a:buNone/>
            </a:pPr>
            <a:r>
              <a:rPr lang="en-US" sz="2200" dirty="0">
                <a:solidFill>
                  <a:srgbClr val="D9E1FF"/>
                </a:solidFill>
                <a:latin typeface="Kanit" pitchFamily="34" charset="0"/>
                <a:ea typeface="Kanit" pitchFamily="34" charset="-122"/>
                <a:cs typeface="Kanit" pitchFamily="34" charset="-120"/>
              </a:rPr>
              <a:t>Factures</a:t>
            </a:r>
            <a:endParaRPr lang="en-US" sz="2200" dirty="0"/>
          </a:p>
        </p:txBody>
      </p:sp>
      <p:sp>
        <p:nvSpPr>
          <p:cNvPr id="5" name="Text 2"/>
          <p:cNvSpPr/>
          <p:nvPr/>
        </p:nvSpPr>
        <p:spPr>
          <a:xfrm>
            <a:off x="1905428" y="3921907"/>
            <a:ext cx="3844406" cy="383024"/>
          </a:xfrm>
          <a:prstGeom prst="rect">
            <a:avLst/>
          </a:prstGeom>
          <a:noFill/>
          <a:ln/>
        </p:spPr>
        <p:txBody>
          <a:bodyPr wrap="none" lIns="0" tIns="0" rIns="0" bIns="0" rtlCol="0" anchor="t"/>
          <a:lstStyle/>
          <a:p>
            <a:pPr marL="0" indent="0" algn="ctr">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Suivi et organisation</a:t>
            </a:r>
            <a:endParaRPr lang="en-US" sz="1850" dirty="0"/>
          </a:p>
        </p:txBody>
      </p:sp>
      <p:pic>
        <p:nvPicPr>
          <p:cNvPr id="6" name="Image 1" descr="preencoded.png"/>
          <p:cNvPicPr>
            <a:picLocks noChangeAspect="1"/>
          </p:cNvPicPr>
          <p:nvPr/>
        </p:nvPicPr>
        <p:blipFill>
          <a:blip r:embed="rId4"/>
          <a:stretch>
            <a:fillRect/>
          </a:stretch>
        </p:blipFill>
        <p:spPr>
          <a:xfrm>
            <a:off x="9805933" y="2798972"/>
            <a:ext cx="598408" cy="598408"/>
          </a:xfrm>
          <a:prstGeom prst="rect">
            <a:avLst/>
          </a:prstGeom>
        </p:spPr>
      </p:pic>
      <p:sp>
        <p:nvSpPr>
          <p:cNvPr id="7" name="Text 3"/>
          <p:cNvSpPr/>
          <p:nvPr/>
        </p:nvSpPr>
        <p:spPr>
          <a:xfrm>
            <a:off x="8697045" y="3493070"/>
            <a:ext cx="2816185" cy="351949"/>
          </a:xfrm>
          <a:prstGeom prst="rect">
            <a:avLst/>
          </a:prstGeom>
          <a:noFill/>
          <a:ln/>
        </p:spPr>
        <p:txBody>
          <a:bodyPr wrap="none" lIns="0" tIns="0" rIns="0" bIns="0" rtlCol="0" anchor="t"/>
          <a:lstStyle/>
          <a:p>
            <a:pPr marL="0" indent="0" algn="ctr">
              <a:lnSpc>
                <a:spcPts val="2750"/>
              </a:lnSpc>
              <a:buNone/>
            </a:pPr>
            <a:r>
              <a:rPr lang="en-US" sz="2200" dirty="0">
                <a:solidFill>
                  <a:srgbClr val="D9E1FF"/>
                </a:solidFill>
                <a:latin typeface="Kanit" pitchFamily="34" charset="0"/>
                <a:ea typeface="Kanit" pitchFamily="34" charset="-122"/>
                <a:cs typeface="Kanit" pitchFamily="34" charset="-120"/>
              </a:rPr>
              <a:t>Revenus Mensuels</a:t>
            </a:r>
            <a:endParaRPr lang="en-US" sz="2200" dirty="0"/>
          </a:p>
        </p:txBody>
      </p:sp>
      <p:sp>
        <p:nvSpPr>
          <p:cNvPr id="8" name="Text 4"/>
          <p:cNvSpPr/>
          <p:nvPr/>
        </p:nvSpPr>
        <p:spPr>
          <a:xfrm>
            <a:off x="8355592" y="3921090"/>
            <a:ext cx="3499093" cy="383024"/>
          </a:xfrm>
          <a:prstGeom prst="rect">
            <a:avLst/>
          </a:prstGeom>
          <a:noFill/>
          <a:ln/>
        </p:spPr>
        <p:txBody>
          <a:bodyPr wrap="none" lIns="0" tIns="0" rIns="0" bIns="0" rtlCol="0" anchor="t"/>
          <a:lstStyle/>
          <a:p>
            <a:pPr marL="0" indent="0" algn="ctr">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Analyse et planification</a:t>
            </a:r>
            <a:endParaRPr lang="en-US" sz="1850" dirty="0"/>
          </a:p>
        </p:txBody>
      </p:sp>
      <p:sp>
        <p:nvSpPr>
          <p:cNvPr id="9" name="Rectangle 8">
            <a:extLst>
              <a:ext uri="{FF2B5EF4-FFF2-40B4-BE49-F238E27FC236}">
                <a16:creationId xmlns:a16="http://schemas.microsoft.com/office/drawing/2014/main" id="{75E37525-E3A6-1089-9829-F3F240FA96CB}"/>
              </a:ext>
            </a:extLst>
          </p:cNvPr>
          <p:cNvSpPr/>
          <p:nvPr/>
        </p:nvSpPr>
        <p:spPr>
          <a:xfrm>
            <a:off x="12655253" y="7654175"/>
            <a:ext cx="1951463" cy="524107"/>
          </a:xfrm>
          <a:prstGeom prst="rect">
            <a:avLst/>
          </a:prstGeom>
          <a:solidFill>
            <a:srgbClr val="100C35"/>
          </a:solidFill>
          <a:ln>
            <a:solidFill>
              <a:srgbClr val="100C3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mc:AlternateContent xmlns:mc="http://schemas.openxmlformats.org/markup-compatibility/2006" xmlns:p14="http://schemas.microsoft.com/office/powerpoint/2010/main">
    <mc:Choice Requires="p14">
      <p:transition spd="slow" p14:dur="1600">
        <p14:gallery dir="l"/>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1000"/>
                                        <p:tgtEl>
                                          <p:spTgt spid="2">
                                            <p:txEl>
                                              <p:pRg st="0" end="0"/>
                                            </p:txEl>
                                          </p:spTgt>
                                        </p:tgtEl>
                                      </p:cBhvr>
                                    </p:animEffect>
                                    <p:anim calcmode="lin" valueType="num">
                                      <p:cBhvr>
                                        <p:cTn id="8"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ppt_x"/>
                                          </p:val>
                                        </p:tav>
                                        <p:tav tm="100000">
                                          <p:val>
                                            <p:strVal val="#ppt_x"/>
                                          </p:val>
                                        </p:tav>
                                      </p:tavLst>
                                    </p:anim>
                                    <p:anim calcmode="lin" valueType="num">
                                      <p:cBhvr additive="base">
                                        <p:cTn id="20"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animEffect transition="in" filter="wipe(down)">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14" presetClass="entr" presetSubtype="10" fill="hold" grpId="0" nodeType="clickEffect">
                                  <p:stCondLst>
                                    <p:cond delay="0"/>
                                  </p:stCondLst>
                                  <p:childTnLst>
                                    <p:set>
                                      <p:cBhvr>
                                        <p:cTn id="29" dur="1" fill="hold">
                                          <p:stCondLst>
                                            <p:cond delay="0"/>
                                          </p:stCondLst>
                                        </p:cTn>
                                        <p:tgtEl>
                                          <p:spTgt spid="5"/>
                                        </p:tgtEl>
                                        <p:attrNameLst>
                                          <p:attrName>style.visibility</p:attrName>
                                        </p:attrNameLst>
                                      </p:cBhvr>
                                      <p:to>
                                        <p:strVal val="visible"/>
                                      </p:to>
                                    </p:set>
                                    <p:animEffect transition="in" filter="randombar(horizontal)">
                                      <p:cBhvr>
                                        <p:cTn id="30" dur="500"/>
                                        <p:tgtEl>
                                          <p:spTgt spid="5"/>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childTnLst>
                                </p:cTn>
                              </p:par>
                            </p:childTnLst>
                          </p:cTn>
                        </p:par>
                      </p:childTnLst>
                    </p:cTn>
                  </p:par>
                  <p:par>
                    <p:cTn id="36" fill="hold">
                      <p:stCondLst>
                        <p:cond delay="indefinite"/>
                      </p:stCondLst>
                      <p:childTnLst>
                        <p:par>
                          <p:cTn id="37" fill="hold">
                            <p:stCondLst>
                              <p:cond delay="0"/>
                            </p:stCondLst>
                            <p:childTnLst>
                              <p:par>
                                <p:cTn id="38" presetID="2" presetClass="entr" presetSubtype="4" fill="hold" nodeType="clickEffect">
                                  <p:stCondLst>
                                    <p:cond delay="0"/>
                                  </p:stCondLst>
                                  <p:childTnLst>
                                    <p:set>
                                      <p:cBhvr>
                                        <p:cTn id="39" dur="1" fill="hold">
                                          <p:stCondLst>
                                            <p:cond delay="0"/>
                                          </p:stCondLst>
                                        </p:cTn>
                                        <p:tgtEl>
                                          <p:spTgt spid="6"/>
                                        </p:tgtEl>
                                        <p:attrNameLst>
                                          <p:attrName>style.visibility</p:attrName>
                                        </p:attrNameLst>
                                      </p:cBhvr>
                                      <p:to>
                                        <p:strVal val="visible"/>
                                      </p:to>
                                    </p:set>
                                    <p:anim calcmode="lin" valueType="num">
                                      <p:cBhvr additive="base">
                                        <p:cTn id="40" dur="500" fill="hold"/>
                                        <p:tgtEl>
                                          <p:spTgt spid="6"/>
                                        </p:tgtEl>
                                        <p:attrNameLst>
                                          <p:attrName>ppt_x</p:attrName>
                                        </p:attrNameLst>
                                      </p:cBhvr>
                                      <p:tavLst>
                                        <p:tav tm="0">
                                          <p:val>
                                            <p:strVal val="#ppt_x"/>
                                          </p:val>
                                        </p:tav>
                                        <p:tav tm="100000">
                                          <p:val>
                                            <p:strVal val="#ppt_x"/>
                                          </p:val>
                                        </p:tav>
                                      </p:tavLst>
                                    </p:anim>
                                    <p:anim calcmode="lin" valueType="num">
                                      <p:cBhvr additive="base">
                                        <p:cTn id="41"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4" presetID="22" presetClass="entr" presetSubtype="4" fill="hold" grpId="0" nodeType="clickEffect">
                                  <p:stCondLst>
                                    <p:cond delay="0"/>
                                  </p:stCondLst>
                                  <p:childTnLst>
                                    <p:set>
                                      <p:cBhvr>
                                        <p:cTn id="45" dur="1" fill="hold">
                                          <p:stCondLst>
                                            <p:cond delay="0"/>
                                          </p:stCondLst>
                                        </p:cTn>
                                        <p:tgtEl>
                                          <p:spTgt spid="7"/>
                                        </p:tgtEl>
                                        <p:attrNameLst>
                                          <p:attrName>style.visibility</p:attrName>
                                        </p:attrNameLst>
                                      </p:cBhvr>
                                      <p:to>
                                        <p:strVal val="visible"/>
                                      </p:to>
                                    </p:set>
                                    <p:animEffect transition="in" filter="wipe(down)">
                                      <p:cBhvr>
                                        <p:cTn id="46" dur="500"/>
                                        <p:tgtEl>
                                          <p:spTgt spid="7"/>
                                        </p:tgtEl>
                                      </p:cBhvr>
                                    </p:animEffect>
                                  </p:childTnLst>
                                </p:cTn>
                              </p:par>
                            </p:childTnLst>
                          </p:cTn>
                        </p:par>
                      </p:childTnLst>
                    </p:cTn>
                  </p:par>
                  <p:par>
                    <p:cTn id="47" fill="hold">
                      <p:stCondLst>
                        <p:cond delay="indefinite"/>
                      </p:stCondLst>
                      <p:childTnLst>
                        <p:par>
                          <p:cTn id="48" fill="hold">
                            <p:stCondLst>
                              <p:cond delay="0"/>
                            </p:stCondLst>
                            <p:childTnLst>
                              <p:par>
                                <p:cTn id="49" presetID="14" presetClass="entr" presetSubtype="10" fill="hold" grpId="0" nodeType="click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randombar(horizontal)">
                                      <p:cBhvr>
                                        <p:cTn id="51"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0" grpId="0" animBg="1"/>
      <p:bldP spid="4" grpId="0" animBg="1"/>
      <p:bldP spid="5" grpId="0" animBg="1"/>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3657600" cy="8229600"/>
          </a:xfrm>
          <a:prstGeom prst="rect">
            <a:avLst/>
          </a:prstGeom>
        </p:spPr>
      </p:pic>
      <p:sp>
        <p:nvSpPr>
          <p:cNvPr id="3" name="Text 0"/>
          <p:cNvSpPr/>
          <p:nvPr/>
        </p:nvSpPr>
        <p:spPr>
          <a:xfrm>
            <a:off x="5484494" y="1165679"/>
            <a:ext cx="8036957" cy="704017"/>
          </a:xfrm>
          <a:prstGeom prst="rect">
            <a:avLst/>
          </a:prstGeom>
          <a:noFill/>
          <a:ln/>
        </p:spPr>
        <p:txBody>
          <a:bodyPr wrap="none" lIns="0" tIns="0" rIns="0" bIns="0" rtlCol="0" anchor="t"/>
          <a:lstStyle/>
          <a:p>
            <a:pPr marL="0" indent="0" algn="ctr">
              <a:lnSpc>
                <a:spcPts val="5500"/>
              </a:lnSpc>
              <a:buNone/>
            </a:pPr>
            <a:r>
              <a:rPr lang="en-US" sz="4400" dirty="0">
                <a:solidFill>
                  <a:srgbClr val="FFFFFF"/>
                </a:solidFill>
                <a:latin typeface="Kanit" pitchFamily="34" charset="0"/>
                <a:ea typeface="Kanit" pitchFamily="34" charset="-122"/>
                <a:cs typeface="Kanit" pitchFamily="34" charset="-120"/>
              </a:rPr>
              <a:t>Gestion des Charges Mensuelles</a:t>
            </a:r>
            <a:endParaRPr lang="en-US" sz="4400" dirty="0"/>
          </a:p>
        </p:txBody>
      </p:sp>
      <p:sp>
        <p:nvSpPr>
          <p:cNvPr id="4" name="Shape 1"/>
          <p:cNvSpPr/>
          <p:nvPr/>
        </p:nvSpPr>
        <p:spPr>
          <a:xfrm>
            <a:off x="4513421" y="2954057"/>
            <a:ext cx="4529018" cy="1709142"/>
          </a:xfrm>
          <a:prstGeom prst="roundRect">
            <a:avLst>
              <a:gd name="adj" fmla="val 2101"/>
            </a:avLst>
          </a:prstGeom>
          <a:solidFill>
            <a:srgbClr val="2F2B54"/>
          </a:solidFill>
          <a:ln/>
        </p:spPr>
        <p:txBody>
          <a:bodyPr/>
          <a:lstStyle/>
          <a:p>
            <a:endParaRPr lang="fr-FR"/>
          </a:p>
        </p:txBody>
      </p:sp>
      <p:sp>
        <p:nvSpPr>
          <p:cNvPr id="5" name="Text 2"/>
          <p:cNvSpPr/>
          <p:nvPr/>
        </p:nvSpPr>
        <p:spPr>
          <a:xfrm>
            <a:off x="4734639" y="3584734"/>
            <a:ext cx="4034552" cy="351949"/>
          </a:xfrm>
          <a:prstGeom prst="rect">
            <a:avLst/>
          </a:prstGeom>
          <a:noFill/>
          <a:ln/>
        </p:spPr>
        <p:txBody>
          <a:bodyPr wrap="none" lIns="0" tIns="0" rIns="0" bIns="0" rtlCol="0" anchor="t"/>
          <a:lstStyle/>
          <a:p>
            <a:pPr marL="0" indent="0" algn="l">
              <a:lnSpc>
                <a:spcPts val="2750"/>
              </a:lnSpc>
              <a:buNone/>
            </a:pPr>
            <a:r>
              <a:rPr lang="en-US" sz="2200" dirty="0">
                <a:solidFill>
                  <a:srgbClr val="D9E1FF"/>
                </a:solidFill>
                <a:latin typeface="Kanit" pitchFamily="34" charset="0"/>
                <a:ea typeface="Kanit" pitchFamily="34" charset="-122"/>
                <a:cs typeface="Kanit" pitchFamily="34" charset="-120"/>
              </a:rPr>
              <a:t>Déclaration des Charges Stables</a:t>
            </a:r>
            <a:endParaRPr lang="en-US" sz="2200" dirty="0"/>
          </a:p>
        </p:txBody>
      </p:sp>
      <p:sp>
        <p:nvSpPr>
          <p:cNvPr id="6" name="Text 3"/>
          <p:cNvSpPr/>
          <p:nvPr/>
        </p:nvSpPr>
        <p:spPr>
          <a:xfrm>
            <a:off x="4734639" y="3728323"/>
            <a:ext cx="4050387" cy="383024"/>
          </a:xfrm>
          <a:prstGeom prst="rect">
            <a:avLst/>
          </a:prstGeom>
          <a:noFill/>
          <a:ln/>
        </p:spPr>
        <p:txBody>
          <a:bodyPr wrap="none" lIns="0" tIns="0" rIns="0" bIns="0" rtlCol="0" anchor="t"/>
          <a:lstStyle/>
          <a:p>
            <a:pPr marL="0" indent="0" algn="l">
              <a:lnSpc>
                <a:spcPts val="3000"/>
              </a:lnSpc>
              <a:buNone/>
            </a:pPr>
            <a:endParaRPr lang="en-US" sz="1850" dirty="0"/>
          </a:p>
        </p:txBody>
      </p:sp>
      <p:sp>
        <p:nvSpPr>
          <p:cNvPr id="7" name="Shape 4"/>
          <p:cNvSpPr/>
          <p:nvPr/>
        </p:nvSpPr>
        <p:spPr>
          <a:xfrm>
            <a:off x="9263658" y="2993469"/>
            <a:ext cx="4529018" cy="1709142"/>
          </a:xfrm>
          <a:prstGeom prst="roundRect">
            <a:avLst>
              <a:gd name="adj" fmla="val 2101"/>
            </a:avLst>
          </a:prstGeom>
          <a:solidFill>
            <a:srgbClr val="2F2B54"/>
          </a:solidFill>
          <a:ln/>
        </p:spPr>
        <p:txBody>
          <a:bodyPr/>
          <a:lstStyle/>
          <a:p>
            <a:endParaRPr lang="fr-FR"/>
          </a:p>
        </p:txBody>
      </p:sp>
      <p:sp>
        <p:nvSpPr>
          <p:cNvPr id="8" name="Text 5"/>
          <p:cNvSpPr/>
          <p:nvPr/>
        </p:nvSpPr>
        <p:spPr>
          <a:xfrm>
            <a:off x="9502973" y="3496091"/>
            <a:ext cx="4050387" cy="703898"/>
          </a:xfrm>
          <a:prstGeom prst="rect">
            <a:avLst/>
          </a:prstGeom>
          <a:noFill/>
          <a:ln/>
        </p:spPr>
        <p:txBody>
          <a:bodyPr wrap="square" lIns="0" tIns="0" rIns="0" bIns="0" rtlCol="0" anchor="t"/>
          <a:lstStyle/>
          <a:p>
            <a:pPr marL="0" indent="0" algn="ctr">
              <a:lnSpc>
                <a:spcPts val="2750"/>
              </a:lnSpc>
              <a:buNone/>
            </a:pPr>
            <a:r>
              <a:rPr lang="en-US" sz="2200" dirty="0">
                <a:solidFill>
                  <a:srgbClr val="D9E1FF"/>
                </a:solidFill>
                <a:latin typeface="Kanit" pitchFamily="34" charset="0"/>
                <a:ea typeface="Kanit" pitchFamily="34" charset="-122"/>
                <a:cs typeface="Kanit" pitchFamily="34" charset="-120"/>
              </a:rPr>
              <a:t>Génération Automatique des Charges</a:t>
            </a:r>
            <a:endParaRPr lang="en-US" sz="2200" dirty="0"/>
          </a:p>
        </p:txBody>
      </p:sp>
      <p:sp>
        <p:nvSpPr>
          <p:cNvPr id="10" name="Shape 7"/>
          <p:cNvSpPr/>
          <p:nvPr/>
        </p:nvSpPr>
        <p:spPr>
          <a:xfrm>
            <a:off x="6870441" y="4885613"/>
            <a:ext cx="4547115" cy="1357193"/>
          </a:xfrm>
          <a:prstGeom prst="roundRect">
            <a:avLst>
              <a:gd name="adj" fmla="val 2646"/>
            </a:avLst>
          </a:prstGeom>
          <a:solidFill>
            <a:srgbClr val="2F2B54"/>
          </a:solidFill>
          <a:ln/>
        </p:spPr>
        <p:txBody>
          <a:bodyPr/>
          <a:lstStyle/>
          <a:p>
            <a:endParaRPr lang="fr-FR"/>
          </a:p>
        </p:txBody>
      </p:sp>
      <p:sp>
        <p:nvSpPr>
          <p:cNvPr id="11" name="Text 8"/>
          <p:cNvSpPr/>
          <p:nvPr/>
        </p:nvSpPr>
        <p:spPr>
          <a:xfrm>
            <a:off x="7100707" y="5357217"/>
            <a:ext cx="4086582" cy="351949"/>
          </a:xfrm>
          <a:prstGeom prst="rect">
            <a:avLst/>
          </a:prstGeom>
          <a:noFill/>
          <a:ln/>
        </p:spPr>
        <p:txBody>
          <a:bodyPr wrap="none" lIns="0" tIns="0" rIns="0" bIns="0" rtlCol="0" anchor="t"/>
          <a:lstStyle/>
          <a:p>
            <a:pPr marL="0" indent="0" algn="l">
              <a:lnSpc>
                <a:spcPts val="2750"/>
              </a:lnSpc>
              <a:buNone/>
            </a:pPr>
            <a:r>
              <a:rPr lang="en-US" sz="2200" dirty="0">
                <a:solidFill>
                  <a:srgbClr val="D9E1FF"/>
                </a:solidFill>
                <a:latin typeface="Kanit" pitchFamily="34" charset="0"/>
                <a:ea typeface="Kanit" pitchFamily="34" charset="-122"/>
                <a:cs typeface="Kanit" pitchFamily="34" charset="-120"/>
              </a:rPr>
              <a:t>Résultats des Charges Couvertes</a:t>
            </a:r>
            <a:endParaRPr lang="en-US" sz="2200" dirty="0"/>
          </a:p>
        </p:txBody>
      </p:sp>
      <p:sp>
        <p:nvSpPr>
          <p:cNvPr id="13" name="Rectangle 12">
            <a:extLst>
              <a:ext uri="{FF2B5EF4-FFF2-40B4-BE49-F238E27FC236}">
                <a16:creationId xmlns:a16="http://schemas.microsoft.com/office/drawing/2014/main" id="{301EDD6A-92A1-1962-6EAE-BB622E9742D9}"/>
              </a:ext>
            </a:extLst>
          </p:cNvPr>
          <p:cNvSpPr/>
          <p:nvPr/>
        </p:nvSpPr>
        <p:spPr>
          <a:xfrm>
            <a:off x="12655253" y="7654175"/>
            <a:ext cx="1951463" cy="524107"/>
          </a:xfrm>
          <a:prstGeom prst="rect">
            <a:avLst/>
          </a:prstGeom>
          <a:solidFill>
            <a:srgbClr val="100C35"/>
          </a:solidFill>
          <a:ln>
            <a:solidFill>
              <a:srgbClr val="100C3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mc:AlternateContent xmlns:mc="http://schemas.openxmlformats.org/markup-compatibility/2006" xmlns:p14="http://schemas.microsoft.com/office/powerpoint/2010/main">
    <mc:Choice Requires="p14">
      <p:transition spd="slow" p14:dur="1600">
        <p14:prism isInverted="1"/>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childTnLst>
                    </p:cTn>
                  </p:par>
                  <p:par>
                    <p:cTn id="15" fill="hold">
                      <p:stCondLst>
                        <p:cond delay="indefinite"/>
                      </p:stCondLst>
                      <p:childTnLst>
                        <p:par>
                          <p:cTn id="16" fill="hold">
                            <p:stCondLst>
                              <p:cond delay="0"/>
                            </p:stCondLst>
                            <p:childTnLst>
                              <p:par>
                                <p:cTn id="17" presetID="22" presetClass="entr" presetSubtype="4" fill="hold" nodeType="clickEffect">
                                  <p:stCondLst>
                                    <p:cond delay="0"/>
                                  </p:stCondLst>
                                  <p:childTnLst>
                                    <p:set>
                                      <p:cBhvr>
                                        <p:cTn id="18" dur="1" fill="hold">
                                          <p:stCondLst>
                                            <p:cond delay="0"/>
                                          </p:stCondLst>
                                        </p:cTn>
                                        <p:tgtEl>
                                          <p:spTgt spid="5">
                                            <p:txEl>
                                              <p:pRg st="0" end="0"/>
                                            </p:txEl>
                                          </p:spTgt>
                                        </p:tgtEl>
                                        <p:attrNameLst>
                                          <p:attrName>style.visibility</p:attrName>
                                        </p:attrNameLst>
                                      </p:cBhvr>
                                      <p:to>
                                        <p:strVal val="visible"/>
                                      </p:to>
                                    </p:set>
                                    <p:animEffect transition="in" filter="wipe(down)">
                                      <p:cBhvr>
                                        <p:cTn id="19" dur="500"/>
                                        <p:tgtEl>
                                          <p:spTgt spid="5">
                                            <p:txEl>
                                              <p:pRg st="0" end="0"/>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grpId="0"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wipe(down)">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4"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wipe(down)">
                                      <p:cBhvr>
                                        <p:cTn id="29" dur="50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4" fill="hold" nodeType="clickEffect">
                                  <p:stCondLst>
                                    <p:cond delay="0"/>
                                  </p:stCondLst>
                                  <p:childTnLst>
                                    <p:set>
                                      <p:cBhvr>
                                        <p:cTn id="38" dur="1" fill="hold">
                                          <p:stCondLst>
                                            <p:cond delay="0"/>
                                          </p:stCondLst>
                                        </p:cTn>
                                        <p:tgtEl>
                                          <p:spTgt spid="11">
                                            <p:txEl>
                                              <p:pRg st="0" end="0"/>
                                            </p:txEl>
                                          </p:spTgt>
                                        </p:tgtEl>
                                        <p:attrNameLst>
                                          <p:attrName>style.visibility</p:attrName>
                                        </p:attrNameLst>
                                      </p:cBhvr>
                                      <p:to>
                                        <p:strVal val="visible"/>
                                      </p:to>
                                    </p:set>
                                    <p:animEffect transition="in" filter="wipe(down)">
                                      <p:cBhvr>
                                        <p:cTn id="39" dur="5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7" grpId="0" animBg="1"/>
      <p:bldP spid="8" grpId="0" animBg="1"/>
      <p:bldP spid="1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3838753" y="913170"/>
            <a:ext cx="6952893" cy="704017"/>
          </a:xfrm>
          <a:prstGeom prst="rect">
            <a:avLst/>
          </a:prstGeom>
          <a:noFill/>
          <a:ln/>
        </p:spPr>
        <p:txBody>
          <a:bodyPr wrap="none" lIns="0" tIns="0" rIns="0" bIns="0" rtlCol="0" anchor="t"/>
          <a:lstStyle/>
          <a:p>
            <a:pPr marL="0" indent="0" algn="ctr">
              <a:lnSpc>
                <a:spcPts val="5500"/>
              </a:lnSpc>
              <a:buNone/>
            </a:pPr>
            <a:r>
              <a:rPr lang="en-US" sz="4400" dirty="0">
                <a:solidFill>
                  <a:srgbClr val="FFFFFF"/>
                </a:solidFill>
                <a:latin typeface="Kanit" pitchFamily="34" charset="0"/>
                <a:ea typeface="Kanit" pitchFamily="34" charset="-122"/>
                <a:cs typeface="Kanit" pitchFamily="34" charset="-120"/>
              </a:rPr>
              <a:t>Historique des Transactions</a:t>
            </a:r>
            <a:endParaRPr lang="en-US" sz="4400" dirty="0"/>
          </a:p>
        </p:txBody>
      </p:sp>
      <p:sp>
        <p:nvSpPr>
          <p:cNvPr id="3" name="Text 1"/>
          <p:cNvSpPr/>
          <p:nvPr/>
        </p:nvSpPr>
        <p:spPr>
          <a:xfrm>
            <a:off x="2206585" y="4266843"/>
            <a:ext cx="2816185" cy="351949"/>
          </a:xfrm>
          <a:prstGeom prst="rect">
            <a:avLst/>
          </a:prstGeom>
          <a:noFill/>
          <a:ln/>
        </p:spPr>
        <p:txBody>
          <a:bodyPr wrap="none" lIns="0" tIns="0" rIns="0" bIns="0" rtlCol="0" anchor="t"/>
          <a:lstStyle/>
          <a:p>
            <a:pPr marL="0" indent="0" algn="r">
              <a:lnSpc>
                <a:spcPts val="2750"/>
              </a:lnSpc>
              <a:buNone/>
            </a:pPr>
            <a:r>
              <a:rPr lang="en-US" sz="2200" dirty="0">
                <a:solidFill>
                  <a:srgbClr val="D9E1FF"/>
                </a:solidFill>
                <a:latin typeface="Kanit" pitchFamily="34" charset="0"/>
                <a:ea typeface="Kanit" pitchFamily="34" charset="-122"/>
                <a:cs typeface="Kanit" pitchFamily="34" charset="-120"/>
              </a:rPr>
              <a:t>Charges</a:t>
            </a:r>
            <a:endParaRPr lang="en-US" sz="2200" dirty="0"/>
          </a:p>
        </p:txBody>
      </p:sp>
      <p:sp>
        <p:nvSpPr>
          <p:cNvPr id="4" name="Text 2"/>
          <p:cNvSpPr/>
          <p:nvPr/>
        </p:nvSpPr>
        <p:spPr>
          <a:xfrm>
            <a:off x="837724" y="4762381"/>
            <a:ext cx="4185047" cy="383024"/>
          </a:xfrm>
          <a:prstGeom prst="rect">
            <a:avLst/>
          </a:prstGeom>
          <a:noFill/>
          <a:ln/>
        </p:spPr>
        <p:txBody>
          <a:bodyPr wrap="none" lIns="0" tIns="0" rIns="0" bIns="0" rtlCol="0" anchor="t"/>
          <a:lstStyle/>
          <a:p>
            <a:pPr marL="0" indent="0" algn="r">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Suivi détaillé.</a:t>
            </a:r>
            <a:endParaRPr lang="en-US" sz="1850" dirty="0"/>
          </a:p>
        </p:txBody>
      </p:sp>
      <p:pic>
        <p:nvPicPr>
          <p:cNvPr id="5" name="Image 0" descr="preencoded.png"/>
          <p:cNvPicPr>
            <a:picLocks noChangeAspect="1"/>
          </p:cNvPicPr>
          <p:nvPr/>
        </p:nvPicPr>
        <p:blipFill>
          <a:blip r:embed="rId3"/>
          <a:stretch>
            <a:fillRect/>
          </a:stretch>
        </p:blipFill>
        <p:spPr>
          <a:xfrm>
            <a:off x="5589602" y="2973408"/>
            <a:ext cx="3627358" cy="3627358"/>
          </a:xfrm>
          <a:prstGeom prst="rect">
            <a:avLst/>
          </a:prstGeom>
        </p:spPr>
      </p:pic>
      <p:sp>
        <p:nvSpPr>
          <p:cNvPr id="6" name="Shape 3"/>
          <p:cNvSpPr/>
          <p:nvPr/>
        </p:nvSpPr>
        <p:spPr>
          <a:xfrm>
            <a:off x="5368493" y="4355485"/>
            <a:ext cx="598408" cy="598408"/>
          </a:xfrm>
          <a:prstGeom prst="roundRect">
            <a:avLst>
              <a:gd name="adj" fmla="val 1526526"/>
            </a:avLst>
          </a:prstGeom>
          <a:solidFill>
            <a:srgbClr val="2F2B54"/>
          </a:solidFill>
          <a:ln/>
        </p:spPr>
        <p:txBody>
          <a:bodyPr/>
          <a:lstStyle/>
          <a:p>
            <a:endParaRPr lang="fr-FR"/>
          </a:p>
        </p:txBody>
      </p:sp>
      <p:sp>
        <p:nvSpPr>
          <p:cNvPr id="7" name="Text 4"/>
          <p:cNvSpPr/>
          <p:nvPr/>
        </p:nvSpPr>
        <p:spPr>
          <a:xfrm>
            <a:off x="5521422" y="4425791"/>
            <a:ext cx="269200" cy="336590"/>
          </a:xfrm>
          <a:prstGeom prst="rect">
            <a:avLst/>
          </a:prstGeom>
          <a:noFill/>
          <a:ln/>
        </p:spPr>
        <p:txBody>
          <a:bodyPr wrap="none" lIns="0" tIns="0" rIns="0" bIns="0" rtlCol="0" anchor="t"/>
          <a:lstStyle/>
          <a:p>
            <a:pPr marL="0" indent="0" algn="ctr">
              <a:lnSpc>
                <a:spcPts val="3350"/>
              </a:lnSpc>
              <a:buNone/>
            </a:pPr>
            <a:r>
              <a:rPr lang="en-US" sz="2100" dirty="0">
                <a:solidFill>
                  <a:srgbClr val="D9E1FF"/>
                </a:solidFill>
                <a:latin typeface="Kanit" pitchFamily="34" charset="0"/>
                <a:ea typeface="Kanit" pitchFamily="34" charset="-122"/>
                <a:cs typeface="Kanit" pitchFamily="34" charset="-120"/>
              </a:rPr>
              <a:t>1</a:t>
            </a:r>
            <a:endParaRPr lang="en-US" sz="2100" dirty="0"/>
          </a:p>
        </p:txBody>
      </p:sp>
      <p:sp>
        <p:nvSpPr>
          <p:cNvPr id="8" name="Text 5"/>
          <p:cNvSpPr/>
          <p:nvPr/>
        </p:nvSpPr>
        <p:spPr>
          <a:xfrm>
            <a:off x="9607629" y="4266843"/>
            <a:ext cx="2816185" cy="351949"/>
          </a:xfrm>
          <a:prstGeom prst="rect">
            <a:avLst/>
          </a:prstGeom>
          <a:noFill/>
          <a:ln/>
        </p:spPr>
        <p:txBody>
          <a:bodyPr wrap="none" lIns="0" tIns="0" rIns="0" bIns="0" rtlCol="0" anchor="t"/>
          <a:lstStyle/>
          <a:p>
            <a:pPr marL="0" indent="0" algn="l">
              <a:lnSpc>
                <a:spcPts val="2750"/>
              </a:lnSpc>
              <a:buNone/>
            </a:pPr>
            <a:r>
              <a:rPr lang="en-US" sz="2200" dirty="0">
                <a:solidFill>
                  <a:srgbClr val="D9E1FF"/>
                </a:solidFill>
                <a:latin typeface="Kanit" pitchFamily="34" charset="0"/>
                <a:ea typeface="Kanit" pitchFamily="34" charset="-122"/>
                <a:cs typeface="Kanit" pitchFamily="34" charset="-120"/>
              </a:rPr>
              <a:t>Factures</a:t>
            </a:r>
            <a:endParaRPr lang="en-US" sz="2200" dirty="0"/>
          </a:p>
        </p:txBody>
      </p:sp>
      <p:sp>
        <p:nvSpPr>
          <p:cNvPr id="9" name="Text 6"/>
          <p:cNvSpPr/>
          <p:nvPr/>
        </p:nvSpPr>
        <p:spPr>
          <a:xfrm>
            <a:off x="9607629" y="4762381"/>
            <a:ext cx="4185047" cy="383024"/>
          </a:xfrm>
          <a:prstGeom prst="rect">
            <a:avLst/>
          </a:prstGeom>
          <a:noFill/>
          <a:ln/>
        </p:spPr>
        <p:txBody>
          <a:bodyPr wrap="none" lIns="0" tIns="0" rIns="0" bIns="0" rtlCol="0" anchor="t"/>
          <a:lstStyle/>
          <a:p>
            <a:pPr marL="0" indent="0" algn="l">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Vue d'ensemble.</a:t>
            </a:r>
            <a:endParaRPr lang="en-US" sz="1850" dirty="0"/>
          </a:p>
        </p:txBody>
      </p:sp>
      <p:pic>
        <p:nvPicPr>
          <p:cNvPr id="10" name="Image 1" descr="preencoded.png"/>
          <p:cNvPicPr>
            <a:picLocks noChangeAspect="1"/>
          </p:cNvPicPr>
          <p:nvPr/>
        </p:nvPicPr>
        <p:blipFill>
          <a:blip r:embed="rId4"/>
          <a:stretch>
            <a:fillRect/>
          </a:stretch>
        </p:blipFill>
        <p:spPr>
          <a:xfrm>
            <a:off x="5727588" y="2973408"/>
            <a:ext cx="3627358" cy="3627358"/>
          </a:xfrm>
          <a:prstGeom prst="rect">
            <a:avLst/>
          </a:prstGeom>
        </p:spPr>
      </p:pic>
      <p:sp>
        <p:nvSpPr>
          <p:cNvPr id="11" name="Shape 7"/>
          <p:cNvSpPr/>
          <p:nvPr/>
        </p:nvSpPr>
        <p:spPr>
          <a:xfrm>
            <a:off x="8962704" y="4357672"/>
            <a:ext cx="598408" cy="598408"/>
          </a:xfrm>
          <a:prstGeom prst="roundRect">
            <a:avLst>
              <a:gd name="adj" fmla="val 1526526"/>
            </a:avLst>
          </a:prstGeom>
          <a:solidFill>
            <a:srgbClr val="2F2B54"/>
          </a:solidFill>
          <a:ln/>
        </p:spPr>
        <p:txBody>
          <a:bodyPr/>
          <a:lstStyle/>
          <a:p>
            <a:endParaRPr lang="fr-FR"/>
          </a:p>
        </p:txBody>
      </p:sp>
      <p:sp>
        <p:nvSpPr>
          <p:cNvPr id="12" name="Text 8"/>
          <p:cNvSpPr/>
          <p:nvPr/>
        </p:nvSpPr>
        <p:spPr>
          <a:xfrm>
            <a:off x="9137962" y="4425791"/>
            <a:ext cx="269200" cy="336590"/>
          </a:xfrm>
          <a:prstGeom prst="rect">
            <a:avLst/>
          </a:prstGeom>
          <a:noFill/>
          <a:ln/>
        </p:spPr>
        <p:txBody>
          <a:bodyPr wrap="none" lIns="0" tIns="0" rIns="0" bIns="0" rtlCol="0" anchor="t"/>
          <a:lstStyle/>
          <a:p>
            <a:pPr marL="0" indent="0" algn="ctr">
              <a:lnSpc>
                <a:spcPts val="3350"/>
              </a:lnSpc>
              <a:buNone/>
            </a:pPr>
            <a:r>
              <a:rPr lang="en-US" sz="2100" dirty="0">
                <a:solidFill>
                  <a:srgbClr val="D9E1FF"/>
                </a:solidFill>
                <a:latin typeface="Kanit" pitchFamily="34" charset="0"/>
                <a:ea typeface="Kanit" pitchFamily="34" charset="-122"/>
                <a:cs typeface="Kanit" pitchFamily="34" charset="-120"/>
              </a:rPr>
              <a:t>2</a:t>
            </a:r>
            <a:endParaRPr lang="en-US" sz="2100" dirty="0"/>
          </a:p>
        </p:txBody>
      </p:sp>
      <p:sp>
        <p:nvSpPr>
          <p:cNvPr id="13" name="Rectangle 12">
            <a:extLst>
              <a:ext uri="{FF2B5EF4-FFF2-40B4-BE49-F238E27FC236}">
                <a16:creationId xmlns:a16="http://schemas.microsoft.com/office/drawing/2014/main" id="{E8DB7D21-D077-7CA9-09A6-6E8E3E066155}"/>
              </a:ext>
            </a:extLst>
          </p:cNvPr>
          <p:cNvSpPr/>
          <p:nvPr/>
        </p:nvSpPr>
        <p:spPr>
          <a:xfrm>
            <a:off x="12655253" y="7654175"/>
            <a:ext cx="1951463" cy="524107"/>
          </a:xfrm>
          <a:prstGeom prst="rect">
            <a:avLst/>
          </a:prstGeom>
          <a:solidFill>
            <a:srgbClr val="100C35"/>
          </a:solidFill>
          <a:ln>
            <a:solidFill>
              <a:srgbClr val="100C3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500"/>
                                        <p:tgtEl>
                                          <p:spTgt spid="3"/>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4"/>
                                        </p:tgtEl>
                                        <p:attrNameLst>
                                          <p:attrName>style.visibility</p:attrName>
                                        </p:attrNameLst>
                                      </p:cBhvr>
                                      <p:to>
                                        <p:strVal val="visible"/>
                                      </p:to>
                                    </p:set>
                                    <p:animEffect transition="in" filter="fade">
                                      <p:cBhvr>
                                        <p:cTn id="19" dur="500"/>
                                        <p:tgtEl>
                                          <p:spTgt spid="4"/>
                                        </p:tgtEl>
                                      </p:cBhvr>
                                    </p:animEffect>
                                  </p:childTnLst>
                                </p:cTn>
                              </p:par>
                            </p:childTnLst>
                          </p:cTn>
                        </p:par>
                      </p:childTnLst>
                    </p:cTn>
                  </p:par>
                  <p:par>
                    <p:cTn id="20" fill="hold">
                      <p:stCondLst>
                        <p:cond delay="indefinite"/>
                      </p:stCondLst>
                      <p:childTnLst>
                        <p:par>
                          <p:cTn id="21" fill="hold">
                            <p:stCondLst>
                              <p:cond delay="0"/>
                            </p:stCondLst>
                            <p:childTnLst>
                              <p:par>
                                <p:cTn id="22" presetID="16" presetClass="entr" presetSubtype="21" fill="hold" nodeType="clickEffect">
                                  <p:stCondLst>
                                    <p:cond delay="0"/>
                                  </p:stCondLst>
                                  <p:childTnLst>
                                    <p:set>
                                      <p:cBhvr>
                                        <p:cTn id="23" dur="1" fill="hold">
                                          <p:stCondLst>
                                            <p:cond delay="0"/>
                                          </p:stCondLst>
                                        </p:cTn>
                                        <p:tgtEl>
                                          <p:spTgt spid="5"/>
                                        </p:tgtEl>
                                        <p:attrNameLst>
                                          <p:attrName>style.visibility</p:attrName>
                                        </p:attrNameLst>
                                      </p:cBhvr>
                                      <p:to>
                                        <p:strVal val="visible"/>
                                      </p:to>
                                    </p:set>
                                    <p:animEffect transition="in" filter="barn(inVertical)">
                                      <p:cBhvr>
                                        <p:cTn id="24" dur="500"/>
                                        <p:tgtEl>
                                          <p:spTgt spid="5"/>
                                        </p:tgtEl>
                                      </p:cBhvr>
                                    </p:animEffect>
                                  </p:childTnLst>
                                </p:cTn>
                              </p:par>
                            </p:childTnLst>
                          </p:cTn>
                        </p:par>
                      </p:childTnLst>
                    </p:cTn>
                  </p:par>
                  <p:par>
                    <p:cTn id="25" fill="hold">
                      <p:stCondLst>
                        <p:cond delay="indefinite"/>
                      </p:stCondLst>
                      <p:childTnLst>
                        <p:par>
                          <p:cTn id="26" fill="hold">
                            <p:stCondLst>
                              <p:cond delay="0"/>
                            </p:stCondLst>
                            <p:childTnLst>
                              <p:par>
                                <p:cTn id="27" presetID="16" presetClass="entr" presetSubtype="21" fill="hold" grpId="0" nodeType="clickEffect">
                                  <p:stCondLst>
                                    <p:cond delay="0"/>
                                  </p:stCondLst>
                                  <p:childTnLst>
                                    <p:set>
                                      <p:cBhvr>
                                        <p:cTn id="28" dur="1" fill="hold">
                                          <p:stCondLst>
                                            <p:cond delay="0"/>
                                          </p:stCondLst>
                                        </p:cTn>
                                        <p:tgtEl>
                                          <p:spTgt spid="6"/>
                                        </p:tgtEl>
                                        <p:attrNameLst>
                                          <p:attrName>style.visibility</p:attrName>
                                        </p:attrNameLst>
                                      </p:cBhvr>
                                      <p:to>
                                        <p:strVal val="visible"/>
                                      </p:to>
                                    </p:set>
                                    <p:animEffect transition="in" filter="barn(inVertical)">
                                      <p:cBhvr>
                                        <p:cTn id="29" dur="500"/>
                                        <p:tgtEl>
                                          <p:spTgt spid="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7"/>
                                        </p:tgtEl>
                                        <p:attrNameLst>
                                          <p:attrName>style.visibility</p:attrName>
                                        </p:attrNameLst>
                                      </p:cBhvr>
                                      <p:to>
                                        <p:strVal val="visible"/>
                                      </p:to>
                                    </p:set>
                                    <p:animEffect transition="in" filter="fade">
                                      <p:cBhvr>
                                        <p:cTn id="34" dur="500"/>
                                        <p:tgtEl>
                                          <p:spTgt spid="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8"/>
                                        </p:tgtEl>
                                        <p:attrNameLst>
                                          <p:attrName>style.visibility</p:attrName>
                                        </p:attrNameLst>
                                      </p:cBhvr>
                                      <p:to>
                                        <p:strVal val="visible"/>
                                      </p:to>
                                    </p:set>
                                    <p:animEffect transition="in" filter="fade">
                                      <p:cBhvr>
                                        <p:cTn id="39" dur="50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9"/>
                                        </p:tgtEl>
                                        <p:attrNameLst>
                                          <p:attrName>style.visibility</p:attrName>
                                        </p:attrNameLst>
                                      </p:cBhvr>
                                      <p:to>
                                        <p:strVal val="visible"/>
                                      </p:to>
                                    </p:set>
                                    <p:animEffect transition="in" filter="fade">
                                      <p:cBhvr>
                                        <p:cTn id="44" dur="500"/>
                                        <p:tgtEl>
                                          <p:spTgt spid="9"/>
                                        </p:tgtEl>
                                      </p:cBhvr>
                                    </p:animEffect>
                                  </p:childTnLst>
                                </p:cTn>
                              </p:par>
                            </p:childTnLst>
                          </p:cTn>
                        </p:par>
                      </p:childTnLst>
                    </p:cTn>
                  </p:par>
                  <p:par>
                    <p:cTn id="45" fill="hold">
                      <p:stCondLst>
                        <p:cond delay="indefinite"/>
                      </p:stCondLst>
                      <p:childTnLst>
                        <p:par>
                          <p:cTn id="46" fill="hold">
                            <p:stCondLst>
                              <p:cond delay="0"/>
                            </p:stCondLst>
                            <p:childTnLst>
                              <p:par>
                                <p:cTn id="47" presetID="16" presetClass="entr" presetSubtype="21" fill="hold" nodeType="clickEffect">
                                  <p:stCondLst>
                                    <p:cond delay="0"/>
                                  </p:stCondLst>
                                  <p:childTnLst>
                                    <p:set>
                                      <p:cBhvr>
                                        <p:cTn id="48" dur="1" fill="hold">
                                          <p:stCondLst>
                                            <p:cond delay="0"/>
                                          </p:stCondLst>
                                        </p:cTn>
                                        <p:tgtEl>
                                          <p:spTgt spid="10"/>
                                        </p:tgtEl>
                                        <p:attrNameLst>
                                          <p:attrName>style.visibility</p:attrName>
                                        </p:attrNameLst>
                                      </p:cBhvr>
                                      <p:to>
                                        <p:strVal val="visible"/>
                                      </p:to>
                                    </p:set>
                                    <p:animEffect transition="in" filter="barn(inVertical)">
                                      <p:cBhvr>
                                        <p:cTn id="49" dur="50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6" presetClass="entr" presetSubtype="21" fill="hold" grpId="0" nodeType="clickEffect">
                                  <p:stCondLst>
                                    <p:cond delay="0"/>
                                  </p:stCondLst>
                                  <p:childTnLst>
                                    <p:set>
                                      <p:cBhvr>
                                        <p:cTn id="53" dur="1" fill="hold">
                                          <p:stCondLst>
                                            <p:cond delay="0"/>
                                          </p:stCondLst>
                                        </p:cTn>
                                        <p:tgtEl>
                                          <p:spTgt spid="11"/>
                                        </p:tgtEl>
                                        <p:attrNameLst>
                                          <p:attrName>style.visibility</p:attrName>
                                        </p:attrNameLst>
                                      </p:cBhvr>
                                      <p:to>
                                        <p:strVal val="visible"/>
                                      </p:to>
                                    </p:set>
                                    <p:animEffect transition="in" filter="barn(inVertical)">
                                      <p:cBhvr>
                                        <p:cTn id="54" dur="500"/>
                                        <p:tgtEl>
                                          <p:spTgt spid="11"/>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12"/>
                                        </p:tgtEl>
                                        <p:attrNameLst>
                                          <p:attrName>style.visibility</p:attrName>
                                        </p:attrNameLst>
                                      </p:cBhvr>
                                      <p:to>
                                        <p:strVal val="visible"/>
                                      </p:to>
                                    </p:set>
                                    <p:animEffect transition="in" filter="fade">
                                      <p:cBhvr>
                                        <p:cTn id="5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6" grpId="0" animBg="1"/>
      <p:bldP spid="7" grpId="0" animBg="1"/>
      <p:bldP spid="8" grpId="0" animBg="1"/>
      <p:bldP spid="9" grpId="0" animBg="1"/>
      <p:bldP spid="11" grpId="0" animBg="1"/>
      <p:bldP spid="1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9445083" y="0"/>
            <a:ext cx="5185317" cy="8229600"/>
          </a:xfrm>
          <a:prstGeom prst="rect">
            <a:avLst/>
          </a:prstGeom>
        </p:spPr>
      </p:pic>
      <p:sp>
        <p:nvSpPr>
          <p:cNvPr id="3" name="Text 0"/>
          <p:cNvSpPr/>
          <p:nvPr/>
        </p:nvSpPr>
        <p:spPr>
          <a:xfrm>
            <a:off x="1888794" y="888948"/>
            <a:ext cx="5632490" cy="704017"/>
          </a:xfrm>
          <a:prstGeom prst="rect">
            <a:avLst/>
          </a:prstGeom>
          <a:noFill/>
          <a:ln/>
        </p:spPr>
        <p:txBody>
          <a:bodyPr wrap="none" lIns="0" tIns="0" rIns="0" bIns="0" rtlCol="0" anchor="t"/>
          <a:lstStyle/>
          <a:p>
            <a:pPr marL="0" indent="0" algn="ctr">
              <a:lnSpc>
                <a:spcPts val="5500"/>
              </a:lnSpc>
              <a:buNone/>
            </a:pPr>
            <a:r>
              <a:rPr lang="en-US" sz="4400" dirty="0">
                <a:solidFill>
                  <a:srgbClr val="FFFFFF"/>
                </a:solidFill>
                <a:latin typeface="Kanit" pitchFamily="34" charset="0"/>
                <a:ea typeface="Kanit" pitchFamily="34" charset="-122"/>
                <a:cs typeface="Kanit" pitchFamily="34" charset="-120"/>
              </a:rPr>
              <a:t>Résultats Financiers</a:t>
            </a:r>
            <a:endParaRPr lang="en-US" sz="4400" dirty="0"/>
          </a:p>
        </p:txBody>
      </p:sp>
      <p:pic>
        <p:nvPicPr>
          <p:cNvPr id="4" name="Image 1" descr="preencoded.png"/>
          <p:cNvPicPr>
            <a:picLocks noChangeAspect="1"/>
          </p:cNvPicPr>
          <p:nvPr/>
        </p:nvPicPr>
        <p:blipFill>
          <a:blip r:embed="rId4"/>
          <a:stretch>
            <a:fillRect/>
          </a:stretch>
        </p:blipFill>
        <p:spPr>
          <a:xfrm>
            <a:off x="2011442" y="3785830"/>
            <a:ext cx="2301002" cy="830580"/>
          </a:xfrm>
          <a:prstGeom prst="rect">
            <a:avLst/>
          </a:prstGeom>
        </p:spPr>
      </p:pic>
      <p:sp>
        <p:nvSpPr>
          <p:cNvPr id="5" name="Text 1"/>
          <p:cNvSpPr/>
          <p:nvPr/>
        </p:nvSpPr>
        <p:spPr>
          <a:xfrm>
            <a:off x="2993588" y="3990736"/>
            <a:ext cx="336590" cy="420767"/>
          </a:xfrm>
          <a:prstGeom prst="rect">
            <a:avLst/>
          </a:prstGeom>
          <a:noFill/>
          <a:ln/>
        </p:spPr>
        <p:txBody>
          <a:bodyPr wrap="none" lIns="0" tIns="0" rIns="0" bIns="0" rtlCol="0" anchor="t"/>
          <a:lstStyle/>
          <a:p>
            <a:pPr marL="0" indent="0" algn="ctr">
              <a:lnSpc>
                <a:spcPts val="4200"/>
              </a:lnSpc>
              <a:buNone/>
            </a:pPr>
            <a:r>
              <a:rPr lang="en-US" sz="2650" dirty="0">
                <a:solidFill>
                  <a:srgbClr val="D9E1FF"/>
                </a:solidFill>
                <a:latin typeface="Kanit" pitchFamily="34" charset="0"/>
                <a:ea typeface="Kanit" pitchFamily="34" charset="-122"/>
                <a:cs typeface="Kanit" pitchFamily="34" charset="-120"/>
              </a:rPr>
              <a:t>1</a:t>
            </a:r>
            <a:endParaRPr lang="en-US" sz="2650" dirty="0"/>
          </a:p>
        </p:txBody>
      </p:sp>
      <p:sp>
        <p:nvSpPr>
          <p:cNvPr id="6" name="Text 2"/>
          <p:cNvSpPr/>
          <p:nvPr/>
        </p:nvSpPr>
        <p:spPr>
          <a:xfrm>
            <a:off x="4551759" y="4025146"/>
            <a:ext cx="1045726" cy="351949"/>
          </a:xfrm>
          <a:prstGeom prst="rect">
            <a:avLst/>
          </a:prstGeom>
          <a:noFill/>
          <a:ln/>
        </p:spPr>
        <p:txBody>
          <a:bodyPr wrap="none" lIns="0" tIns="0" rIns="0" bIns="0" rtlCol="0" anchor="t"/>
          <a:lstStyle/>
          <a:p>
            <a:pPr marL="0" indent="0" algn="l">
              <a:lnSpc>
                <a:spcPts val="2750"/>
              </a:lnSpc>
              <a:buNone/>
            </a:pPr>
            <a:r>
              <a:rPr lang="en-US" sz="2200" dirty="0">
                <a:solidFill>
                  <a:srgbClr val="D9E1FF"/>
                </a:solidFill>
                <a:latin typeface="Kanit" pitchFamily="34" charset="0"/>
                <a:ea typeface="Kanit" pitchFamily="34" charset="-122"/>
                <a:cs typeface="Kanit" pitchFamily="34" charset="-120"/>
              </a:rPr>
              <a:t>Annuels</a:t>
            </a:r>
            <a:endParaRPr lang="en-US" sz="2200" dirty="0"/>
          </a:p>
        </p:txBody>
      </p:sp>
      <p:sp>
        <p:nvSpPr>
          <p:cNvPr id="7" name="Shape 3"/>
          <p:cNvSpPr/>
          <p:nvPr/>
        </p:nvSpPr>
        <p:spPr>
          <a:xfrm>
            <a:off x="4372213" y="4631054"/>
            <a:ext cx="3149071" cy="45719"/>
          </a:xfrm>
          <a:prstGeom prst="roundRect">
            <a:avLst>
              <a:gd name="adj" fmla="val 235611"/>
            </a:avLst>
          </a:prstGeom>
          <a:solidFill>
            <a:srgbClr val="48446D"/>
          </a:solidFill>
          <a:ln/>
        </p:spPr>
        <p:txBody>
          <a:bodyPr/>
          <a:lstStyle/>
          <a:p>
            <a:endParaRPr lang="fr-FR"/>
          </a:p>
        </p:txBody>
      </p:sp>
      <p:pic>
        <p:nvPicPr>
          <p:cNvPr id="8" name="Image 2" descr="preencoded.png"/>
          <p:cNvPicPr>
            <a:picLocks noChangeAspect="1"/>
          </p:cNvPicPr>
          <p:nvPr/>
        </p:nvPicPr>
        <p:blipFill>
          <a:blip r:embed="rId5"/>
          <a:stretch>
            <a:fillRect/>
          </a:stretch>
        </p:blipFill>
        <p:spPr>
          <a:xfrm>
            <a:off x="860941" y="4676180"/>
            <a:ext cx="4602123" cy="830580"/>
          </a:xfrm>
          <a:prstGeom prst="rect">
            <a:avLst/>
          </a:prstGeom>
        </p:spPr>
      </p:pic>
      <p:sp>
        <p:nvSpPr>
          <p:cNvPr id="9" name="Text 4"/>
          <p:cNvSpPr/>
          <p:nvPr/>
        </p:nvSpPr>
        <p:spPr>
          <a:xfrm>
            <a:off x="2993588" y="4705111"/>
            <a:ext cx="336590" cy="420767"/>
          </a:xfrm>
          <a:prstGeom prst="rect">
            <a:avLst/>
          </a:prstGeom>
          <a:noFill/>
          <a:ln/>
        </p:spPr>
        <p:txBody>
          <a:bodyPr wrap="none" lIns="0" tIns="0" rIns="0" bIns="0" rtlCol="0" anchor="t"/>
          <a:lstStyle/>
          <a:p>
            <a:pPr marL="0" indent="0" algn="ctr">
              <a:lnSpc>
                <a:spcPts val="4200"/>
              </a:lnSpc>
              <a:buNone/>
            </a:pPr>
            <a:r>
              <a:rPr lang="en-US" sz="2650" dirty="0">
                <a:solidFill>
                  <a:srgbClr val="D9E1FF"/>
                </a:solidFill>
                <a:latin typeface="Kanit" pitchFamily="34" charset="0"/>
                <a:ea typeface="Kanit" pitchFamily="34" charset="-122"/>
                <a:cs typeface="Kanit" pitchFamily="34" charset="-120"/>
              </a:rPr>
              <a:t>2</a:t>
            </a:r>
            <a:endParaRPr lang="en-US" sz="2650" dirty="0"/>
          </a:p>
        </p:txBody>
      </p:sp>
      <p:sp>
        <p:nvSpPr>
          <p:cNvPr id="10" name="Text 5"/>
          <p:cNvSpPr/>
          <p:nvPr/>
        </p:nvSpPr>
        <p:spPr>
          <a:xfrm>
            <a:off x="5702379" y="4915495"/>
            <a:ext cx="1180743" cy="351949"/>
          </a:xfrm>
          <a:prstGeom prst="rect">
            <a:avLst/>
          </a:prstGeom>
          <a:noFill/>
          <a:ln/>
        </p:spPr>
        <p:txBody>
          <a:bodyPr wrap="none" lIns="0" tIns="0" rIns="0" bIns="0" rtlCol="0" anchor="t"/>
          <a:lstStyle/>
          <a:p>
            <a:pPr marL="0" indent="0" algn="l">
              <a:lnSpc>
                <a:spcPts val="2750"/>
              </a:lnSpc>
              <a:buNone/>
            </a:pPr>
            <a:r>
              <a:rPr lang="en-US" sz="2200" dirty="0">
                <a:solidFill>
                  <a:srgbClr val="D9E1FF"/>
                </a:solidFill>
                <a:latin typeface="Kanit" pitchFamily="34" charset="0"/>
                <a:ea typeface="Kanit" pitchFamily="34" charset="-122"/>
                <a:cs typeface="Kanit" pitchFamily="34" charset="-120"/>
              </a:rPr>
              <a:t>Mensuels</a:t>
            </a:r>
            <a:endParaRPr lang="en-US" sz="2200"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wind"/>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2" presetClass="entr" presetSubtype="4" fill="hold" nodeType="clickEffect">
                                  <p:stCondLst>
                                    <p:cond delay="0"/>
                                  </p:stCondLst>
                                  <p:childTnLst>
                                    <p:set>
                                      <p:cBhvr>
                                        <p:cTn id="13" dur="1" fill="hold">
                                          <p:stCondLst>
                                            <p:cond delay="0"/>
                                          </p:stCondLst>
                                        </p:cTn>
                                        <p:tgtEl>
                                          <p:spTgt spid="4"/>
                                        </p:tgtEl>
                                        <p:attrNameLst>
                                          <p:attrName>style.visibility</p:attrName>
                                        </p:attrNameLst>
                                      </p:cBhvr>
                                      <p:to>
                                        <p:strVal val="visible"/>
                                      </p:to>
                                    </p:set>
                                    <p:anim calcmode="lin" valueType="num">
                                      <p:cBhvr additive="base">
                                        <p:cTn id="14" dur="500" fill="hold"/>
                                        <p:tgtEl>
                                          <p:spTgt spid="4"/>
                                        </p:tgtEl>
                                        <p:attrNameLst>
                                          <p:attrName>ppt_x</p:attrName>
                                        </p:attrNameLst>
                                      </p:cBhvr>
                                      <p:tavLst>
                                        <p:tav tm="0">
                                          <p:val>
                                            <p:strVal val="#ppt_x"/>
                                          </p:val>
                                        </p:tav>
                                        <p:tav tm="100000">
                                          <p:val>
                                            <p:strVal val="#ppt_x"/>
                                          </p:val>
                                        </p:tav>
                                      </p:tavLst>
                                    </p:anim>
                                    <p:anim calcmode="lin" valueType="num">
                                      <p:cBhvr additive="base">
                                        <p:cTn id="15"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2" presetClass="entr" presetSubtype="4" fill="hold" nodeType="clickEffect">
                                  <p:stCondLst>
                                    <p:cond delay="0"/>
                                  </p:stCondLst>
                                  <p:childTnLst>
                                    <p:set>
                                      <p:cBhvr>
                                        <p:cTn id="19" dur="1" fill="hold">
                                          <p:stCondLst>
                                            <p:cond delay="0"/>
                                          </p:stCondLst>
                                        </p:cTn>
                                        <p:tgtEl>
                                          <p:spTgt spid="8"/>
                                        </p:tgtEl>
                                        <p:attrNameLst>
                                          <p:attrName>style.visibility</p:attrName>
                                        </p:attrNameLst>
                                      </p:cBhvr>
                                      <p:to>
                                        <p:strVal val="visible"/>
                                      </p:to>
                                    </p:set>
                                    <p:anim calcmode="lin" valueType="num">
                                      <p:cBhvr additive="base">
                                        <p:cTn id="20" dur="500" fill="hold"/>
                                        <p:tgtEl>
                                          <p:spTgt spid="8"/>
                                        </p:tgtEl>
                                        <p:attrNameLst>
                                          <p:attrName>ppt_x</p:attrName>
                                        </p:attrNameLst>
                                      </p:cBhvr>
                                      <p:tavLst>
                                        <p:tav tm="0">
                                          <p:val>
                                            <p:strVal val="#ppt_x"/>
                                          </p:val>
                                        </p:tav>
                                        <p:tav tm="100000">
                                          <p:val>
                                            <p:strVal val="#ppt_x"/>
                                          </p:val>
                                        </p:tav>
                                      </p:tavLst>
                                    </p:anim>
                                    <p:anim calcmode="lin" valueType="num">
                                      <p:cBhvr additive="base">
                                        <p:cTn id="21"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16" presetClass="entr" presetSubtype="21"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barn(inVertical)">
                                      <p:cBhvr>
                                        <p:cTn id="26" dur="5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5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grpId="0" nodeType="clickEffect">
                                  <p:stCondLst>
                                    <p:cond delay="0"/>
                                  </p:stCondLst>
                                  <p:childTnLst>
                                    <p:set>
                                      <p:cBhvr>
                                        <p:cTn id="35" dur="1" fill="hold">
                                          <p:stCondLst>
                                            <p:cond delay="0"/>
                                          </p:stCondLst>
                                        </p:cTn>
                                        <p:tgtEl>
                                          <p:spTgt spid="6"/>
                                        </p:tgtEl>
                                        <p:attrNameLst>
                                          <p:attrName>style.visibility</p:attrName>
                                        </p:attrNameLst>
                                      </p:cBhvr>
                                      <p:to>
                                        <p:strVal val="visible"/>
                                      </p:to>
                                    </p:set>
                                    <p:animEffect transition="in" filter="fade">
                                      <p:cBhvr>
                                        <p:cTn id="36" dur="1000"/>
                                        <p:tgtEl>
                                          <p:spTgt spid="6"/>
                                        </p:tgtEl>
                                      </p:cBhvr>
                                    </p:animEffect>
                                    <p:anim calcmode="lin" valueType="num">
                                      <p:cBhvr>
                                        <p:cTn id="37" dur="1000" fill="hold"/>
                                        <p:tgtEl>
                                          <p:spTgt spid="6"/>
                                        </p:tgtEl>
                                        <p:attrNameLst>
                                          <p:attrName>ppt_x</p:attrName>
                                        </p:attrNameLst>
                                      </p:cBhvr>
                                      <p:tavLst>
                                        <p:tav tm="0">
                                          <p:val>
                                            <p:strVal val="#ppt_x"/>
                                          </p:val>
                                        </p:tav>
                                        <p:tav tm="100000">
                                          <p:val>
                                            <p:strVal val="#ppt_x"/>
                                          </p:val>
                                        </p:tav>
                                      </p:tavLst>
                                    </p:anim>
                                    <p:anim calcmode="lin" valueType="num">
                                      <p:cBhvr>
                                        <p:cTn id="3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9"/>
                                        </p:tgtEl>
                                        <p:attrNameLst>
                                          <p:attrName>style.visibility</p:attrName>
                                        </p:attrNameLst>
                                      </p:cBhvr>
                                      <p:to>
                                        <p:strVal val="visible"/>
                                      </p:to>
                                    </p:set>
                                    <p:animEffect transition="in" filter="fade">
                                      <p:cBhvr>
                                        <p:cTn id="43" dur="500"/>
                                        <p:tgtEl>
                                          <p:spTgt spid="9"/>
                                        </p:tgtEl>
                                      </p:cBhvr>
                                    </p:animEffect>
                                  </p:childTnLst>
                                </p:cTn>
                              </p:par>
                            </p:childTnLst>
                          </p:cTn>
                        </p:par>
                      </p:childTnLst>
                    </p:cTn>
                  </p:par>
                  <p:par>
                    <p:cTn id="44" fill="hold">
                      <p:stCondLst>
                        <p:cond delay="indefinite"/>
                      </p:stCondLst>
                      <p:childTnLst>
                        <p:par>
                          <p:cTn id="45" fill="hold">
                            <p:stCondLst>
                              <p:cond delay="0"/>
                            </p:stCondLst>
                            <p:childTnLst>
                              <p:par>
                                <p:cTn id="46" presetID="42" presetClass="entr" presetSubtype="0" fill="hold" grpId="0" nodeType="clickEffect">
                                  <p:stCondLst>
                                    <p:cond delay="0"/>
                                  </p:stCondLst>
                                  <p:childTnLst>
                                    <p:set>
                                      <p:cBhvr>
                                        <p:cTn id="47" dur="1" fill="hold">
                                          <p:stCondLst>
                                            <p:cond delay="0"/>
                                          </p:stCondLst>
                                        </p:cTn>
                                        <p:tgtEl>
                                          <p:spTgt spid="10"/>
                                        </p:tgtEl>
                                        <p:attrNameLst>
                                          <p:attrName>style.visibility</p:attrName>
                                        </p:attrNameLst>
                                      </p:cBhvr>
                                      <p:to>
                                        <p:strVal val="visible"/>
                                      </p:to>
                                    </p:set>
                                    <p:animEffect transition="in" filter="fade">
                                      <p:cBhvr>
                                        <p:cTn id="48" dur="1000"/>
                                        <p:tgtEl>
                                          <p:spTgt spid="10"/>
                                        </p:tgtEl>
                                      </p:cBhvr>
                                    </p:animEffect>
                                    <p:anim calcmode="lin" valueType="num">
                                      <p:cBhvr>
                                        <p:cTn id="49" dur="1000" fill="hold"/>
                                        <p:tgtEl>
                                          <p:spTgt spid="10"/>
                                        </p:tgtEl>
                                        <p:attrNameLst>
                                          <p:attrName>ppt_x</p:attrName>
                                        </p:attrNameLst>
                                      </p:cBhvr>
                                      <p:tavLst>
                                        <p:tav tm="0">
                                          <p:val>
                                            <p:strVal val="#ppt_x"/>
                                          </p:val>
                                        </p:tav>
                                        <p:tav tm="100000">
                                          <p:val>
                                            <p:strVal val="#ppt_x"/>
                                          </p:val>
                                        </p:tav>
                                      </p:tavLst>
                                    </p:anim>
                                    <p:anim calcmode="lin" valueType="num">
                                      <p:cBhvr>
                                        <p:cTn id="50"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6" grpId="0" animBg="1"/>
      <p:bldP spid="7" grpId="0" animBg="1"/>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p:nvPr/>
        </p:nvSpPr>
        <p:spPr>
          <a:xfrm>
            <a:off x="837725" y="1471962"/>
            <a:ext cx="7469934" cy="2816369"/>
          </a:xfrm>
          <a:prstGeom prst="rect">
            <a:avLst/>
          </a:prstGeom>
          <a:noFill/>
          <a:ln/>
        </p:spPr>
        <p:txBody>
          <a:bodyPr wrap="none" lIns="0" tIns="0" rIns="0" bIns="0" rtlCol="0" anchor="t"/>
          <a:lstStyle/>
          <a:p>
            <a:pPr marL="0" indent="0" algn="ctr">
              <a:lnSpc>
                <a:spcPts val="5500"/>
              </a:lnSpc>
              <a:buNone/>
            </a:pPr>
            <a:r>
              <a:rPr lang="en-US" sz="4400" dirty="0">
                <a:solidFill>
                  <a:srgbClr val="FFFFFF"/>
                </a:solidFill>
                <a:latin typeface="Kanit" pitchFamily="34" charset="0"/>
                <a:ea typeface="Kanit" pitchFamily="34" charset="-122"/>
                <a:cs typeface="Kanit" pitchFamily="34" charset="-120"/>
              </a:rPr>
              <a:t>Gestion des </a:t>
            </a:r>
            <a:r>
              <a:rPr lang="en-US" sz="4400" dirty="0" err="1">
                <a:solidFill>
                  <a:srgbClr val="FFFFFF"/>
                </a:solidFill>
                <a:latin typeface="Kanit" pitchFamily="34" charset="0"/>
                <a:ea typeface="Kanit" pitchFamily="34" charset="-122"/>
                <a:cs typeface="Kanit" pitchFamily="34" charset="-120"/>
              </a:rPr>
              <a:t>Autorisations</a:t>
            </a:r>
            <a:r>
              <a:rPr lang="en-US" sz="4400" dirty="0">
                <a:solidFill>
                  <a:srgbClr val="FFFFFF"/>
                </a:solidFill>
                <a:latin typeface="Kanit" pitchFamily="34" charset="0"/>
                <a:ea typeface="Kanit" pitchFamily="34" charset="-122"/>
                <a:cs typeface="Kanit" pitchFamily="34" charset="-120"/>
              </a:rPr>
              <a:t> </a:t>
            </a:r>
          </a:p>
          <a:p>
            <a:pPr marL="0" indent="0" algn="ctr">
              <a:lnSpc>
                <a:spcPts val="5500"/>
              </a:lnSpc>
              <a:buNone/>
            </a:pPr>
            <a:r>
              <a:rPr lang="en-US" sz="4400" dirty="0" err="1">
                <a:solidFill>
                  <a:srgbClr val="FFFFFF"/>
                </a:solidFill>
                <a:latin typeface="Kanit" pitchFamily="34" charset="0"/>
                <a:ea typeface="Kanit" pitchFamily="34" charset="-122"/>
                <a:cs typeface="Kanit" pitchFamily="34" charset="-120"/>
              </a:rPr>
              <a:t>d'Accès</a:t>
            </a:r>
            <a:endParaRPr lang="en-US" sz="4400" dirty="0"/>
          </a:p>
        </p:txBody>
      </p:sp>
      <p:pic>
        <p:nvPicPr>
          <p:cNvPr id="4" name="Image 0" descr="preencoded.png">
            <a:extLst>
              <a:ext uri="{FF2B5EF4-FFF2-40B4-BE49-F238E27FC236}">
                <a16:creationId xmlns:a16="http://schemas.microsoft.com/office/drawing/2014/main" id="{196F6712-2387-7A39-7029-055C2B3A6CC2}"/>
              </a:ext>
            </a:extLst>
          </p:cNvPr>
          <p:cNvPicPr>
            <a:picLocks noChangeAspect="1"/>
          </p:cNvPicPr>
          <p:nvPr/>
        </p:nvPicPr>
        <p:blipFill>
          <a:blip r:embed="rId3"/>
          <a:stretch>
            <a:fillRect/>
          </a:stretch>
        </p:blipFill>
        <p:spPr>
          <a:xfrm>
            <a:off x="9144000" y="0"/>
            <a:ext cx="5486400" cy="8229600"/>
          </a:xfrm>
          <a:prstGeom prst="rect">
            <a:avLst/>
          </a:prstGeom>
        </p:spPr>
      </p:pic>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2000">
        <p15:prstTrans prst="drap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11" name="Shape 1">
            <a:extLst>
              <a:ext uri="{FF2B5EF4-FFF2-40B4-BE49-F238E27FC236}">
                <a16:creationId xmlns:a16="http://schemas.microsoft.com/office/drawing/2014/main" id="{F5E56AA6-E4D6-6FBF-860F-4A026E070C71}"/>
              </a:ext>
            </a:extLst>
          </p:cNvPr>
          <p:cNvSpPr/>
          <p:nvPr/>
        </p:nvSpPr>
        <p:spPr>
          <a:xfrm>
            <a:off x="7873767" y="2786870"/>
            <a:ext cx="4529018" cy="1709142"/>
          </a:xfrm>
          <a:prstGeom prst="roundRect">
            <a:avLst>
              <a:gd name="adj" fmla="val 2101"/>
            </a:avLst>
          </a:prstGeom>
          <a:solidFill>
            <a:srgbClr val="2F2B54"/>
          </a:solidFill>
          <a:ln/>
        </p:spPr>
        <p:txBody>
          <a:bodyPr/>
          <a:lstStyle/>
          <a:p>
            <a:endParaRPr lang="fr-FR" dirty="0"/>
          </a:p>
        </p:txBody>
      </p:sp>
      <p:sp>
        <p:nvSpPr>
          <p:cNvPr id="10" name="Shape 1">
            <a:extLst>
              <a:ext uri="{FF2B5EF4-FFF2-40B4-BE49-F238E27FC236}">
                <a16:creationId xmlns:a16="http://schemas.microsoft.com/office/drawing/2014/main" id="{F7B1D0E3-F889-EC10-BCEF-C7D3F72C3F53}"/>
              </a:ext>
            </a:extLst>
          </p:cNvPr>
          <p:cNvSpPr/>
          <p:nvPr/>
        </p:nvSpPr>
        <p:spPr>
          <a:xfrm>
            <a:off x="2126918" y="2786870"/>
            <a:ext cx="4529018" cy="1709142"/>
          </a:xfrm>
          <a:prstGeom prst="roundRect">
            <a:avLst>
              <a:gd name="adj" fmla="val 2101"/>
            </a:avLst>
          </a:prstGeom>
          <a:solidFill>
            <a:srgbClr val="2F2B54"/>
          </a:solidFill>
          <a:ln/>
        </p:spPr>
        <p:txBody>
          <a:bodyPr/>
          <a:lstStyle/>
          <a:p>
            <a:endParaRPr lang="fr-FR"/>
          </a:p>
        </p:txBody>
      </p:sp>
      <p:sp>
        <p:nvSpPr>
          <p:cNvPr id="2" name="Text 0"/>
          <p:cNvSpPr/>
          <p:nvPr/>
        </p:nvSpPr>
        <p:spPr>
          <a:xfrm>
            <a:off x="3191411" y="1044541"/>
            <a:ext cx="8247578" cy="704017"/>
          </a:xfrm>
          <a:prstGeom prst="rect">
            <a:avLst/>
          </a:prstGeom>
          <a:noFill/>
          <a:ln/>
        </p:spPr>
        <p:txBody>
          <a:bodyPr wrap="none" lIns="0" tIns="0" rIns="0" bIns="0" rtlCol="0" anchor="t"/>
          <a:lstStyle/>
          <a:p>
            <a:pPr marL="0" indent="0" algn="ctr">
              <a:lnSpc>
                <a:spcPts val="5500"/>
              </a:lnSpc>
              <a:buNone/>
            </a:pPr>
            <a:r>
              <a:rPr lang="en-US" sz="4400" dirty="0">
                <a:solidFill>
                  <a:srgbClr val="FFFFFF"/>
                </a:solidFill>
                <a:latin typeface="Kanit" pitchFamily="34" charset="0"/>
                <a:ea typeface="Kanit" pitchFamily="34" charset="-122"/>
                <a:cs typeface="Kanit" pitchFamily="34" charset="-120"/>
              </a:rPr>
              <a:t>Dashboard Plateforme Geld Pilot</a:t>
            </a:r>
            <a:endParaRPr lang="en-US" sz="4400" dirty="0"/>
          </a:p>
        </p:txBody>
      </p:sp>
      <p:pic>
        <p:nvPicPr>
          <p:cNvPr id="3" name="Image 0" descr="preencoded.png"/>
          <p:cNvPicPr>
            <a:picLocks noChangeAspect="1"/>
          </p:cNvPicPr>
          <p:nvPr/>
        </p:nvPicPr>
        <p:blipFill>
          <a:blip r:embed="rId3"/>
          <a:stretch>
            <a:fillRect/>
          </a:stretch>
        </p:blipFill>
        <p:spPr>
          <a:xfrm>
            <a:off x="4092223" y="3031882"/>
            <a:ext cx="598408" cy="598408"/>
          </a:xfrm>
          <a:prstGeom prst="rect">
            <a:avLst/>
          </a:prstGeom>
        </p:spPr>
      </p:pic>
      <p:sp>
        <p:nvSpPr>
          <p:cNvPr id="4" name="Text 1"/>
          <p:cNvSpPr/>
          <p:nvPr/>
        </p:nvSpPr>
        <p:spPr>
          <a:xfrm>
            <a:off x="2983334" y="3803376"/>
            <a:ext cx="2816185" cy="351949"/>
          </a:xfrm>
          <a:prstGeom prst="rect">
            <a:avLst/>
          </a:prstGeom>
          <a:noFill/>
          <a:ln/>
        </p:spPr>
        <p:txBody>
          <a:bodyPr wrap="none" lIns="0" tIns="0" rIns="0" bIns="0" rtlCol="0" anchor="t"/>
          <a:lstStyle/>
          <a:p>
            <a:pPr marL="0" indent="0" algn="ctr">
              <a:lnSpc>
                <a:spcPts val="2750"/>
              </a:lnSpc>
              <a:buNone/>
            </a:pPr>
            <a:r>
              <a:rPr lang="en-US" sz="2200" dirty="0">
                <a:solidFill>
                  <a:srgbClr val="D9E1FF"/>
                </a:solidFill>
                <a:latin typeface="Kanit" pitchFamily="34" charset="0"/>
                <a:ea typeface="Kanit" pitchFamily="34" charset="-122"/>
                <a:cs typeface="Kanit" pitchFamily="34" charset="-120"/>
              </a:rPr>
              <a:t>Prédiction Financière</a:t>
            </a:r>
            <a:endParaRPr lang="en-US" sz="2200" dirty="0"/>
          </a:p>
        </p:txBody>
      </p:sp>
      <p:pic>
        <p:nvPicPr>
          <p:cNvPr id="6" name="Image 1"/>
          <p:cNvPicPr>
            <a:picLocks noChangeAspect="1"/>
          </p:cNvPicPr>
          <p:nvPr/>
        </p:nvPicPr>
        <p:blipFill>
          <a:blip r:embed="rId4">
            <a:extLst>
              <a:ext uri="{96DAC541-7B7A-43D3-8B79-37D633B846F1}">
                <asvg:svgBlip xmlns:asvg="http://schemas.microsoft.com/office/drawing/2016/SVG/main" r:embed="rId5"/>
              </a:ext>
              <a:ext uri="{837473B0-CC2E-450A-ABE3-18F120FF3D39}">
                <a1611:picAttrSrcUrl xmlns:a1611="http://schemas.microsoft.com/office/drawing/2016/11/main" r:id="rId6"/>
              </a:ext>
            </a:extLst>
          </a:blip>
          <a:srcRect/>
          <a:stretch/>
        </p:blipFill>
        <p:spPr>
          <a:xfrm>
            <a:off x="9839073" y="3043033"/>
            <a:ext cx="598408" cy="598408"/>
          </a:xfrm>
          <a:prstGeom prst="rect">
            <a:avLst/>
          </a:prstGeom>
        </p:spPr>
      </p:pic>
      <p:sp>
        <p:nvSpPr>
          <p:cNvPr id="7" name="Text 3"/>
          <p:cNvSpPr/>
          <p:nvPr/>
        </p:nvSpPr>
        <p:spPr>
          <a:xfrm>
            <a:off x="8480450" y="3797744"/>
            <a:ext cx="3315653" cy="351949"/>
          </a:xfrm>
          <a:prstGeom prst="rect">
            <a:avLst/>
          </a:prstGeom>
          <a:noFill/>
          <a:ln/>
        </p:spPr>
        <p:txBody>
          <a:bodyPr wrap="none" lIns="0" tIns="0" rIns="0" bIns="0" rtlCol="0" anchor="t"/>
          <a:lstStyle/>
          <a:p>
            <a:pPr marL="0" indent="0" algn="l">
              <a:lnSpc>
                <a:spcPts val="2750"/>
              </a:lnSpc>
              <a:buNone/>
            </a:pPr>
            <a:r>
              <a:rPr lang="en-US" sz="2200" dirty="0">
                <a:solidFill>
                  <a:srgbClr val="D9E1FF"/>
                </a:solidFill>
                <a:latin typeface="Kanit" pitchFamily="34" charset="0"/>
                <a:ea typeface="Kanit" pitchFamily="34" charset="-122"/>
                <a:cs typeface="Kanit" pitchFamily="34" charset="-120"/>
              </a:rPr>
              <a:t>Visualisation des Données</a:t>
            </a:r>
            <a:endParaRPr lang="en-US" sz="2200" dirty="0"/>
          </a:p>
        </p:txBody>
      </p:sp>
      <p:sp>
        <p:nvSpPr>
          <p:cNvPr id="9" name="Rectangle 8">
            <a:extLst>
              <a:ext uri="{FF2B5EF4-FFF2-40B4-BE49-F238E27FC236}">
                <a16:creationId xmlns:a16="http://schemas.microsoft.com/office/drawing/2014/main" id="{AD1BFF60-86E8-A501-4FFA-A5594E60A655}"/>
              </a:ext>
            </a:extLst>
          </p:cNvPr>
          <p:cNvSpPr/>
          <p:nvPr/>
        </p:nvSpPr>
        <p:spPr>
          <a:xfrm>
            <a:off x="12655253" y="7654175"/>
            <a:ext cx="1951463" cy="524107"/>
          </a:xfrm>
          <a:prstGeom prst="rect">
            <a:avLst/>
          </a:prstGeom>
          <a:solidFill>
            <a:srgbClr val="100C35"/>
          </a:solidFill>
          <a:ln>
            <a:solidFill>
              <a:srgbClr val="100C3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ppt_x"/>
                                          </p:val>
                                        </p:tav>
                                        <p:tav tm="100000">
                                          <p:val>
                                            <p:strVal val="#ppt_x"/>
                                          </p:val>
                                        </p:tav>
                                      </p:tavLst>
                                    </p:anim>
                                    <p:anim calcmode="lin" valueType="num">
                                      <p:cBhvr additive="base">
                                        <p:cTn id="20"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6" presetClass="entr" presetSubtype="21" fill="hold" grpId="0" nodeType="clickEffect">
                                  <p:stCondLst>
                                    <p:cond delay="0"/>
                                  </p:stCondLst>
                                  <p:childTnLst>
                                    <p:set>
                                      <p:cBhvr>
                                        <p:cTn id="24" dur="1" fill="hold">
                                          <p:stCondLst>
                                            <p:cond delay="0"/>
                                          </p:stCondLst>
                                        </p:cTn>
                                        <p:tgtEl>
                                          <p:spTgt spid="4"/>
                                        </p:tgtEl>
                                        <p:attrNameLst>
                                          <p:attrName>style.visibility</p:attrName>
                                        </p:attrNameLst>
                                      </p:cBhvr>
                                      <p:to>
                                        <p:strVal val="visible"/>
                                      </p:to>
                                    </p:set>
                                    <p:animEffect transition="in" filter="barn(inVertical)">
                                      <p:cBhvr>
                                        <p:cTn id="25" dur="500"/>
                                        <p:tgtEl>
                                          <p:spTgt spid="4"/>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nodeType="clickEffect">
                                  <p:stCondLst>
                                    <p:cond delay="0"/>
                                  </p:stCondLst>
                                  <p:childTnLst>
                                    <p:set>
                                      <p:cBhvr>
                                        <p:cTn id="34" dur="1" fill="hold">
                                          <p:stCondLst>
                                            <p:cond delay="0"/>
                                          </p:stCondLst>
                                        </p:cTn>
                                        <p:tgtEl>
                                          <p:spTgt spid="6"/>
                                        </p:tgtEl>
                                        <p:attrNameLst>
                                          <p:attrName>style.visibility</p:attrName>
                                        </p:attrNameLst>
                                      </p:cBhvr>
                                      <p:to>
                                        <p:strVal val="visible"/>
                                      </p:to>
                                    </p:set>
                                    <p:anim calcmode="lin" valueType="num">
                                      <p:cBhvr additive="base">
                                        <p:cTn id="35" dur="500" fill="hold"/>
                                        <p:tgtEl>
                                          <p:spTgt spid="6"/>
                                        </p:tgtEl>
                                        <p:attrNameLst>
                                          <p:attrName>ppt_x</p:attrName>
                                        </p:attrNameLst>
                                      </p:cBhvr>
                                      <p:tavLst>
                                        <p:tav tm="0">
                                          <p:val>
                                            <p:strVal val="#ppt_x"/>
                                          </p:val>
                                        </p:tav>
                                        <p:tav tm="100000">
                                          <p:val>
                                            <p:strVal val="#ppt_x"/>
                                          </p:val>
                                        </p:tav>
                                      </p:tavLst>
                                    </p:anim>
                                    <p:anim calcmode="lin" valueType="num">
                                      <p:cBhvr additive="base">
                                        <p:cTn id="36"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16" presetClass="entr" presetSubtype="21" fill="hold" grpId="0" nodeType="click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barn(inVertical)">
                                      <p:cBhvr>
                                        <p:cTn id="41"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0" grpId="0" animBg="1"/>
      <p:bldP spid="2" grpId="0" animBg="1"/>
      <p:bldP spid="4" grpId="0" animBg="1"/>
      <p:bldP spid="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4" name="Shape 1">
            <a:extLst>
              <a:ext uri="{FF2B5EF4-FFF2-40B4-BE49-F238E27FC236}">
                <a16:creationId xmlns:a16="http://schemas.microsoft.com/office/drawing/2014/main" id="{F8E56428-0123-886F-5098-07A92AEA8784}"/>
              </a:ext>
            </a:extLst>
          </p:cNvPr>
          <p:cNvSpPr/>
          <p:nvPr/>
        </p:nvSpPr>
        <p:spPr>
          <a:xfrm>
            <a:off x="8053017" y="5201798"/>
            <a:ext cx="2962063" cy="1709142"/>
          </a:xfrm>
          <a:prstGeom prst="roundRect">
            <a:avLst>
              <a:gd name="adj" fmla="val 2101"/>
            </a:avLst>
          </a:prstGeom>
          <a:solidFill>
            <a:srgbClr val="2F2B54"/>
          </a:solidFill>
          <a:ln/>
        </p:spPr>
        <p:txBody>
          <a:bodyPr/>
          <a:lstStyle/>
          <a:p>
            <a:endParaRPr lang="fr-FR"/>
          </a:p>
        </p:txBody>
      </p:sp>
      <p:sp>
        <p:nvSpPr>
          <p:cNvPr id="23" name="Shape 1">
            <a:extLst>
              <a:ext uri="{FF2B5EF4-FFF2-40B4-BE49-F238E27FC236}">
                <a16:creationId xmlns:a16="http://schemas.microsoft.com/office/drawing/2014/main" id="{C13B3F6E-945C-894C-4067-72C47578ACCB}"/>
              </a:ext>
            </a:extLst>
          </p:cNvPr>
          <p:cNvSpPr/>
          <p:nvPr/>
        </p:nvSpPr>
        <p:spPr>
          <a:xfrm>
            <a:off x="3615081" y="5232857"/>
            <a:ext cx="2962063" cy="1709142"/>
          </a:xfrm>
          <a:prstGeom prst="roundRect">
            <a:avLst>
              <a:gd name="adj" fmla="val 2101"/>
            </a:avLst>
          </a:prstGeom>
          <a:solidFill>
            <a:srgbClr val="2F2B54"/>
          </a:solidFill>
          <a:ln/>
        </p:spPr>
        <p:txBody>
          <a:bodyPr/>
          <a:lstStyle/>
          <a:p>
            <a:endParaRPr lang="fr-FR" dirty="0"/>
          </a:p>
        </p:txBody>
      </p:sp>
      <p:sp>
        <p:nvSpPr>
          <p:cNvPr id="22" name="Shape 1">
            <a:extLst>
              <a:ext uri="{FF2B5EF4-FFF2-40B4-BE49-F238E27FC236}">
                <a16:creationId xmlns:a16="http://schemas.microsoft.com/office/drawing/2014/main" id="{D43E9028-0A7E-FB86-6503-9994A1037CD4}"/>
              </a:ext>
            </a:extLst>
          </p:cNvPr>
          <p:cNvSpPr/>
          <p:nvPr/>
        </p:nvSpPr>
        <p:spPr>
          <a:xfrm>
            <a:off x="10771112" y="2709266"/>
            <a:ext cx="1963925" cy="1709142"/>
          </a:xfrm>
          <a:prstGeom prst="roundRect">
            <a:avLst>
              <a:gd name="adj" fmla="val 2101"/>
            </a:avLst>
          </a:prstGeom>
          <a:solidFill>
            <a:srgbClr val="2F2B54"/>
          </a:solidFill>
          <a:ln/>
        </p:spPr>
        <p:txBody>
          <a:bodyPr/>
          <a:lstStyle/>
          <a:p>
            <a:endParaRPr lang="fr-FR" dirty="0"/>
          </a:p>
        </p:txBody>
      </p:sp>
      <p:sp>
        <p:nvSpPr>
          <p:cNvPr id="21" name="Shape 1">
            <a:extLst>
              <a:ext uri="{FF2B5EF4-FFF2-40B4-BE49-F238E27FC236}">
                <a16:creationId xmlns:a16="http://schemas.microsoft.com/office/drawing/2014/main" id="{1B023A69-3912-B5BD-A6C8-7419847A4A64}"/>
              </a:ext>
            </a:extLst>
          </p:cNvPr>
          <p:cNvSpPr/>
          <p:nvPr/>
        </p:nvSpPr>
        <p:spPr>
          <a:xfrm>
            <a:off x="6333118" y="2743498"/>
            <a:ext cx="1963925" cy="1709142"/>
          </a:xfrm>
          <a:prstGeom prst="roundRect">
            <a:avLst>
              <a:gd name="adj" fmla="val 2101"/>
            </a:avLst>
          </a:prstGeom>
          <a:solidFill>
            <a:srgbClr val="2F2B54"/>
          </a:solidFill>
          <a:ln/>
        </p:spPr>
        <p:txBody>
          <a:bodyPr/>
          <a:lstStyle/>
          <a:p>
            <a:endParaRPr lang="fr-FR"/>
          </a:p>
        </p:txBody>
      </p:sp>
      <p:sp>
        <p:nvSpPr>
          <p:cNvPr id="20" name="Shape 1">
            <a:extLst>
              <a:ext uri="{FF2B5EF4-FFF2-40B4-BE49-F238E27FC236}">
                <a16:creationId xmlns:a16="http://schemas.microsoft.com/office/drawing/2014/main" id="{DDEEBAAB-C08A-BAA1-C5C5-5A367CEDA6B0}"/>
              </a:ext>
            </a:extLst>
          </p:cNvPr>
          <p:cNvSpPr/>
          <p:nvPr/>
        </p:nvSpPr>
        <p:spPr>
          <a:xfrm>
            <a:off x="1827490" y="2726710"/>
            <a:ext cx="1963925" cy="1709142"/>
          </a:xfrm>
          <a:prstGeom prst="roundRect">
            <a:avLst>
              <a:gd name="adj" fmla="val 2101"/>
            </a:avLst>
          </a:prstGeom>
          <a:solidFill>
            <a:srgbClr val="2F2B54"/>
          </a:solidFill>
          <a:ln/>
        </p:spPr>
        <p:txBody>
          <a:bodyPr/>
          <a:lstStyle/>
          <a:p>
            <a:endParaRPr lang="fr-FR"/>
          </a:p>
        </p:txBody>
      </p:sp>
      <p:sp>
        <p:nvSpPr>
          <p:cNvPr id="2" name="Text 0"/>
          <p:cNvSpPr/>
          <p:nvPr/>
        </p:nvSpPr>
        <p:spPr>
          <a:xfrm>
            <a:off x="837604" y="832826"/>
            <a:ext cx="12954952" cy="1408033"/>
          </a:xfrm>
          <a:prstGeom prst="rect">
            <a:avLst/>
          </a:prstGeom>
          <a:noFill/>
          <a:ln/>
        </p:spPr>
        <p:txBody>
          <a:bodyPr wrap="square" lIns="0" tIns="0" rIns="0" bIns="0" rtlCol="0" anchor="t"/>
          <a:lstStyle/>
          <a:p>
            <a:pPr marL="0" indent="0" algn="ctr">
              <a:lnSpc>
                <a:spcPts val="5500"/>
              </a:lnSpc>
              <a:buNone/>
            </a:pPr>
            <a:r>
              <a:rPr lang="en-US" sz="4400" dirty="0">
                <a:solidFill>
                  <a:srgbClr val="FFFFFF"/>
                </a:solidFill>
                <a:latin typeface="Kanit" pitchFamily="34" charset="0"/>
                <a:ea typeface="Kanit" pitchFamily="34" charset="-122"/>
                <a:cs typeface="Kanit" pitchFamily="34" charset="-120"/>
              </a:rPr>
              <a:t>Tableau de Bord Power BI pour la Visualisation des Données</a:t>
            </a:r>
            <a:endParaRPr lang="en-US" sz="4400" dirty="0"/>
          </a:p>
        </p:txBody>
      </p:sp>
      <p:pic>
        <p:nvPicPr>
          <p:cNvPr id="3" name="Image 0" descr="preencoded.png"/>
          <p:cNvPicPr>
            <a:picLocks noChangeAspect="1"/>
          </p:cNvPicPr>
          <p:nvPr/>
        </p:nvPicPr>
        <p:blipFill>
          <a:blip r:embed="rId3"/>
          <a:stretch>
            <a:fillRect/>
          </a:stretch>
        </p:blipFill>
        <p:spPr>
          <a:xfrm>
            <a:off x="2577941" y="2982873"/>
            <a:ext cx="598408" cy="598408"/>
          </a:xfrm>
          <a:prstGeom prst="rect">
            <a:avLst/>
          </a:prstGeom>
        </p:spPr>
      </p:pic>
      <p:sp>
        <p:nvSpPr>
          <p:cNvPr id="4" name="Text 1"/>
          <p:cNvSpPr/>
          <p:nvPr/>
        </p:nvSpPr>
        <p:spPr>
          <a:xfrm>
            <a:off x="1469112" y="3820597"/>
            <a:ext cx="2816185" cy="351949"/>
          </a:xfrm>
          <a:prstGeom prst="rect">
            <a:avLst/>
          </a:prstGeom>
          <a:noFill/>
          <a:ln/>
        </p:spPr>
        <p:txBody>
          <a:bodyPr wrap="none" lIns="0" tIns="0" rIns="0" bIns="0" rtlCol="0" anchor="t"/>
          <a:lstStyle/>
          <a:p>
            <a:pPr marL="0" indent="0" algn="ctr">
              <a:lnSpc>
                <a:spcPts val="2750"/>
              </a:lnSpc>
              <a:buNone/>
            </a:pPr>
            <a:r>
              <a:rPr lang="en-US" sz="2200" dirty="0">
                <a:solidFill>
                  <a:srgbClr val="D9E1FF"/>
                </a:solidFill>
                <a:latin typeface="Kanit" pitchFamily="34" charset="0"/>
                <a:ea typeface="Kanit" pitchFamily="34" charset="-122"/>
                <a:cs typeface="Kanit" pitchFamily="34" charset="-120"/>
              </a:rPr>
              <a:t>Clients</a:t>
            </a:r>
            <a:endParaRPr lang="en-US" sz="2200" dirty="0"/>
          </a:p>
        </p:txBody>
      </p:sp>
      <p:sp>
        <p:nvSpPr>
          <p:cNvPr id="5" name="Text 2"/>
          <p:cNvSpPr/>
          <p:nvPr/>
        </p:nvSpPr>
        <p:spPr>
          <a:xfrm>
            <a:off x="837724" y="4316135"/>
            <a:ext cx="4078962" cy="383024"/>
          </a:xfrm>
          <a:prstGeom prst="rect">
            <a:avLst/>
          </a:prstGeom>
          <a:noFill/>
          <a:ln/>
        </p:spPr>
        <p:txBody>
          <a:bodyPr wrap="none" lIns="0" tIns="0" rIns="0" bIns="0" rtlCol="0" anchor="t"/>
          <a:lstStyle/>
          <a:p>
            <a:pPr marL="0" indent="0" algn="ctr">
              <a:lnSpc>
                <a:spcPts val="3000"/>
              </a:lnSpc>
              <a:buNone/>
            </a:pPr>
            <a:endParaRPr lang="en-US" sz="1850" dirty="0"/>
          </a:p>
        </p:txBody>
      </p:sp>
      <p:pic>
        <p:nvPicPr>
          <p:cNvPr id="6" name="Image 1" descr="preencoded.png"/>
          <p:cNvPicPr>
            <a:picLocks noChangeAspect="1"/>
          </p:cNvPicPr>
          <p:nvPr/>
        </p:nvPicPr>
        <p:blipFill>
          <a:blip r:embed="rId4"/>
          <a:stretch>
            <a:fillRect/>
          </a:stretch>
        </p:blipFill>
        <p:spPr>
          <a:xfrm>
            <a:off x="7015877" y="2982873"/>
            <a:ext cx="598408" cy="598408"/>
          </a:xfrm>
          <a:prstGeom prst="rect">
            <a:avLst/>
          </a:prstGeom>
        </p:spPr>
      </p:pic>
      <p:sp>
        <p:nvSpPr>
          <p:cNvPr id="7" name="Text 3"/>
          <p:cNvSpPr/>
          <p:nvPr/>
        </p:nvSpPr>
        <p:spPr>
          <a:xfrm>
            <a:off x="5907048" y="3820597"/>
            <a:ext cx="2816185" cy="351949"/>
          </a:xfrm>
          <a:prstGeom prst="rect">
            <a:avLst/>
          </a:prstGeom>
          <a:noFill/>
          <a:ln/>
        </p:spPr>
        <p:txBody>
          <a:bodyPr wrap="none" lIns="0" tIns="0" rIns="0" bIns="0" rtlCol="0" anchor="t"/>
          <a:lstStyle/>
          <a:p>
            <a:pPr marL="0" indent="0" algn="ctr">
              <a:lnSpc>
                <a:spcPts val="2750"/>
              </a:lnSpc>
              <a:buNone/>
            </a:pPr>
            <a:r>
              <a:rPr lang="en-US" sz="2200" dirty="0">
                <a:solidFill>
                  <a:srgbClr val="D9E1FF"/>
                </a:solidFill>
                <a:latin typeface="Kanit" pitchFamily="34" charset="0"/>
                <a:ea typeface="Kanit" pitchFamily="34" charset="-122"/>
                <a:cs typeface="Kanit" pitchFamily="34" charset="-120"/>
              </a:rPr>
              <a:t>Charges</a:t>
            </a:r>
            <a:endParaRPr lang="en-US" sz="2200" dirty="0"/>
          </a:p>
        </p:txBody>
      </p:sp>
      <p:sp>
        <p:nvSpPr>
          <p:cNvPr id="8" name="Text 4"/>
          <p:cNvSpPr/>
          <p:nvPr/>
        </p:nvSpPr>
        <p:spPr>
          <a:xfrm>
            <a:off x="5275659" y="4316135"/>
            <a:ext cx="4078962" cy="383024"/>
          </a:xfrm>
          <a:prstGeom prst="rect">
            <a:avLst/>
          </a:prstGeom>
          <a:noFill/>
          <a:ln/>
        </p:spPr>
        <p:txBody>
          <a:bodyPr wrap="none" lIns="0" tIns="0" rIns="0" bIns="0" rtlCol="0" anchor="t"/>
          <a:lstStyle/>
          <a:p>
            <a:pPr marL="0" indent="0" algn="ctr">
              <a:lnSpc>
                <a:spcPts val="3000"/>
              </a:lnSpc>
              <a:buNone/>
            </a:pPr>
            <a:endParaRPr lang="en-US" sz="1850" dirty="0"/>
          </a:p>
        </p:txBody>
      </p:sp>
      <p:pic>
        <p:nvPicPr>
          <p:cNvPr id="9" name="Image 2" descr="preencoded.png"/>
          <p:cNvPicPr>
            <a:picLocks noChangeAspect="1"/>
          </p:cNvPicPr>
          <p:nvPr/>
        </p:nvPicPr>
        <p:blipFill>
          <a:blip r:embed="rId5"/>
          <a:stretch>
            <a:fillRect/>
          </a:stretch>
        </p:blipFill>
        <p:spPr>
          <a:xfrm>
            <a:off x="11453932" y="2982873"/>
            <a:ext cx="598408" cy="598408"/>
          </a:xfrm>
          <a:prstGeom prst="rect">
            <a:avLst/>
          </a:prstGeom>
        </p:spPr>
      </p:pic>
      <p:sp>
        <p:nvSpPr>
          <p:cNvPr id="10" name="Text 5"/>
          <p:cNvSpPr/>
          <p:nvPr/>
        </p:nvSpPr>
        <p:spPr>
          <a:xfrm>
            <a:off x="10344983" y="3820597"/>
            <a:ext cx="2816185" cy="351949"/>
          </a:xfrm>
          <a:prstGeom prst="rect">
            <a:avLst/>
          </a:prstGeom>
          <a:noFill/>
          <a:ln/>
        </p:spPr>
        <p:txBody>
          <a:bodyPr wrap="none" lIns="0" tIns="0" rIns="0" bIns="0" rtlCol="0" anchor="t"/>
          <a:lstStyle/>
          <a:p>
            <a:pPr marL="0" indent="0" algn="ctr">
              <a:lnSpc>
                <a:spcPts val="2750"/>
              </a:lnSpc>
              <a:buNone/>
            </a:pPr>
            <a:r>
              <a:rPr lang="en-US" sz="2200" dirty="0">
                <a:solidFill>
                  <a:srgbClr val="D9E1FF"/>
                </a:solidFill>
                <a:latin typeface="Kanit" pitchFamily="34" charset="0"/>
                <a:ea typeface="Kanit" pitchFamily="34" charset="-122"/>
                <a:cs typeface="Kanit" pitchFamily="34" charset="-120"/>
              </a:rPr>
              <a:t>Revenus</a:t>
            </a:r>
            <a:endParaRPr lang="en-US" sz="2200" dirty="0"/>
          </a:p>
        </p:txBody>
      </p:sp>
      <p:sp>
        <p:nvSpPr>
          <p:cNvPr id="11" name="Text 6"/>
          <p:cNvSpPr/>
          <p:nvPr/>
        </p:nvSpPr>
        <p:spPr>
          <a:xfrm>
            <a:off x="9713595" y="4316135"/>
            <a:ext cx="4079081" cy="383024"/>
          </a:xfrm>
          <a:prstGeom prst="rect">
            <a:avLst/>
          </a:prstGeom>
          <a:noFill/>
          <a:ln/>
        </p:spPr>
        <p:txBody>
          <a:bodyPr wrap="none" lIns="0" tIns="0" rIns="0" bIns="0" rtlCol="0" anchor="t"/>
          <a:lstStyle/>
          <a:p>
            <a:pPr marL="0" indent="0" algn="ctr">
              <a:lnSpc>
                <a:spcPts val="3000"/>
              </a:lnSpc>
              <a:buNone/>
            </a:pPr>
            <a:endParaRPr lang="en-US" sz="1850" dirty="0"/>
          </a:p>
        </p:txBody>
      </p:sp>
      <p:pic>
        <p:nvPicPr>
          <p:cNvPr id="12" name="Image 3" descr="preencoded.png"/>
          <p:cNvPicPr>
            <a:picLocks noChangeAspect="1"/>
          </p:cNvPicPr>
          <p:nvPr/>
        </p:nvPicPr>
        <p:blipFill>
          <a:blip r:embed="rId6"/>
          <a:stretch>
            <a:fillRect/>
          </a:stretch>
        </p:blipFill>
        <p:spPr>
          <a:xfrm>
            <a:off x="4796909" y="5417225"/>
            <a:ext cx="598408" cy="598408"/>
          </a:xfrm>
          <a:prstGeom prst="rect">
            <a:avLst/>
          </a:prstGeom>
        </p:spPr>
      </p:pic>
      <p:sp>
        <p:nvSpPr>
          <p:cNvPr id="13" name="Text 7"/>
          <p:cNvSpPr/>
          <p:nvPr/>
        </p:nvSpPr>
        <p:spPr>
          <a:xfrm>
            <a:off x="3688080" y="6254948"/>
            <a:ext cx="2816185" cy="351949"/>
          </a:xfrm>
          <a:prstGeom prst="rect">
            <a:avLst/>
          </a:prstGeom>
          <a:noFill/>
          <a:ln/>
        </p:spPr>
        <p:txBody>
          <a:bodyPr wrap="none" lIns="0" tIns="0" rIns="0" bIns="0" rtlCol="0" anchor="t"/>
          <a:lstStyle/>
          <a:p>
            <a:pPr marL="0" indent="0" algn="ctr">
              <a:lnSpc>
                <a:spcPts val="2750"/>
              </a:lnSpc>
              <a:buNone/>
            </a:pPr>
            <a:r>
              <a:rPr lang="en-US" sz="2200" dirty="0">
                <a:solidFill>
                  <a:srgbClr val="D9E1FF"/>
                </a:solidFill>
                <a:latin typeface="Kanit" pitchFamily="34" charset="0"/>
                <a:ea typeface="Kanit" pitchFamily="34" charset="-122"/>
                <a:cs typeface="Kanit" pitchFamily="34" charset="-120"/>
              </a:rPr>
              <a:t>Résultats Mensuels</a:t>
            </a:r>
            <a:endParaRPr lang="en-US" sz="2200" dirty="0"/>
          </a:p>
        </p:txBody>
      </p:sp>
      <p:sp>
        <p:nvSpPr>
          <p:cNvPr id="14" name="Text 8"/>
          <p:cNvSpPr/>
          <p:nvPr/>
        </p:nvSpPr>
        <p:spPr>
          <a:xfrm>
            <a:off x="3056692" y="6750487"/>
            <a:ext cx="4078962" cy="383024"/>
          </a:xfrm>
          <a:prstGeom prst="rect">
            <a:avLst/>
          </a:prstGeom>
          <a:noFill/>
          <a:ln/>
        </p:spPr>
        <p:txBody>
          <a:bodyPr wrap="none" lIns="0" tIns="0" rIns="0" bIns="0" rtlCol="0" anchor="t"/>
          <a:lstStyle/>
          <a:p>
            <a:pPr marL="0" indent="0" algn="ctr">
              <a:lnSpc>
                <a:spcPts val="3000"/>
              </a:lnSpc>
              <a:buNone/>
            </a:pPr>
            <a:endParaRPr lang="en-US" sz="1850" dirty="0"/>
          </a:p>
        </p:txBody>
      </p:sp>
      <p:pic>
        <p:nvPicPr>
          <p:cNvPr id="15" name="Image 4" descr="preencoded.png"/>
          <p:cNvPicPr>
            <a:picLocks noChangeAspect="1"/>
          </p:cNvPicPr>
          <p:nvPr/>
        </p:nvPicPr>
        <p:blipFill>
          <a:blip r:embed="rId6"/>
          <a:stretch>
            <a:fillRect/>
          </a:stretch>
        </p:blipFill>
        <p:spPr>
          <a:xfrm>
            <a:off x="9234845" y="5417225"/>
            <a:ext cx="598408" cy="598408"/>
          </a:xfrm>
          <a:prstGeom prst="rect">
            <a:avLst/>
          </a:prstGeom>
        </p:spPr>
      </p:pic>
      <p:sp>
        <p:nvSpPr>
          <p:cNvPr id="16" name="Text 9"/>
          <p:cNvSpPr/>
          <p:nvPr/>
        </p:nvSpPr>
        <p:spPr>
          <a:xfrm>
            <a:off x="8126016" y="6254948"/>
            <a:ext cx="2816185" cy="351949"/>
          </a:xfrm>
          <a:prstGeom prst="rect">
            <a:avLst/>
          </a:prstGeom>
          <a:noFill/>
          <a:ln/>
        </p:spPr>
        <p:txBody>
          <a:bodyPr wrap="none" lIns="0" tIns="0" rIns="0" bIns="0" rtlCol="0" anchor="t"/>
          <a:lstStyle/>
          <a:p>
            <a:pPr marL="0" indent="0" algn="ctr">
              <a:lnSpc>
                <a:spcPts val="2750"/>
              </a:lnSpc>
              <a:buNone/>
            </a:pPr>
            <a:r>
              <a:rPr lang="en-US" sz="2200" dirty="0">
                <a:solidFill>
                  <a:srgbClr val="D9E1FF"/>
                </a:solidFill>
                <a:latin typeface="Kanit" pitchFamily="34" charset="0"/>
                <a:ea typeface="Kanit" pitchFamily="34" charset="-122"/>
                <a:cs typeface="Kanit" pitchFamily="34" charset="-120"/>
              </a:rPr>
              <a:t>Résultats Annuels</a:t>
            </a:r>
            <a:endParaRPr lang="en-US" sz="2200" dirty="0"/>
          </a:p>
        </p:txBody>
      </p:sp>
      <p:sp>
        <p:nvSpPr>
          <p:cNvPr id="17" name="Text 10"/>
          <p:cNvSpPr/>
          <p:nvPr/>
        </p:nvSpPr>
        <p:spPr>
          <a:xfrm>
            <a:off x="7494627" y="6750487"/>
            <a:ext cx="4078962" cy="383024"/>
          </a:xfrm>
          <a:prstGeom prst="rect">
            <a:avLst/>
          </a:prstGeom>
          <a:noFill/>
          <a:ln/>
        </p:spPr>
        <p:txBody>
          <a:bodyPr wrap="none" lIns="0" tIns="0" rIns="0" bIns="0" rtlCol="0" anchor="t"/>
          <a:lstStyle/>
          <a:p>
            <a:pPr marL="0" indent="0" algn="ctr">
              <a:lnSpc>
                <a:spcPts val="3000"/>
              </a:lnSpc>
              <a:buNone/>
            </a:pPr>
            <a:endParaRPr lang="en-US" sz="1850" dirty="0"/>
          </a:p>
        </p:txBody>
      </p:sp>
      <p:sp>
        <p:nvSpPr>
          <p:cNvPr id="18" name="Rectangle 17">
            <a:extLst>
              <a:ext uri="{FF2B5EF4-FFF2-40B4-BE49-F238E27FC236}">
                <a16:creationId xmlns:a16="http://schemas.microsoft.com/office/drawing/2014/main" id="{0C19D026-6148-783D-67FA-0BD3BC47AD40}"/>
              </a:ext>
            </a:extLst>
          </p:cNvPr>
          <p:cNvSpPr/>
          <p:nvPr/>
        </p:nvSpPr>
        <p:spPr>
          <a:xfrm>
            <a:off x="12655253" y="7654175"/>
            <a:ext cx="1951463" cy="524107"/>
          </a:xfrm>
          <a:prstGeom prst="rect">
            <a:avLst/>
          </a:prstGeom>
          <a:solidFill>
            <a:srgbClr val="100C35"/>
          </a:solidFill>
          <a:ln>
            <a:solidFill>
              <a:srgbClr val="100C3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peelOff"/>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20"/>
                                        </p:tgtEl>
                                        <p:attrNameLst>
                                          <p:attrName>style.visibility</p:attrName>
                                        </p:attrNameLst>
                                      </p:cBhvr>
                                      <p:to>
                                        <p:strVal val="visible"/>
                                      </p:to>
                                    </p:set>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42" presetClass="entr" presetSubtype="0"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fade">
                                      <p:cBhvr>
                                        <p:cTn id="19" dur="1000"/>
                                        <p:tgtEl>
                                          <p:spTgt spid="3"/>
                                        </p:tgtEl>
                                      </p:cBhvr>
                                    </p:animEffect>
                                    <p:anim calcmode="lin" valueType="num">
                                      <p:cBhvr>
                                        <p:cTn id="20" dur="1000" fill="hold"/>
                                        <p:tgtEl>
                                          <p:spTgt spid="3"/>
                                        </p:tgtEl>
                                        <p:attrNameLst>
                                          <p:attrName>ppt_x</p:attrName>
                                        </p:attrNameLst>
                                      </p:cBhvr>
                                      <p:tavLst>
                                        <p:tav tm="0">
                                          <p:val>
                                            <p:strVal val="#ppt_x"/>
                                          </p:val>
                                        </p:tav>
                                        <p:tav tm="100000">
                                          <p:val>
                                            <p:strVal val="#ppt_x"/>
                                          </p:val>
                                        </p:tav>
                                      </p:tavLst>
                                    </p:anim>
                                    <p:anim calcmode="lin" valueType="num">
                                      <p:cBhvr>
                                        <p:cTn id="21"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4" presetID="16" presetClass="entr" presetSubtype="21" fill="hold" grpId="0" nodeType="clickEffect">
                                  <p:stCondLst>
                                    <p:cond delay="0"/>
                                  </p:stCondLst>
                                  <p:childTnLst>
                                    <p:set>
                                      <p:cBhvr>
                                        <p:cTn id="25" dur="1" fill="hold">
                                          <p:stCondLst>
                                            <p:cond delay="0"/>
                                          </p:stCondLst>
                                        </p:cTn>
                                        <p:tgtEl>
                                          <p:spTgt spid="4"/>
                                        </p:tgtEl>
                                        <p:attrNameLst>
                                          <p:attrName>style.visibility</p:attrName>
                                        </p:attrNameLst>
                                      </p:cBhvr>
                                      <p:to>
                                        <p:strVal val="visible"/>
                                      </p:to>
                                    </p:set>
                                    <p:animEffect transition="in" filter="barn(inVertical)">
                                      <p:cBhvr>
                                        <p:cTn id="26" dur="500"/>
                                        <p:tgtEl>
                                          <p:spTgt spid="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1"/>
                                        </p:tgtEl>
                                        <p:attrNameLst>
                                          <p:attrName>style.visibility</p:attrName>
                                        </p:attrNameLst>
                                      </p:cBhvr>
                                      <p:to>
                                        <p:strVal val="visible"/>
                                      </p:to>
                                    </p:set>
                                    <p:animEffect transition="in" filter="fade">
                                      <p:cBhvr>
                                        <p:cTn id="31" dur="500"/>
                                        <p:tgtEl>
                                          <p:spTgt spid="21"/>
                                        </p:tgtEl>
                                      </p:cBhvr>
                                    </p:animEffect>
                                  </p:childTnLst>
                                </p:cTn>
                              </p:par>
                            </p:childTnLst>
                          </p:cTn>
                        </p:par>
                      </p:childTnLst>
                    </p:cTn>
                  </p:par>
                  <p:par>
                    <p:cTn id="32" fill="hold">
                      <p:stCondLst>
                        <p:cond delay="indefinite"/>
                      </p:stCondLst>
                      <p:childTnLst>
                        <p:par>
                          <p:cTn id="33" fill="hold">
                            <p:stCondLst>
                              <p:cond delay="0"/>
                            </p:stCondLst>
                            <p:childTnLst>
                              <p:par>
                                <p:cTn id="34" presetID="42" presetClass="entr" presetSubtype="0" fill="hold" nodeType="clickEffect">
                                  <p:stCondLst>
                                    <p:cond delay="0"/>
                                  </p:stCondLst>
                                  <p:childTnLst>
                                    <p:set>
                                      <p:cBhvr>
                                        <p:cTn id="35" dur="1" fill="hold">
                                          <p:stCondLst>
                                            <p:cond delay="0"/>
                                          </p:stCondLst>
                                        </p:cTn>
                                        <p:tgtEl>
                                          <p:spTgt spid="6"/>
                                        </p:tgtEl>
                                        <p:attrNameLst>
                                          <p:attrName>style.visibility</p:attrName>
                                        </p:attrNameLst>
                                      </p:cBhvr>
                                      <p:to>
                                        <p:strVal val="visible"/>
                                      </p:to>
                                    </p:set>
                                    <p:animEffect transition="in" filter="fade">
                                      <p:cBhvr>
                                        <p:cTn id="36" dur="1000"/>
                                        <p:tgtEl>
                                          <p:spTgt spid="6"/>
                                        </p:tgtEl>
                                      </p:cBhvr>
                                    </p:animEffect>
                                    <p:anim calcmode="lin" valueType="num">
                                      <p:cBhvr>
                                        <p:cTn id="37" dur="1000" fill="hold"/>
                                        <p:tgtEl>
                                          <p:spTgt spid="6"/>
                                        </p:tgtEl>
                                        <p:attrNameLst>
                                          <p:attrName>ppt_x</p:attrName>
                                        </p:attrNameLst>
                                      </p:cBhvr>
                                      <p:tavLst>
                                        <p:tav tm="0">
                                          <p:val>
                                            <p:strVal val="#ppt_x"/>
                                          </p:val>
                                        </p:tav>
                                        <p:tav tm="100000">
                                          <p:val>
                                            <p:strVal val="#ppt_x"/>
                                          </p:val>
                                        </p:tav>
                                      </p:tavLst>
                                    </p:anim>
                                    <p:anim calcmode="lin" valueType="num">
                                      <p:cBhvr>
                                        <p:cTn id="38"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16" presetClass="entr" presetSubtype="21" fill="hold" grpId="0" nodeType="clickEffect">
                                  <p:stCondLst>
                                    <p:cond delay="0"/>
                                  </p:stCondLst>
                                  <p:childTnLst>
                                    <p:set>
                                      <p:cBhvr>
                                        <p:cTn id="42" dur="1" fill="hold">
                                          <p:stCondLst>
                                            <p:cond delay="0"/>
                                          </p:stCondLst>
                                        </p:cTn>
                                        <p:tgtEl>
                                          <p:spTgt spid="7"/>
                                        </p:tgtEl>
                                        <p:attrNameLst>
                                          <p:attrName>style.visibility</p:attrName>
                                        </p:attrNameLst>
                                      </p:cBhvr>
                                      <p:to>
                                        <p:strVal val="visible"/>
                                      </p:to>
                                    </p:set>
                                    <p:animEffect transition="in" filter="barn(inVertical)">
                                      <p:cBhvr>
                                        <p:cTn id="43" dur="500"/>
                                        <p:tgtEl>
                                          <p:spTgt spid="7"/>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22"/>
                                        </p:tgtEl>
                                        <p:attrNameLst>
                                          <p:attrName>style.visibility</p:attrName>
                                        </p:attrNameLst>
                                      </p:cBhvr>
                                      <p:to>
                                        <p:strVal val="visible"/>
                                      </p:to>
                                    </p:set>
                                    <p:animEffect transition="in" filter="fade">
                                      <p:cBhvr>
                                        <p:cTn id="48" dur="500"/>
                                        <p:tgtEl>
                                          <p:spTgt spid="22"/>
                                        </p:tgtEl>
                                      </p:cBhvr>
                                    </p:animEffect>
                                  </p:childTnLst>
                                </p:cTn>
                              </p:par>
                            </p:childTnLst>
                          </p:cTn>
                        </p:par>
                      </p:childTnLst>
                    </p:cTn>
                  </p:par>
                  <p:par>
                    <p:cTn id="49" fill="hold">
                      <p:stCondLst>
                        <p:cond delay="indefinite"/>
                      </p:stCondLst>
                      <p:childTnLst>
                        <p:par>
                          <p:cTn id="50" fill="hold">
                            <p:stCondLst>
                              <p:cond delay="0"/>
                            </p:stCondLst>
                            <p:childTnLst>
                              <p:par>
                                <p:cTn id="51" presetID="42" presetClass="entr" presetSubtype="0"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fade">
                                      <p:cBhvr>
                                        <p:cTn id="53" dur="1000"/>
                                        <p:tgtEl>
                                          <p:spTgt spid="9"/>
                                        </p:tgtEl>
                                      </p:cBhvr>
                                    </p:animEffect>
                                    <p:anim calcmode="lin" valueType="num">
                                      <p:cBhvr>
                                        <p:cTn id="54" dur="1000" fill="hold"/>
                                        <p:tgtEl>
                                          <p:spTgt spid="9"/>
                                        </p:tgtEl>
                                        <p:attrNameLst>
                                          <p:attrName>ppt_x</p:attrName>
                                        </p:attrNameLst>
                                      </p:cBhvr>
                                      <p:tavLst>
                                        <p:tav tm="0">
                                          <p:val>
                                            <p:strVal val="#ppt_x"/>
                                          </p:val>
                                        </p:tav>
                                        <p:tav tm="100000">
                                          <p:val>
                                            <p:strVal val="#ppt_x"/>
                                          </p:val>
                                        </p:tav>
                                      </p:tavLst>
                                    </p:anim>
                                    <p:anim calcmode="lin" valueType="num">
                                      <p:cBhvr>
                                        <p:cTn id="55"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8" presetID="16" presetClass="entr" presetSubtype="21" fill="hold" nodeType="clickEffect">
                                  <p:stCondLst>
                                    <p:cond delay="0"/>
                                  </p:stCondLst>
                                  <p:childTnLst>
                                    <p:set>
                                      <p:cBhvr>
                                        <p:cTn id="59" dur="1" fill="hold">
                                          <p:stCondLst>
                                            <p:cond delay="0"/>
                                          </p:stCondLst>
                                        </p:cTn>
                                        <p:tgtEl>
                                          <p:spTgt spid="10">
                                            <p:txEl>
                                              <p:pRg st="0" end="0"/>
                                            </p:txEl>
                                          </p:spTgt>
                                        </p:tgtEl>
                                        <p:attrNameLst>
                                          <p:attrName>style.visibility</p:attrName>
                                        </p:attrNameLst>
                                      </p:cBhvr>
                                      <p:to>
                                        <p:strVal val="visible"/>
                                      </p:to>
                                    </p:set>
                                    <p:animEffect transition="in" filter="barn(inVertical)">
                                      <p:cBhvr>
                                        <p:cTn id="60" dur="500"/>
                                        <p:tgtEl>
                                          <p:spTgt spid="10">
                                            <p:txEl>
                                              <p:pRg st="0" end="0"/>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500"/>
                                        <p:tgtEl>
                                          <p:spTgt spid="23"/>
                                        </p:tgtEl>
                                      </p:cBhvr>
                                    </p:animEffect>
                                  </p:childTnLst>
                                </p:cTn>
                              </p:par>
                            </p:childTnLst>
                          </p:cTn>
                        </p:par>
                      </p:childTnLst>
                    </p:cTn>
                  </p:par>
                  <p:par>
                    <p:cTn id="66" fill="hold">
                      <p:stCondLst>
                        <p:cond delay="indefinite"/>
                      </p:stCondLst>
                      <p:childTnLst>
                        <p:par>
                          <p:cTn id="67" fill="hold">
                            <p:stCondLst>
                              <p:cond delay="0"/>
                            </p:stCondLst>
                            <p:childTnLst>
                              <p:par>
                                <p:cTn id="68" presetID="42" presetClass="entr" presetSubtype="0" fill="hold" nodeType="clickEffect">
                                  <p:stCondLst>
                                    <p:cond delay="0"/>
                                  </p:stCondLst>
                                  <p:childTnLst>
                                    <p:set>
                                      <p:cBhvr>
                                        <p:cTn id="69" dur="1" fill="hold">
                                          <p:stCondLst>
                                            <p:cond delay="0"/>
                                          </p:stCondLst>
                                        </p:cTn>
                                        <p:tgtEl>
                                          <p:spTgt spid="12"/>
                                        </p:tgtEl>
                                        <p:attrNameLst>
                                          <p:attrName>style.visibility</p:attrName>
                                        </p:attrNameLst>
                                      </p:cBhvr>
                                      <p:to>
                                        <p:strVal val="visible"/>
                                      </p:to>
                                    </p:set>
                                    <p:animEffect transition="in" filter="fade">
                                      <p:cBhvr>
                                        <p:cTn id="70" dur="1000"/>
                                        <p:tgtEl>
                                          <p:spTgt spid="12"/>
                                        </p:tgtEl>
                                      </p:cBhvr>
                                    </p:animEffect>
                                    <p:anim calcmode="lin" valueType="num">
                                      <p:cBhvr>
                                        <p:cTn id="71" dur="1000" fill="hold"/>
                                        <p:tgtEl>
                                          <p:spTgt spid="12"/>
                                        </p:tgtEl>
                                        <p:attrNameLst>
                                          <p:attrName>ppt_x</p:attrName>
                                        </p:attrNameLst>
                                      </p:cBhvr>
                                      <p:tavLst>
                                        <p:tav tm="0">
                                          <p:val>
                                            <p:strVal val="#ppt_x"/>
                                          </p:val>
                                        </p:tav>
                                        <p:tav tm="100000">
                                          <p:val>
                                            <p:strVal val="#ppt_x"/>
                                          </p:val>
                                        </p:tav>
                                      </p:tavLst>
                                    </p:anim>
                                    <p:anim calcmode="lin" valueType="num">
                                      <p:cBhvr>
                                        <p:cTn id="72"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5" presetID="16" presetClass="entr" presetSubtype="21" fill="hold" grpId="0" nodeType="clickEffect">
                                  <p:stCondLst>
                                    <p:cond delay="0"/>
                                  </p:stCondLst>
                                  <p:childTnLst>
                                    <p:set>
                                      <p:cBhvr>
                                        <p:cTn id="76" dur="1" fill="hold">
                                          <p:stCondLst>
                                            <p:cond delay="0"/>
                                          </p:stCondLst>
                                        </p:cTn>
                                        <p:tgtEl>
                                          <p:spTgt spid="13"/>
                                        </p:tgtEl>
                                        <p:attrNameLst>
                                          <p:attrName>style.visibility</p:attrName>
                                        </p:attrNameLst>
                                      </p:cBhvr>
                                      <p:to>
                                        <p:strVal val="visible"/>
                                      </p:to>
                                    </p:set>
                                    <p:animEffect transition="in" filter="barn(inVertical)">
                                      <p:cBhvr>
                                        <p:cTn id="77" dur="500"/>
                                        <p:tgtEl>
                                          <p:spTgt spid="13"/>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grpId="0" nodeType="clickEffect">
                                  <p:stCondLst>
                                    <p:cond delay="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500"/>
                                        <p:tgtEl>
                                          <p:spTgt spid="24"/>
                                        </p:tgtEl>
                                      </p:cBhvr>
                                    </p:animEffect>
                                  </p:childTnLst>
                                </p:cTn>
                              </p:par>
                            </p:childTnLst>
                          </p:cTn>
                        </p:par>
                      </p:childTnLst>
                    </p:cTn>
                  </p:par>
                  <p:par>
                    <p:cTn id="83" fill="hold">
                      <p:stCondLst>
                        <p:cond delay="indefinite"/>
                      </p:stCondLst>
                      <p:childTnLst>
                        <p:par>
                          <p:cTn id="84" fill="hold">
                            <p:stCondLst>
                              <p:cond delay="0"/>
                            </p:stCondLst>
                            <p:childTnLst>
                              <p:par>
                                <p:cTn id="85" presetID="42" presetClass="entr" presetSubtype="0" fill="hold" nodeType="clickEffect">
                                  <p:stCondLst>
                                    <p:cond delay="0"/>
                                  </p:stCondLst>
                                  <p:childTnLst>
                                    <p:set>
                                      <p:cBhvr>
                                        <p:cTn id="86" dur="1" fill="hold">
                                          <p:stCondLst>
                                            <p:cond delay="0"/>
                                          </p:stCondLst>
                                        </p:cTn>
                                        <p:tgtEl>
                                          <p:spTgt spid="15"/>
                                        </p:tgtEl>
                                        <p:attrNameLst>
                                          <p:attrName>style.visibility</p:attrName>
                                        </p:attrNameLst>
                                      </p:cBhvr>
                                      <p:to>
                                        <p:strVal val="visible"/>
                                      </p:to>
                                    </p:set>
                                    <p:animEffect transition="in" filter="fade">
                                      <p:cBhvr>
                                        <p:cTn id="87" dur="1000"/>
                                        <p:tgtEl>
                                          <p:spTgt spid="15"/>
                                        </p:tgtEl>
                                      </p:cBhvr>
                                    </p:animEffect>
                                    <p:anim calcmode="lin" valueType="num">
                                      <p:cBhvr>
                                        <p:cTn id="88" dur="1000" fill="hold"/>
                                        <p:tgtEl>
                                          <p:spTgt spid="15"/>
                                        </p:tgtEl>
                                        <p:attrNameLst>
                                          <p:attrName>ppt_x</p:attrName>
                                        </p:attrNameLst>
                                      </p:cBhvr>
                                      <p:tavLst>
                                        <p:tav tm="0">
                                          <p:val>
                                            <p:strVal val="#ppt_x"/>
                                          </p:val>
                                        </p:tav>
                                        <p:tav tm="100000">
                                          <p:val>
                                            <p:strVal val="#ppt_x"/>
                                          </p:val>
                                        </p:tav>
                                      </p:tavLst>
                                    </p:anim>
                                    <p:anim calcmode="lin" valueType="num">
                                      <p:cBhvr>
                                        <p:cTn id="89" dur="10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90" fill="hold">
                      <p:stCondLst>
                        <p:cond delay="indefinite"/>
                      </p:stCondLst>
                      <p:childTnLst>
                        <p:par>
                          <p:cTn id="91" fill="hold">
                            <p:stCondLst>
                              <p:cond delay="0"/>
                            </p:stCondLst>
                            <p:childTnLst>
                              <p:par>
                                <p:cTn id="92" presetID="16" presetClass="entr" presetSubtype="21" fill="hold" nodeType="clickEffect">
                                  <p:stCondLst>
                                    <p:cond delay="0"/>
                                  </p:stCondLst>
                                  <p:childTnLst>
                                    <p:set>
                                      <p:cBhvr>
                                        <p:cTn id="93" dur="1" fill="hold">
                                          <p:stCondLst>
                                            <p:cond delay="0"/>
                                          </p:stCondLst>
                                        </p:cTn>
                                        <p:tgtEl>
                                          <p:spTgt spid="16">
                                            <p:txEl>
                                              <p:pRg st="0" end="0"/>
                                            </p:txEl>
                                          </p:spTgt>
                                        </p:tgtEl>
                                        <p:attrNameLst>
                                          <p:attrName>style.visibility</p:attrName>
                                        </p:attrNameLst>
                                      </p:cBhvr>
                                      <p:to>
                                        <p:strVal val="visible"/>
                                      </p:to>
                                    </p:set>
                                    <p:animEffect transition="in" filter="barn(inVertical)">
                                      <p:cBhvr>
                                        <p:cTn id="94" dur="500"/>
                                        <p:tgtEl>
                                          <p:spTgt spid="1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3" grpId="0" animBg="1"/>
      <p:bldP spid="22" grpId="0" animBg="1"/>
      <p:bldP spid="21" grpId="0" animBg="1"/>
      <p:bldP spid="20" grpId="0" animBg="1"/>
      <p:bldP spid="2" grpId="0" animBg="1"/>
      <p:bldP spid="4" grpId="0" animBg="1"/>
      <p:bldP spid="7" grpId="0" animBg="1"/>
      <p:bldP spid="13"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7242095" y="928687"/>
            <a:ext cx="5632490" cy="704017"/>
          </a:xfrm>
          <a:prstGeom prst="rect">
            <a:avLst/>
          </a:prstGeom>
          <a:noFill/>
          <a:ln/>
        </p:spPr>
        <p:txBody>
          <a:bodyPr wrap="none" lIns="0" tIns="0" rIns="0" bIns="0" rtlCol="0" anchor="t"/>
          <a:lstStyle/>
          <a:p>
            <a:pPr marL="0" indent="0" algn="ctr">
              <a:lnSpc>
                <a:spcPts val="5500"/>
              </a:lnSpc>
              <a:buNone/>
            </a:pPr>
            <a:r>
              <a:rPr lang="en-US" sz="4400" dirty="0">
                <a:solidFill>
                  <a:srgbClr val="FFFFFF"/>
                </a:solidFill>
                <a:latin typeface="Kanit" pitchFamily="34" charset="0"/>
                <a:ea typeface="Kanit" pitchFamily="34" charset="-122"/>
                <a:cs typeface="Kanit" pitchFamily="34" charset="-120"/>
              </a:rPr>
              <a:t>Prédiction Financière</a:t>
            </a:r>
            <a:endParaRPr lang="en-US" sz="4400" dirty="0"/>
          </a:p>
        </p:txBody>
      </p:sp>
      <p:sp>
        <p:nvSpPr>
          <p:cNvPr id="4" name="Text 1"/>
          <p:cNvSpPr/>
          <p:nvPr/>
        </p:nvSpPr>
        <p:spPr>
          <a:xfrm>
            <a:off x="6324124" y="2815233"/>
            <a:ext cx="3554730" cy="789861"/>
          </a:xfrm>
          <a:prstGeom prst="rect">
            <a:avLst/>
          </a:prstGeom>
          <a:noFill/>
          <a:ln/>
        </p:spPr>
        <p:txBody>
          <a:bodyPr wrap="none" lIns="0" tIns="0" rIns="0" bIns="0" rtlCol="0" anchor="t"/>
          <a:lstStyle/>
          <a:p>
            <a:pPr marL="0" indent="0" algn="ctr">
              <a:lnSpc>
                <a:spcPts val="6200"/>
              </a:lnSpc>
              <a:buNone/>
            </a:pPr>
            <a:r>
              <a:rPr lang="en-US" sz="6200" dirty="0">
                <a:solidFill>
                  <a:srgbClr val="D9E1FF"/>
                </a:solidFill>
                <a:latin typeface="Kanit" pitchFamily="34" charset="0"/>
                <a:ea typeface="Kanit" pitchFamily="34" charset="-122"/>
                <a:cs typeface="Kanit" pitchFamily="34" charset="-120"/>
              </a:rPr>
              <a:t>1</a:t>
            </a:r>
            <a:endParaRPr lang="en-US" sz="6200" dirty="0"/>
          </a:p>
        </p:txBody>
      </p:sp>
      <p:sp>
        <p:nvSpPr>
          <p:cNvPr id="5" name="Text 2"/>
          <p:cNvSpPr/>
          <p:nvPr/>
        </p:nvSpPr>
        <p:spPr>
          <a:xfrm>
            <a:off x="6324124" y="3904178"/>
            <a:ext cx="3554730" cy="383024"/>
          </a:xfrm>
          <a:prstGeom prst="rect">
            <a:avLst/>
          </a:prstGeom>
          <a:noFill/>
          <a:ln/>
        </p:spPr>
        <p:txBody>
          <a:bodyPr wrap="none" lIns="0" tIns="0" rIns="0" bIns="0" rtlCol="0" anchor="t"/>
          <a:lstStyle/>
          <a:p>
            <a:pPr marL="0" indent="0" algn="ctr">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Modèles de machine learning.</a:t>
            </a:r>
            <a:endParaRPr lang="en-US" sz="1850" dirty="0"/>
          </a:p>
        </p:txBody>
      </p:sp>
      <p:sp>
        <p:nvSpPr>
          <p:cNvPr id="6" name="Text 3"/>
          <p:cNvSpPr/>
          <p:nvPr/>
        </p:nvSpPr>
        <p:spPr>
          <a:xfrm>
            <a:off x="10237827" y="2815233"/>
            <a:ext cx="3554849" cy="789861"/>
          </a:xfrm>
          <a:prstGeom prst="rect">
            <a:avLst/>
          </a:prstGeom>
          <a:noFill/>
          <a:ln/>
        </p:spPr>
        <p:txBody>
          <a:bodyPr wrap="none" lIns="0" tIns="0" rIns="0" bIns="0" rtlCol="0" anchor="t"/>
          <a:lstStyle/>
          <a:p>
            <a:pPr marL="0" indent="0" algn="ctr">
              <a:lnSpc>
                <a:spcPts val="6200"/>
              </a:lnSpc>
              <a:buNone/>
            </a:pPr>
            <a:r>
              <a:rPr lang="en-US" sz="6200" dirty="0">
                <a:solidFill>
                  <a:srgbClr val="D9E1FF"/>
                </a:solidFill>
                <a:latin typeface="Kanit" pitchFamily="34" charset="0"/>
                <a:ea typeface="Kanit" pitchFamily="34" charset="-122"/>
                <a:cs typeface="Kanit" pitchFamily="34" charset="-120"/>
              </a:rPr>
              <a:t>Python</a:t>
            </a:r>
            <a:endParaRPr lang="en-US" sz="6200" dirty="0"/>
          </a:p>
        </p:txBody>
      </p:sp>
      <p:sp>
        <p:nvSpPr>
          <p:cNvPr id="7" name="Text 4"/>
          <p:cNvSpPr/>
          <p:nvPr/>
        </p:nvSpPr>
        <p:spPr>
          <a:xfrm>
            <a:off x="10237827" y="3904178"/>
            <a:ext cx="3554849" cy="383024"/>
          </a:xfrm>
          <a:prstGeom prst="rect">
            <a:avLst/>
          </a:prstGeom>
          <a:noFill/>
          <a:ln/>
        </p:spPr>
        <p:txBody>
          <a:bodyPr wrap="none" lIns="0" tIns="0" rIns="0" bIns="0" rtlCol="0" anchor="t"/>
          <a:lstStyle/>
          <a:p>
            <a:pPr marL="0" indent="0" algn="ctr">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Langage de programmation.</a:t>
            </a:r>
            <a:endParaRPr lang="en-US" sz="1850" dirty="0"/>
          </a:p>
        </p:txBody>
      </p:sp>
      <p:sp>
        <p:nvSpPr>
          <p:cNvPr id="8" name="Text 5"/>
          <p:cNvSpPr/>
          <p:nvPr/>
        </p:nvSpPr>
        <p:spPr>
          <a:xfrm>
            <a:off x="8280916" y="5124926"/>
            <a:ext cx="3554849" cy="789861"/>
          </a:xfrm>
          <a:prstGeom prst="rect">
            <a:avLst/>
          </a:prstGeom>
          <a:noFill/>
          <a:ln/>
        </p:spPr>
        <p:txBody>
          <a:bodyPr wrap="none" lIns="0" tIns="0" rIns="0" bIns="0" rtlCol="0" anchor="t"/>
          <a:lstStyle/>
          <a:p>
            <a:pPr marL="0" indent="0" algn="ctr">
              <a:lnSpc>
                <a:spcPts val="6200"/>
              </a:lnSpc>
              <a:buNone/>
            </a:pPr>
            <a:r>
              <a:rPr lang="en-US" sz="6200" dirty="0">
                <a:solidFill>
                  <a:srgbClr val="D9E1FF"/>
                </a:solidFill>
                <a:latin typeface="Kanit" pitchFamily="34" charset="0"/>
                <a:ea typeface="Kanit" pitchFamily="34" charset="-122"/>
                <a:cs typeface="Kanit" pitchFamily="34" charset="-120"/>
              </a:rPr>
              <a:t>TensorFlow</a:t>
            </a:r>
            <a:endParaRPr lang="en-US" sz="6200" dirty="0"/>
          </a:p>
        </p:txBody>
      </p:sp>
      <p:sp>
        <p:nvSpPr>
          <p:cNvPr id="9" name="Text 6"/>
          <p:cNvSpPr/>
          <p:nvPr/>
        </p:nvSpPr>
        <p:spPr>
          <a:xfrm>
            <a:off x="8280916" y="6213872"/>
            <a:ext cx="3554849" cy="383024"/>
          </a:xfrm>
          <a:prstGeom prst="rect">
            <a:avLst/>
          </a:prstGeom>
          <a:noFill/>
          <a:ln/>
        </p:spPr>
        <p:txBody>
          <a:bodyPr wrap="none" lIns="0" tIns="0" rIns="0" bIns="0" rtlCol="0" anchor="t"/>
          <a:lstStyle/>
          <a:p>
            <a:pPr marL="0" indent="0" algn="ctr">
              <a:lnSpc>
                <a:spcPts val="3000"/>
              </a:lnSpc>
              <a:buNone/>
            </a:pPr>
            <a:r>
              <a:rPr lang="en-US" sz="1850" dirty="0">
                <a:solidFill>
                  <a:srgbClr val="D9E1FF"/>
                </a:solidFill>
                <a:latin typeface="Martel Sans Light" pitchFamily="34" charset="0"/>
                <a:ea typeface="Martel Sans Light" pitchFamily="34" charset="-122"/>
                <a:cs typeface="Martel Sans Light" pitchFamily="34" charset="-120"/>
              </a:rPr>
              <a:t>Bibliothèque utilisée.</a:t>
            </a:r>
            <a:endParaRPr lang="en-US" sz="1850" dirty="0"/>
          </a:p>
        </p:txBody>
      </p:sp>
      <p:sp>
        <p:nvSpPr>
          <p:cNvPr id="10" name="Rectangle 9">
            <a:extLst>
              <a:ext uri="{FF2B5EF4-FFF2-40B4-BE49-F238E27FC236}">
                <a16:creationId xmlns:a16="http://schemas.microsoft.com/office/drawing/2014/main" id="{017D171A-7E77-9102-EBB7-8968120A647A}"/>
              </a:ext>
            </a:extLst>
          </p:cNvPr>
          <p:cNvSpPr/>
          <p:nvPr/>
        </p:nvSpPr>
        <p:spPr>
          <a:xfrm>
            <a:off x="12655253" y="7654175"/>
            <a:ext cx="1951463" cy="524107"/>
          </a:xfrm>
          <a:prstGeom prst="rect">
            <a:avLst/>
          </a:prstGeom>
          <a:solidFill>
            <a:srgbClr val="100C35"/>
          </a:solidFill>
          <a:ln>
            <a:solidFill>
              <a:srgbClr val="100C3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Tree>
  </p:cSld>
  <p:clrMapOvr>
    <a:masterClrMapping/>
  </p:clrMapOvr>
  <mc:AlternateContent xmlns:mc="http://schemas.openxmlformats.org/markup-compatibility/2006" xmlns:p14="http://schemas.microsoft.com/office/powerpoint/2010/main">
    <mc:Choice Requires="p14">
      <p:transition spd="slow">
        <p14:flash/>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500"/>
                                        <p:tgtEl>
                                          <p:spTgt spid="4"/>
                                        </p:tgtEl>
                                      </p:cBhvr>
                                    </p:animEffect>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 calcmode="lin" valueType="num">
                                      <p:cBhvr additive="base">
                                        <p:cTn id="19" dur="500" fill="hold"/>
                                        <p:tgtEl>
                                          <p:spTgt spid="5"/>
                                        </p:tgtEl>
                                        <p:attrNameLst>
                                          <p:attrName>ppt_x</p:attrName>
                                        </p:attrNameLst>
                                      </p:cBhvr>
                                      <p:tavLst>
                                        <p:tav tm="0">
                                          <p:val>
                                            <p:strVal val="#ppt_x"/>
                                          </p:val>
                                        </p:tav>
                                        <p:tav tm="100000">
                                          <p:val>
                                            <p:strVal val="#ppt_x"/>
                                          </p:val>
                                        </p:tav>
                                      </p:tavLst>
                                    </p:anim>
                                    <p:anim calcmode="lin" valueType="num">
                                      <p:cBhvr additive="base">
                                        <p:cTn id="20"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7"/>
                                        </p:tgtEl>
                                        <p:attrNameLst>
                                          <p:attrName>style.visibility</p:attrName>
                                        </p:attrNameLst>
                                      </p:cBhvr>
                                      <p:to>
                                        <p:strVal val="visible"/>
                                      </p:to>
                                    </p:set>
                                    <p:anim calcmode="lin" valueType="num">
                                      <p:cBhvr additive="base">
                                        <p:cTn id="30" dur="500" fill="hold"/>
                                        <p:tgtEl>
                                          <p:spTgt spid="7"/>
                                        </p:tgtEl>
                                        <p:attrNameLst>
                                          <p:attrName>ppt_x</p:attrName>
                                        </p:attrNameLst>
                                      </p:cBhvr>
                                      <p:tavLst>
                                        <p:tav tm="0">
                                          <p:val>
                                            <p:strVal val="#ppt_x"/>
                                          </p:val>
                                        </p:tav>
                                        <p:tav tm="100000">
                                          <p:val>
                                            <p:strVal val="#ppt_x"/>
                                          </p:val>
                                        </p:tav>
                                      </p:tavLst>
                                    </p:anim>
                                    <p:anim calcmode="lin" valueType="num">
                                      <p:cBhvr additive="base">
                                        <p:cTn id="31"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8"/>
                                        </p:tgtEl>
                                        <p:attrNameLst>
                                          <p:attrName>style.visibility</p:attrName>
                                        </p:attrNameLst>
                                      </p:cBhvr>
                                      <p:to>
                                        <p:strVal val="visible"/>
                                      </p:to>
                                    </p:set>
                                    <p:animEffect transition="in" filter="fade">
                                      <p:cBhvr>
                                        <p:cTn id="36" dur="500"/>
                                        <p:tgtEl>
                                          <p:spTgt spid="8"/>
                                        </p:tgtEl>
                                      </p:cBhvr>
                                    </p:animEffect>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nodeType="clickEffect">
                                  <p:stCondLst>
                                    <p:cond delay="0"/>
                                  </p:stCondLst>
                                  <p:childTnLst>
                                    <p:set>
                                      <p:cBhvr>
                                        <p:cTn id="40" dur="1" fill="hold">
                                          <p:stCondLst>
                                            <p:cond delay="0"/>
                                          </p:stCondLst>
                                        </p:cTn>
                                        <p:tgtEl>
                                          <p:spTgt spid="9">
                                            <p:txEl>
                                              <p:pRg st="0" end="0"/>
                                            </p:txEl>
                                          </p:spTgt>
                                        </p:tgtEl>
                                        <p:attrNameLst>
                                          <p:attrName>style.visibility</p:attrName>
                                        </p:attrNameLst>
                                      </p:cBhvr>
                                      <p:to>
                                        <p:strVal val="visible"/>
                                      </p:to>
                                    </p:set>
                                    <p:anim calcmode="lin" valueType="num">
                                      <p:cBhvr additive="base">
                                        <p:cTn id="41" dur="500" fill="hold"/>
                                        <p:tgtEl>
                                          <p:spTgt spid="9">
                                            <p:txEl>
                                              <p:pRg st="0" end="0"/>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9">
                                            <p:txEl>
                                              <p:pRg st="0" end="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100C35">
              <a:alpha val="80000"/>
            </a:srgbClr>
          </a:solidFill>
          <a:ln/>
        </p:spPr>
        <p:txBody>
          <a:bodyPr/>
          <a:lstStyle/>
          <a:p>
            <a:endParaRPr lang="fr-FR" dirty="0"/>
          </a:p>
        </p:txBody>
      </p:sp>
      <p:sp>
        <p:nvSpPr>
          <p:cNvPr id="4" name="Text 1"/>
          <p:cNvSpPr/>
          <p:nvPr/>
        </p:nvSpPr>
        <p:spPr>
          <a:xfrm>
            <a:off x="4242316" y="1178380"/>
            <a:ext cx="6142553" cy="704017"/>
          </a:xfrm>
          <a:prstGeom prst="rect">
            <a:avLst/>
          </a:prstGeom>
          <a:noFill/>
          <a:ln/>
        </p:spPr>
        <p:txBody>
          <a:bodyPr wrap="none" lIns="0" tIns="0" rIns="0" bIns="0" rtlCol="0" anchor="t"/>
          <a:lstStyle/>
          <a:p>
            <a:pPr marL="0" indent="0" algn="ctr">
              <a:lnSpc>
                <a:spcPts val="5500"/>
              </a:lnSpc>
              <a:buNone/>
            </a:pPr>
            <a:r>
              <a:rPr lang="en-US" sz="4400" dirty="0">
                <a:solidFill>
                  <a:srgbClr val="FFFFFF"/>
                </a:solidFill>
                <a:latin typeface="Kanit" pitchFamily="34" charset="0"/>
                <a:ea typeface="Kanit" pitchFamily="34" charset="-122"/>
                <a:cs typeface="Kanit" pitchFamily="34" charset="-120"/>
              </a:rPr>
              <a:t>Chatbots d'Assistance IA</a:t>
            </a:r>
            <a:endParaRPr lang="en-US" sz="4400" dirty="0"/>
          </a:p>
        </p:txBody>
      </p:sp>
      <p:sp>
        <p:nvSpPr>
          <p:cNvPr id="5" name="Text 2"/>
          <p:cNvSpPr/>
          <p:nvPr/>
        </p:nvSpPr>
        <p:spPr>
          <a:xfrm>
            <a:off x="2540020" y="3585090"/>
            <a:ext cx="3404592" cy="1027230"/>
          </a:xfrm>
          <a:prstGeom prst="rect">
            <a:avLst/>
          </a:prstGeom>
          <a:noFill/>
          <a:ln/>
        </p:spPr>
        <p:txBody>
          <a:bodyPr wrap="none" lIns="0" tIns="0" rIns="0" bIns="0" rtlCol="0" anchor="t"/>
          <a:lstStyle/>
          <a:p>
            <a:pPr marL="0" indent="0" algn="ctr">
              <a:lnSpc>
                <a:spcPts val="2750"/>
              </a:lnSpc>
              <a:buNone/>
            </a:pPr>
            <a:r>
              <a:rPr lang="en-US" sz="3500" b="1" i="1" dirty="0">
                <a:solidFill>
                  <a:srgbClr val="FF7C80"/>
                </a:solidFill>
                <a:latin typeface="Kanit" pitchFamily="34" charset="0"/>
                <a:ea typeface="Kanit" pitchFamily="34" charset="-122"/>
                <a:cs typeface="Kanit" pitchFamily="34" charset="-120"/>
              </a:rPr>
              <a:t>SMARTY</a:t>
            </a:r>
            <a:r>
              <a:rPr lang="en-US" sz="2200" dirty="0">
                <a:solidFill>
                  <a:srgbClr val="FFFFFF"/>
                </a:solidFill>
                <a:latin typeface="Kanit" pitchFamily="34" charset="0"/>
                <a:ea typeface="Kanit" pitchFamily="34" charset="-122"/>
                <a:cs typeface="Kanit" pitchFamily="34" charset="-120"/>
              </a:rPr>
              <a:t> </a:t>
            </a:r>
          </a:p>
          <a:p>
            <a:pPr marL="0" indent="0" algn="ctr">
              <a:lnSpc>
                <a:spcPts val="2750"/>
              </a:lnSpc>
              <a:buNone/>
            </a:pPr>
            <a:r>
              <a:rPr lang="en-US" sz="2200" dirty="0">
                <a:solidFill>
                  <a:srgbClr val="FFFFFF"/>
                </a:solidFill>
                <a:latin typeface="Kanit" pitchFamily="34" charset="0"/>
                <a:ea typeface="Kanit" pitchFamily="34" charset="-122"/>
                <a:cs typeface="Kanit" pitchFamily="34" charset="-120"/>
              </a:rPr>
              <a:t>  Support Technique</a:t>
            </a:r>
            <a:endParaRPr lang="en-US" sz="2200" dirty="0"/>
          </a:p>
        </p:txBody>
      </p:sp>
      <p:sp>
        <p:nvSpPr>
          <p:cNvPr id="6" name="Text 3"/>
          <p:cNvSpPr/>
          <p:nvPr/>
        </p:nvSpPr>
        <p:spPr>
          <a:xfrm>
            <a:off x="8552378" y="3601185"/>
            <a:ext cx="3664982" cy="1027230"/>
          </a:xfrm>
          <a:prstGeom prst="rect">
            <a:avLst/>
          </a:prstGeom>
          <a:noFill/>
          <a:ln/>
        </p:spPr>
        <p:txBody>
          <a:bodyPr wrap="none" lIns="0" tIns="0" rIns="0" bIns="0" rtlCol="0" anchor="t"/>
          <a:lstStyle/>
          <a:p>
            <a:pPr marL="0" indent="0" algn="ctr">
              <a:lnSpc>
                <a:spcPts val="2750"/>
              </a:lnSpc>
              <a:buNone/>
            </a:pPr>
            <a:r>
              <a:rPr lang="en-US" sz="3500" i="1" dirty="0" err="1">
                <a:solidFill>
                  <a:schemeClr val="accent4">
                    <a:lumMod val="40000"/>
                    <a:lumOff val="60000"/>
                  </a:schemeClr>
                </a:solidFill>
                <a:latin typeface="Kanit" pitchFamily="34" charset="0"/>
                <a:ea typeface="Kanit" pitchFamily="34" charset="-122"/>
                <a:cs typeface="Kanit" pitchFamily="34" charset="-120"/>
              </a:rPr>
              <a:t>GeldBot</a:t>
            </a:r>
            <a:r>
              <a:rPr lang="en-US" sz="3500" i="1" dirty="0">
                <a:solidFill>
                  <a:srgbClr val="FFFFFF"/>
                </a:solidFill>
                <a:latin typeface="Kanit" pitchFamily="34" charset="0"/>
                <a:ea typeface="Kanit" pitchFamily="34" charset="-122"/>
                <a:cs typeface="Kanit" pitchFamily="34" charset="-120"/>
              </a:rPr>
              <a:t> </a:t>
            </a:r>
          </a:p>
          <a:p>
            <a:pPr marL="0" indent="0" algn="ctr">
              <a:lnSpc>
                <a:spcPts val="2750"/>
              </a:lnSpc>
              <a:buNone/>
            </a:pPr>
            <a:r>
              <a:rPr lang="en-US" sz="2200" dirty="0">
                <a:solidFill>
                  <a:srgbClr val="FFFFFF"/>
                </a:solidFill>
                <a:latin typeface="Kanit" pitchFamily="34" charset="0"/>
                <a:ea typeface="Kanit" pitchFamily="34" charset="-122"/>
                <a:cs typeface="Kanit" pitchFamily="34" charset="-120"/>
              </a:rPr>
              <a:t>  </a:t>
            </a:r>
            <a:r>
              <a:rPr lang="en-US" sz="2200" dirty="0" err="1">
                <a:solidFill>
                  <a:srgbClr val="FFFFFF"/>
                </a:solidFill>
                <a:latin typeface="Kanit" pitchFamily="34" charset="0"/>
                <a:ea typeface="Kanit" pitchFamily="34" charset="-122"/>
                <a:cs typeface="Kanit" pitchFamily="34" charset="-120"/>
              </a:rPr>
              <a:t>Systèmes</a:t>
            </a:r>
            <a:r>
              <a:rPr lang="en-US" sz="2200" dirty="0">
                <a:solidFill>
                  <a:srgbClr val="FFFFFF"/>
                </a:solidFill>
                <a:latin typeface="Kanit" pitchFamily="34" charset="0"/>
                <a:ea typeface="Kanit" pitchFamily="34" charset="-122"/>
                <a:cs typeface="Kanit" pitchFamily="34" charset="-120"/>
              </a:rPr>
              <a:t> Financiers</a:t>
            </a:r>
            <a:endParaRPr lang="en-US" sz="2200" dirty="0"/>
          </a:p>
        </p:txBody>
      </p:sp>
    </p:spTree>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1000"/>
                                        <p:tgtEl>
                                          <p:spTgt spid="4">
                                            <p:txEl>
                                              <p:pRg st="0" end="0"/>
                                            </p:txEl>
                                          </p:spTgt>
                                        </p:tgtEl>
                                      </p:cBhvr>
                                    </p:animEffect>
                                    <p:anim calcmode="lin" valueType="num">
                                      <p:cBhvr>
                                        <p:cTn id="8" dur="1000" fill="hold"/>
                                        <p:tgtEl>
                                          <p:spTgt spid="4">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4">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53" presetClass="entr" presetSubtype="16" fill="hold" grpId="0" nodeType="clickEffect">
                                  <p:stCondLst>
                                    <p:cond delay="0"/>
                                  </p:stCondLst>
                                  <p:childTnLst>
                                    <p:set>
                                      <p:cBhvr>
                                        <p:cTn id="13" dur="1" fill="hold">
                                          <p:stCondLst>
                                            <p:cond delay="0"/>
                                          </p:stCondLst>
                                        </p:cTn>
                                        <p:tgtEl>
                                          <p:spTgt spid="5"/>
                                        </p:tgtEl>
                                        <p:attrNameLst>
                                          <p:attrName>style.visibility</p:attrName>
                                        </p:attrNameLst>
                                      </p:cBhvr>
                                      <p:to>
                                        <p:strVal val="visible"/>
                                      </p:to>
                                    </p:set>
                                    <p:anim calcmode="lin" valueType="num">
                                      <p:cBhvr>
                                        <p:cTn id="14" dur="500" fill="hold"/>
                                        <p:tgtEl>
                                          <p:spTgt spid="5"/>
                                        </p:tgtEl>
                                        <p:attrNameLst>
                                          <p:attrName>ppt_w</p:attrName>
                                        </p:attrNameLst>
                                      </p:cBhvr>
                                      <p:tavLst>
                                        <p:tav tm="0">
                                          <p:val>
                                            <p:fltVal val="0"/>
                                          </p:val>
                                        </p:tav>
                                        <p:tav tm="100000">
                                          <p:val>
                                            <p:strVal val="#ppt_w"/>
                                          </p:val>
                                        </p:tav>
                                      </p:tavLst>
                                    </p:anim>
                                    <p:anim calcmode="lin" valueType="num">
                                      <p:cBhvr>
                                        <p:cTn id="15" dur="500" fill="hold"/>
                                        <p:tgtEl>
                                          <p:spTgt spid="5"/>
                                        </p:tgtEl>
                                        <p:attrNameLst>
                                          <p:attrName>ppt_h</p:attrName>
                                        </p:attrNameLst>
                                      </p:cBhvr>
                                      <p:tavLst>
                                        <p:tav tm="0">
                                          <p:val>
                                            <p:fltVal val="0"/>
                                          </p:val>
                                        </p:tav>
                                        <p:tav tm="100000">
                                          <p:val>
                                            <p:strVal val="#ppt_h"/>
                                          </p:val>
                                        </p:tav>
                                      </p:tavLst>
                                    </p:anim>
                                    <p:animEffect transition="in" filter="fade">
                                      <p:cBhvr>
                                        <p:cTn id="16" dur="5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53" presetClass="entr" presetSubtype="16"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p:cTn id="21" dur="500" fill="hold"/>
                                        <p:tgtEl>
                                          <p:spTgt spid="6"/>
                                        </p:tgtEl>
                                        <p:attrNameLst>
                                          <p:attrName>ppt_w</p:attrName>
                                        </p:attrNameLst>
                                      </p:cBhvr>
                                      <p:tavLst>
                                        <p:tav tm="0">
                                          <p:val>
                                            <p:fltVal val="0"/>
                                          </p:val>
                                        </p:tav>
                                        <p:tav tm="100000">
                                          <p:val>
                                            <p:strVal val="#ppt_w"/>
                                          </p:val>
                                        </p:tav>
                                      </p:tavLst>
                                    </p:anim>
                                    <p:anim calcmode="lin" valueType="num">
                                      <p:cBhvr>
                                        <p:cTn id="22" dur="500" fill="hold"/>
                                        <p:tgtEl>
                                          <p:spTgt spid="6"/>
                                        </p:tgtEl>
                                        <p:attrNameLst>
                                          <p:attrName>ppt_h</p:attrName>
                                        </p:attrNameLst>
                                      </p:cBhvr>
                                      <p:tavLst>
                                        <p:tav tm="0">
                                          <p:val>
                                            <p:fltVal val="0"/>
                                          </p:val>
                                        </p:tav>
                                        <p:tav tm="100000">
                                          <p:val>
                                            <p:strVal val="#ppt_h"/>
                                          </p:val>
                                        </p:tav>
                                      </p:tavLst>
                                    </p:anim>
                                    <p:animEffect transition="in" filter="fade">
                                      <p:cBhvr>
                                        <p:cTn id="2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a:extLst>
              <a:ext uri="{FF2B5EF4-FFF2-40B4-BE49-F238E27FC236}">
                <a16:creationId xmlns:a16="http://schemas.microsoft.com/office/drawing/2014/main" id="{C6616A99-438B-C1F2-6EA4-6EA0060A1491}"/>
              </a:ext>
            </a:extLst>
          </p:cNvPr>
          <p:cNvSpPr/>
          <p:nvPr/>
        </p:nvSpPr>
        <p:spPr>
          <a:xfrm>
            <a:off x="407019" y="408945"/>
            <a:ext cx="13816361" cy="1598274"/>
          </a:xfrm>
          <a:prstGeom prst="rect">
            <a:avLst/>
          </a:prstGeom>
          <a:noFill/>
          <a:ln/>
        </p:spPr>
        <p:txBody>
          <a:bodyPr wrap="none" lIns="0" tIns="0" rIns="0" bIns="0" rtlCol="0" anchor="t"/>
          <a:lstStyle/>
          <a:p>
            <a:pPr algn="ctr">
              <a:lnSpc>
                <a:spcPts val="5500"/>
              </a:lnSpc>
            </a:pPr>
            <a:r>
              <a:rPr lang="fr-FR" sz="4400" b="1" dirty="0">
                <a:solidFill>
                  <a:schemeClr val="bg1"/>
                </a:solidFill>
              </a:rPr>
              <a:t>Création et déploiement de </a:t>
            </a:r>
            <a:r>
              <a:rPr lang="fr-FR" sz="4400" b="1" dirty="0" err="1">
                <a:solidFill>
                  <a:schemeClr val="bg1"/>
                </a:solidFill>
              </a:rPr>
              <a:t>VecoFlexTnMWS</a:t>
            </a:r>
            <a:r>
              <a:rPr lang="fr-FR" sz="4400" b="1" dirty="0">
                <a:solidFill>
                  <a:schemeClr val="bg1"/>
                </a:solidFill>
              </a:rPr>
              <a:t> </a:t>
            </a:r>
          </a:p>
          <a:p>
            <a:pPr algn="ctr">
              <a:lnSpc>
                <a:spcPts val="5500"/>
              </a:lnSpc>
            </a:pPr>
            <a:r>
              <a:rPr lang="fr-FR" sz="4400" b="1" dirty="0">
                <a:solidFill>
                  <a:schemeClr val="bg1"/>
                </a:solidFill>
              </a:rPr>
              <a:t>sur le Node Package Manager.</a:t>
            </a:r>
            <a:endParaRPr lang="en-US" sz="4400" b="1" dirty="0">
              <a:solidFill>
                <a:schemeClr val="bg1"/>
              </a:solidFill>
            </a:endParaRPr>
          </a:p>
        </p:txBody>
      </p:sp>
      <p:sp>
        <p:nvSpPr>
          <p:cNvPr id="3" name="Rectangle 2">
            <a:extLst>
              <a:ext uri="{FF2B5EF4-FFF2-40B4-BE49-F238E27FC236}">
                <a16:creationId xmlns:a16="http://schemas.microsoft.com/office/drawing/2014/main" id="{CEAC6A5F-7C98-F096-C111-4B8E0AB124B0}"/>
              </a:ext>
            </a:extLst>
          </p:cNvPr>
          <p:cNvSpPr/>
          <p:nvPr/>
        </p:nvSpPr>
        <p:spPr>
          <a:xfrm>
            <a:off x="12047911" y="7654175"/>
            <a:ext cx="2558805" cy="524107"/>
          </a:xfrm>
          <a:prstGeom prst="rect">
            <a:avLst/>
          </a:prstGeom>
          <a:solidFill>
            <a:srgbClr val="100C35"/>
          </a:solidFill>
          <a:ln>
            <a:solidFill>
              <a:srgbClr val="100C3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Image 6" descr="Une image contenant texte, capture d’écran, Visage humain, homme&#10;&#10;Le contenu généré par l’IA peut être incorrect.">
            <a:extLst>
              <a:ext uri="{FF2B5EF4-FFF2-40B4-BE49-F238E27FC236}">
                <a16:creationId xmlns:a16="http://schemas.microsoft.com/office/drawing/2014/main" id="{D71B5686-5F2E-79DA-2660-7AC0D0A3CF9D}"/>
              </a:ext>
            </a:extLst>
          </p:cNvPr>
          <p:cNvPicPr>
            <a:picLocks noChangeAspect="1"/>
          </p:cNvPicPr>
          <p:nvPr/>
        </p:nvPicPr>
        <p:blipFill>
          <a:blip r:embed="rId2"/>
          <a:stretch>
            <a:fillRect/>
          </a:stretch>
        </p:blipFill>
        <p:spPr>
          <a:xfrm>
            <a:off x="250660" y="2184457"/>
            <a:ext cx="14129078" cy="5731771"/>
          </a:xfrm>
          <a:prstGeom prst="rect">
            <a:avLst/>
          </a:prstGeom>
        </p:spPr>
      </p:pic>
    </p:spTree>
    <p:extLst>
      <p:ext uri="{BB962C8B-B14F-4D97-AF65-F5344CB8AC3E}">
        <p14:creationId xmlns:p14="http://schemas.microsoft.com/office/powerpoint/2010/main" val="3078767479"/>
      </p:ext>
    </p:extLst>
  </p:cSld>
  <p:clrMapOvr>
    <a:masterClrMapping/>
  </p:clrMapOvr>
  <mc:AlternateContent xmlns:mc="http://schemas.openxmlformats.org/markup-compatibility/2006">
    <mc:Choice xmlns:p14="http://schemas.microsoft.com/office/powerpoint/2010/main" Requires="p14">
      <p:transition spd="slow" p14:dur="1600">
        <p14:conveyor dir="l"/>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anim calcmode="lin" valueType="num">
                                      <p:cBhvr>
                                        <p:cTn id="13" dur="1000" fill="hold"/>
                                        <p:tgtEl>
                                          <p:spTgt spid="7"/>
                                        </p:tgtEl>
                                        <p:attrNameLst>
                                          <p:attrName>ppt_x</p:attrName>
                                        </p:attrNameLst>
                                      </p:cBhvr>
                                      <p:tavLst>
                                        <p:tav tm="0">
                                          <p:val>
                                            <p:strVal val="#ppt_x"/>
                                          </p:val>
                                        </p:tav>
                                        <p:tav tm="100000">
                                          <p:val>
                                            <p:strVal val="#ppt_x"/>
                                          </p:val>
                                        </p:tav>
                                      </p:tavLst>
                                    </p:anim>
                                    <p:anim calcmode="lin" valueType="num">
                                      <p:cBhvr>
                                        <p:cTn id="14"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315200" y="0"/>
            <a:ext cx="7315200" cy="8229600"/>
          </a:xfrm>
          <a:prstGeom prst="rect">
            <a:avLst/>
          </a:prstGeom>
        </p:spPr>
      </p:pic>
      <p:sp>
        <p:nvSpPr>
          <p:cNvPr id="3" name="Text 0"/>
          <p:cNvSpPr/>
          <p:nvPr/>
        </p:nvSpPr>
        <p:spPr>
          <a:xfrm>
            <a:off x="837723" y="1376371"/>
            <a:ext cx="5632490" cy="704017"/>
          </a:xfrm>
          <a:prstGeom prst="rect">
            <a:avLst/>
          </a:prstGeom>
          <a:noFill/>
          <a:ln/>
        </p:spPr>
        <p:txBody>
          <a:bodyPr wrap="none" lIns="0" tIns="0" rIns="0" bIns="0" rtlCol="0" anchor="t"/>
          <a:lstStyle/>
          <a:p>
            <a:pPr marL="0" indent="0" algn="ctr">
              <a:lnSpc>
                <a:spcPts val="5500"/>
              </a:lnSpc>
              <a:buNone/>
            </a:pPr>
            <a:r>
              <a:rPr lang="en-US" sz="4400" dirty="0">
                <a:solidFill>
                  <a:srgbClr val="FFFFFF"/>
                </a:solidFill>
                <a:latin typeface="Kanit" pitchFamily="34" charset="0"/>
                <a:ea typeface="Kanit" pitchFamily="34" charset="-122"/>
                <a:cs typeface="Kanit" pitchFamily="34" charset="-120"/>
              </a:rPr>
              <a:t>Conclusion</a:t>
            </a:r>
            <a:endParaRPr lang="en-US" sz="4400" dirty="0"/>
          </a:p>
        </p:txBody>
      </p:sp>
    </p:spTree>
  </p:cSld>
  <p:clrMapOvr>
    <a:masterClrMapping/>
  </p:clrMapOvr>
  <mc:AlternateContent xmlns:mc="http://schemas.openxmlformats.org/markup-compatibility/2006" xmlns:p15="http://schemas.microsoft.com/office/powerpoint/2012/main">
    <mc:Choice Requires="p15">
      <p:transition xmlns:p14="http://schemas.microsoft.com/office/powerpoint/2010/main" spd="slow" p14:dur="1250">
        <p15:prstTrans prst="airplan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8229600"/>
          </a:xfrm>
          <a:prstGeom prst="rect">
            <a:avLst/>
          </a:prstGeom>
        </p:spPr>
      </p:pic>
      <p:sp>
        <p:nvSpPr>
          <p:cNvPr id="3" name="Shape 0"/>
          <p:cNvSpPr/>
          <p:nvPr/>
        </p:nvSpPr>
        <p:spPr>
          <a:xfrm>
            <a:off x="0" y="0"/>
            <a:ext cx="14630400" cy="8229600"/>
          </a:xfrm>
          <a:prstGeom prst="rect">
            <a:avLst/>
          </a:prstGeom>
          <a:solidFill>
            <a:srgbClr val="100C35">
              <a:alpha val="80000"/>
            </a:srgbClr>
          </a:solidFill>
          <a:ln/>
        </p:spPr>
        <p:txBody>
          <a:bodyPr/>
          <a:lstStyle/>
          <a:p>
            <a:endParaRPr lang="fr-FR"/>
          </a:p>
        </p:txBody>
      </p:sp>
      <p:sp>
        <p:nvSpPr>
          <p:cNvPr id="4" name="Text 1"/>
          <p:cNvSpPr/>
          <p:nvPr/>
        </p:nvSpPr>
        <p:spPr>
          <a:xfrm>
            <a:off x="2510433" y="3267714"/>
            <a:ext cx="9609415" cy="580787"/>
          </a:xfrm>
          <a:prstGeom prst="rect">
            <a:avLst/>
          </a:prstGeom>
          <a:noFill/>
          <a:ln/>
        </p:spPr>
        <p:txBody>
          <a:bodyPr wrap="none" lIns="0" tIns="0" rIns="0" bIns="0" rtlCol="0" anchor="t"/>
          <a:lstStyle/>
          <a:p>
            <a:pPr marL="0" indent="0" algn="ctr">
              <a:lnSpc>
                <a:spcPts val="4550"/>
              </a:lnSpc>
              <a:buNone/>
            </a:pPr>
            <a:r>
              <a:rPr lang="en-US" sz="3650" b="1" dirty="0">
                <a:solidFill>
                  <a:srgbClr val="FFFFFF"/>
                </a:solidFill>
                <a:latin typeface="Kanit" pitchFamily="34" charset="0"/>
                <a:ea typeface="Kanit" pitchFamily="34" charset="-122"/>
                <a:cs typeface="Kanit" pitchFamily="34" charset="-120"/>
              </a:rPr>
              <a:t>Merci énormément pour le suivi et le soutien</a:t>
            </a:r>
            <a:endParaRPr lang="en-US" sz="3650" dirty="0"/>
          </a:p>
        </p:txBody>
      </p:sp>
    </p:spTree>
  </p:cSld>
  <p:clrMapOvr>
    <a:masterClrMapping/>
  </p:clrMapOvr>
  <mc:AlternateContent xmlns:mc="http://schemas.openxmlformats.org/markup-compatibility/2006" xmlns:p14="http://schemas.microsoft.com/office/powerpoint/2010/main">
    <mc:Choice Requires="p14">
      <p:transition spd="slow" p14:dur="1400">
        <p14:ripple/>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heel(1)">
                                      <p:cBhvr>
                                        <p:cTn id="7"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138</TotalTime>
  <Words>391</Words>
  <Application>Microsoft Office PowerPoint</Application>
  <PresentationFormat>Personnalisé</PresentationFormat>
  <Paragraphs>105</Paragraphs>
  <Slides>18</Slides>
  <Notes>17</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18</vt:i4>
      </vt:variant>
    </vt:vector>
  </HeadingPairs>
  <TitlesOfParts>
    <vt:vector size="22" baseType="lpstr">
      <vt:lpstr>Kanit</vt:lpstr>
      <vt:lpstr>Arial</vt:lpstr>
      <vt:lpstr>Martel Sans Light</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Mohamed Wahbi</cp:lastModifiedBy>
  <cp:revision>16</cp:revision>
  <dcterms:created xsi:type="dcterms:W3CDTF">2025-03-26T03:42:35Z</dcterms:created>
  <dcterms:modified xsi:type="dcterms:W3CDTF">2025-03-26T18:39:50Z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2025-03-26T03:45:02Z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e244edb5-e1a9-459f-b2a8-b6dc8adf67d1</vt:lpwstr>
  </property>
  <property fmtid="{D5CDD505-2E9C-101B-9397-08002B2CF9AE}" pid="7" name="MSIP_Label_defa4170-0d19-0005-0004-bc88714345d2_ActionId">
    <vt:lpwstr>3d0a85d4-a517-4ce5-afb8-ea002b9a6e31</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